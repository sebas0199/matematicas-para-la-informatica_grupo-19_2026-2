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  <p:sldMasterId id="2147483660" r:id="rId5"/>
  </p:sldMasterIdLst>
  <p:notesMasterIdLst>
    <p:notesMasterId r:id="rId34"/>
  </p:notesMasterIdLst>
  <p:sldIdLst>
    <p:sldId id="259" r:id="rId6"/>
    <p:sldId id="435" r:id="rId7"/>
    <p:sldId id="511" r:id="rId8"/>
    <p:sldId id="512" r:id="rId9"/>
    <p:sldId id="513" r:id="rId10"/>
    <p:sldId id="514" r:id="rId11"/>
    <p:sldId id="515" r:id="rId12"/>
    <p:sldId id="516" r:id="rId13"/>
    <p:sldId id="517" r:id="rId14"/>
    <p:sldId id="518" r:id="rId15"/>
    <p:sldId id="519" r:id="rId16"/>
    <p:sldId id="520" r:id="rId17"/>
    <p:sldId id="521" r:id="rId18"/>
    <p:sldId id="522" r:id="rId19"/>
    <p:sldId id="523" r:id="rId20"/>
    <p:sldId id="524" r:id="rId21"/>
    <p:sldId id="256" r:id="rId22"/>
    <p:sldId id="532" r:id="rId23"/>
    <p:sldId id="533" r:id="rId24"/>
    <p:sldId id="534" r:id="rId25"/>
    <p:sldId id="525" r:id="rId26"/>
    <p:sldId id="526" r:id="rId27"/>
    <p:sldId id="527" r:id="rId28"/>
    <p:sldId id="528" r:id="rId29"/>
    <p:sldId id="529" r:id="rId30"/>
    <p:sldId id="530" r:id="rId31"/>
    <p:sldId id="531" r:id="rId32"/>
    <p:sldId id="358" r:id="rId3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4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71842D-0B3E-C4F0-38AD-F9C6520AB797}" v="1" dt="2025-08-14T00:02:49.985"/>
    <p1510:client id="{A9085E3F-640F-8AC8-2CAF-A556D3A012AA}" v="88" dt="2025-08-12T20:32:49.3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6" d="100"/>
          <a:sy n="36" d="100"/>
        </p:scale>
        <p:origin x="112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microsoft.com/office/2016/11/relationships/changesInfo" Target="changesInfos/changesInfo1.xml"/><Relationship Id="rId21" Type="http://schemas.openxmlformats.org/officeDocument/2006/relationships/slide" Target="slides/slide16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presProps" Target="pres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MONTOYA VILLADA" userId="S::sebastianmontoya8118@correo.itm.edu.co::dffcc6c4-4ec2-40a3-ba2d-1adaa01cc26d" providerId="AD" clId="Web-{F0891811-0C3E-E044-B339-FA3C78DDAA21}"/>
    <pc:docChg chg="modSld">
      <pc:chgData name="SEBASTIAN MONTOYA VILLADA" userId="S::sebastianmontoya8118@correo.itm.edu.co::dffcc6c4-4ec2-40a3-ba2d-1adaa01cc26d" providerId="AD" clId="Web-{F0891811-0C3E-E044-B339-FA3C78DDAA21}" dt="2025-02-02T16:50:46.608" v="48" actId="20577"/>
      <pc:docMkLst>
        <pc:docMk/>
      </pc:docMkLst>
      <pc:sldChg chg="modSp">
        <pc:chgData name="SEBASTIAN MONTOYA VILLADA" userId="S::sebastianmontoya8118@correo.itm.edu.co::dffcc6c4-4ec2-40a3-ba2d-1adaa01cc26d" providerId="AD" clId="Web-{F0891811-0C3E-E044-B339-FA3C78DDAA21}" dt="2025-02-02T16:50:46.608" v="48" actId="20577"/>
        <pc:sldMkLst>
          <pc:docMk/>
          <pc:sldMk cId="2518797674" sldId="377"/>
        </pc:sldMkLst>
      </pc:sldChg>
    </pc:docChg>
  </pc:docChgLst>
  <pc:docChgLst>
    <pc:chgData name="SEBASTIAN MONTOYA VILLADA" userId="S::sebastianmontoya8118@correo.itm.edu.co::dffcc6c4-4ec2-40a3-ba2d-1adaa01cc26d" providerId="AD" clId="Web-{12ABB21D-7E4B-A741-8DBD-07416A75BBC9}"/>
    <pc:docChg chg="addSld modSld">
      <pc:chgData name="SEBASTIAN MONTOYA VILLADA" userId="S::sebastianmontoya8118@correo.itm.edu.co::dffcc6c4-4ec2-40a3-ba2d-1adaa01cc26d" providerId="AD" clId="Web-{12ABB21D-7E4B-A741-8DBD-07416A75BBC9}" dt="2025-02-06T19:01:40.165" v="84" actId="20577"/>
      <pc:docMkLst>
        <pc:docMk/>
      </pc:docMkLst>
      <pc:sldChg chg="modSp">
        <pc:chgData name="SEBASTIAN MONTOYA VILLADA" userId="S::sebastianmontoya8118@correo.itm.edu.co::dffcc6c4-4ec2-40a3-ba2d-1adaa01cc26d" providerId="AD" clId="Web-{12ABB21D-7E4B-A741-8DBD-07416A75BBC9}" dt="2025-02-06T19:01:40.165" v="84" actId="20577"/>
        <pc:sldMkLst>
          <pc:docMk/>
          <pc:sldMk cId="3747983956" sldId="427"/>
        </pc:sldMkLst>
      </pc:sldChg>
      <pc:sldChg chg="modSp">
        <pc:chgData name="SEBASTIAN MONTOYA VILLADA" userId="S::sebastianmontoya8118@correo.itm.edu.co::dffcc6c4-4ec2-40a3-ba2d-1adaa01cc26d" providerId="AD" clId="Web-{12ABB21D-7E4B-A741-8DBD-07416A75BBC9}" dt="2025-02-06T18:52:16.640" v="48" actId="20577"/>
        <pc:sldMkLst>
          <pc:docMk/>
          <pc:sldMk cId="2353607267" sldId="430"/>
        </pc:sldMkLst>
      </pc:sldChg>
      <pc:sldChg chg="modSp add replId">
        <pc:chgData name="SEBASTIAN MONTOYA VILLADA" userId="S::sebastianmontoya8118@correo.itm.edu.co::dffcc6c4-4ec2-40a3-ba2d-1adaa01cc26d" providerId="AD" clId="Web-{12ABB21D-7E4B-A741-8DBD-07416A75BBC9}" dt="2025-02-06T18:32:55.280" v="33" actId="20577"/>
        <pc:sldMkLst>
          <pc:docMk/>
          <pc:sldMk cId="2958943099" sldId="433"/>
        </pc:sldMkLst>
      </pc:sldChg>
    </pc:docChg>
  </pc:docChgLst>
  <pc:docChgLst>
    <pc:chgData name="SEBASTIAN MONTOYA VILLADA" userId="S::sebastianmontoya8118@correo.itm.edu.co::dffcc6c4-4ec2-40a3-ba2d-1adaa01cc26d" providerId="AD" clId="Web-{4371842D-0B3E-C4F0-38AD-F9C6520AB797}"/>
    <pc:docChg chg="delSld">
      <pc:chgData name="SEBASTIAN MONTOYA VILLADA" userId="S::sebastianmontoya8118@correo.itm.edu.co::dffcc6c4-4ec2-40a3-ba2d-1adaa01cc26d" providerId="AD" clId="Web-{4371842D-0B3E-C4F0-38AD-F9C6520AB797}" dt="2025-08-14T00:02:49.985" v="0"/>
      <pc:docMkLst>
        <pc:docMk/>
      </pc:docMkLst>
      <pc:sldChg chg="del">
        <pc:chgData name="SEBASTIAN MONTOYA VILLADA" userId="S::sebastianmontoya8118@correo.itm.edu.co::dffcc6c4-4ec2-40a3-ba2d-1adaa01cc26d" providerId="AD" clId="Web-{4371842D-0B3E-C4F0-38AD-F9C6520AB797}" dt="2025-08-14T00:02:49.985" v="0"/>
        <pc:sldMkLst>
          <pc:docMk/>
          <pc:sldMk cId="2831281710" sldId="423"/>
        </pc:sldMkLst>
      </pc:sldChg>
    </pc:docChg>
  </pc:docChgLst>
  <pc:docChgLst>
    <pc:chgData name="SEBASTIAN MONTOYA VILLADA" userId="S::sebastianmontoya8118@correo.itm.edu.co::dffcc6c4-4ec2-40a3-ba2d-1adaa01cc26d" providerId="AD" clId="Web-{0E7E6845-1414-57BF-4B89-6166058ECF3B}"/>
    <pc:docChg chg="modSld">
      <pc:chgData name="SEBASTIAN MONTOYA VILLADA" userId="S::sebastianmontoya8118@correo.itm.edu.co::dffcc6c4-4ec2-40a3-ba2d-1adaa01cc26d" providerId="AD" clId="Web-{0E7E6845-1414-57BF-4B89-6166058ECF3B}" dt="2025-02-12T15:13:33.994" v="57"/>
      <pc:docMkLst>
        <pc:docMk/>
      </pc:docMkLst>
      <pc:sldChg chg="modSp">
        <pc:chgData name="SEBASTIAN MONTOYA VILLADA" userId="S::sebastianmontoya8118@correo.itm.edu.co::dffcc6c4-4ec2-40a3-ba2d-1adaa01cc26d" providerId="AD" clId="Web-{0E7E6845-1414-57BF-4B89-6166058ECF3B}" dt="2025-02-12T15:13:33.994" v="57"/>
        <pc:sldMkLst>
          <pc:docMk/>
          <pc:sldMk cId="3952345243" sldId="406"/>
        </pc:sldMkLst>
      </pc:sldChg>
    </pc:docChg>
  </pc:docChgLst>
  <pc:docChgLst>
    <pc:chgData name="SEBASTIAN MONTOYA VILLADA" userId="S::sebastianmontoya8118@correo.itm.edu.co::dffcc6c4-4ec2-40a3-ba2d-1adaa01cc26d" providerId="AD" clId="Web-{A9085E3F-640F-8AC8-2CAF-A556D3A012AA}"/>
    <pc:docChg chg="addSld delSld modSld">
      <pc:chgData name="SEBASTIAN MONTOYA VILLADA" userId="S::sebastianmontoya8118@correo.itm.edu.co::dffcc6c4-4ec2-40a3-ba2d-1adaa01cc26d" providerId="AD" clId="Web-{A9085E3F-640F-8AC8-2CAF-A556D3A012AA}" dt="2025-08-12T20:32:49.389" v="84" actId="1076"/>
      <pc:docMkLst>
        <pc:docMk/>
      </pc:docMkLst>
      <pc:sldChg chg="modSp">
        <pc:chgData name="SEBASTIAN MONTOYA VILLADA" userId="S::sebastianmontoya8118@correo.itm.edu.co::dffcc6c4-4ec2-40a3-ba2d-1adaa01cc26d" providerId="AD" clId="Web-{A9085E3F-640F-8AC8-2CAF-A556D3A012AA}" dt="2025-08-12T19:15:50.527" v="6" actId="1076"/>
        <pc:sldMkLst>
          <pc:docMk/>
          <pc:sldMk cId="3065597046" sldId="405"/>
        </pc:sldMkLst>
        <pc:spChg chg="mod">
          <ac:chgData name="SEBASTIAN MONTOYA VILLADA" userId="S::sebastianmontoya8118@correo.itm.edu.co::dffcc6c4-4ec2-40a3-ba2d-1adaa01cc26d" providerId="AD" clId="Web-{A9085E3F-640F-8AC8-2CAF-A556D3A012AA}" dt="2025-08-12T19:15:14.573" v="4" actId="20577"/>
          <ac:spMkLst>
            <pc:docMk/>
            <pc:sldMk cId="3065597046" sldId="405"/>
            <ac:spMk id="15" creationId="{85FAB7AA-F6D0-DCD2-169A-663C9F578B7B}"/>
          </ac:spMkLst>
        </pc:spChg>
        <pc:picChg chg="mod">
          <ac:chgData name="SEBASTIAN MONTOYA VILLADA" userId="S::sebastianmontoya8118@correo.itm.edu.co::dffcc6c4-4ec2-40a3-ba2d-1adaa01cc26d" providerId="AD" clId="Web-{A9085E3F-640F-8AC8-2CAF-A556D3A012AA}" dt="2025-08-12T19:15:50.527" v="6" actId="1076"/>
          <ac:picMkLst>
            <pc:docMk/>
            <pc:sldMk cId="3065597046" sldId="405"/>
            <ac:picMk id="16" creationId="{B82471AD-453F-FE32-A520-39111B862C8C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29:12.618" v="26" actId="1076"/>
        <pc:sldMkLst>
          <pc:docMk/>
          <pc:sldMk cId="2099833142" sldId="409"/>
        </pc:sldMkLst>
        <pc:picChg chg="add mod modCrop">
          <ac:chgData name="SEBASTIAN MONTOYA VILLADA" userId="S::sebastianmontoya8118@correo.itm.edu.co::dffcc6c4-4ec2-40a3-ba2d-1adaa01cc26d" providerId="AD" clId="Web-{A9085E3F-640F-8AC8-2CAF-A556D3A012AA}" dt="2025-08-12T19:29:12.618" v="26" actId="1076"/>
          <ac:picMkLst>
            <pc:docMk/>
            <pc:sldMk cId="2099833142" sldId="409"/>
            <ac:picMk id="2" creationId="{E1E9E397-3AAE-3E2C-904F-97CAAC617C8A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1:05.981" v="32" actId="1076"/>
        <pc:sldMkLst>
          <pc:docMk/>
          <pc:sldMk cId="1253375017" sldId="411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1:05.981" v="32" actId="1076"/>
          <ac:picMkLst>
            <pc:docMk/>
            <pc:sldMk cId="1253375017" sldId="411"/>
            <ac:picMk id="2" creationId="{04956126-4BFB-27E9-D04E-1B80B4AA7AB2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4:01.251" v="38" actId="1076"/>
        <pc:sldMkLst>
          <pc:docMk/>
          <pc:sldMk cId="1563925881" sldId="413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4:01.251" v="38" actId="1076"/>
          <ac:picMkLst>
            <pc:docMk/>
            <pc:sldMk cId="1563925881" sldId="413"/>
            <ac:picMk id="2" creationId="{EB19C2A4-3385-F990-DD12-C1BE3613E0DD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6:58.461" v="44" actId="1076"/>
        <pc:sldMkLst>
          <pc:docMk/>
          <pc:sldMk cId="4289046495" sldId="415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6:58.461" v="44" actId="1076"/>
          <ac:picMkLst>
            <pc:docMk/>
            <pc:sldMk cId="4289046495" sldId="415"/>
            <ac:picMk id="2" creationId="{ECE24E22-13B2-AC5A-D5ED-D761F8A6DE8C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9:44.258" v="48" actId="1076"/>
        <pc:sldMkLst>
          <pc:docMk/>
          <pc:sldMk cId="3874360725" sldId="418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9:44.258" v="48" actId="1076"/>
          <ac:picMkLst>
            <pc:docMk/>
            <pc:sldMk cId="3874360725" sldId="418"/>
            <ac:picMk id="2" creationId="{F20355AC-76D8-DAD9-33C0-42A20F5BA8C4}"/>
          </ac:picMkLst>
        </pc:picChg>
      </pc:sldChg>
      <pc:sldChg chg="modSp">
        <pc:chgData name="SEBASTIAN MONTOYA VILLADA" userId="S::sebastianmontoya8118@correo.itm.edu.co::dffcc6c4-4ec2-40a3-ba2d-1adaa01cc26d" providerId="AD" clId="Web-{A9085E3F-640F-8AC8-2CAF-A556D3A012AA}" dt="2025-08-12T19:40:02.557" v="50"/>
        <pc:sldMkLst>
          <pc:docMk/>
          <pc:sldMk cId="2616112607" sldId="420"/>
        </pc:sldMkLst>
        <pc:spChg chg="mod">
          <ac:chgData name="SEBASTIAN MONTOYA VILLADA" userId="S::sebastianmontoya8118@correo.itm.edu.co::dffcc6c4-4ec2-40a3-ba2d-1adaa01cc26d" providerId="AD" clId="Web-{A9085E3F-640F-8AC8-2CAF-A556D3A012AA}" dt="2025-08-12T19:40:02.557" v="50"/>
          <ac:spMkLst>
            <pc:docMk/>
            <pc:sldMk cId="2616112607" sldId="420"/>
            <ac:spMk id="13" creationId="{FDA4B643-DEB4-C77F-0211-C4BA4EE48C1A}"/>
          </ac:spMkLst>
        </pc:spChg>
      </pc:sldChg>
      <pc:sldChg chg="del">
        <pc:chgData name="SEBASTIAN MONTOYA VILLADA" userId="S::sebastianmontoya8118@correo.itm.edu.co::dffcc6c4-4ec2-40a3-ba2d-1adaa01cc26d" providerId="AD" clId="Web-{A9085E3F-640F-8AC8-2CAF-A556D3A012AA}" dt="2025-08-12T20:17:34.972" v="59"/>
        <pc:sldMkLst>
          <pc:docMk/>
          <pc:sldMk cId="1817142743" sldId="421"/>
        </pc:sldMkLst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32:49.389" v="84" actId="1076"/>
        <pc:sldMkLst>
          <pc:docMk/>
          <pc:sldMk cId="4243160153" sldId="424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32:14.919" v="76" actId="1076"/>
          <ac:picMkLst>
            <pc:docMk/>
            <pc:sldMk cId="4243160153" sldId="424"/>
            <ac:picMk id="2" creationId="{3FAE8893-D5D5-DB51-07AF-32142177194D}"/>
          </ac:picMkLst>
        </pc:picChg>
        <pc:picChg chg="add mod">
          <ac:chgData name="SEBASTIAN MONTOYA VILLADA" userId="S::sebastianmontoya8118@correo.itm.edu.co::dffcc6c4-4ec2-40a3-ba2d-1adaa01cc26d" providerId="AD" clId="Web-{A9085E3F-640F-8AC8-2CAF-A556D3A012AA}" dt="2025-08-12T20:32:48.186" v="83" actId="1076"/>
          <ac:picMkLst>
            <pc:docMk/>
            <pc:sldMk cId="4243160153" sldId="424"/>
            <ac:picMk id="14" creationId="{CA992F2E-C4EB-3035-3338-919DEF831901}"/>
          </ac:picMkLst>
        </pc:picChg>
        <pc:picChg chg="add mod">
          <ac:chgData name="SEBASTIAN MONTOYA VILLADA" userId="S::sebastianmontoya8118@correo.itm.edu.co::dffcc6c4-4ec2-40a3-ba2d-1adaa01cc26d" providerId="AD" clId="Web-{A9085E3F-640F-8AC8-2CAF-A556D3A012AA}" dt="2025-08-12T20:32:49.389" v="84" actId="1076"/>
          <ac:picMkLst>
            <pc:docMk/>
            <pc:sldMk cId="4243160153" sldId="424"/>
            <ac:picMk id="15" creationId="{DB23A67A-24EB-F427-E73A-4F0873FE2805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26:33.713" v="64" actId="1076"/>
        <pc:sldMkLst>
          <pc:docMk/>
          <pc:sldMk cId="3747983956" sldId="427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26:33.713" v="64" actId="1076"/>
          <ac:picMkLst>
            <pc:docMk/>
            <pc:sldMk cId="3747983956" sldId="427"/>
            <ac:picMk id="2" creationId="{1C04A617-E0EB-E6A2-0B6C-86EEC4B49615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24:37.106" v="10" actId="1076"/>
        <pc:sldMkLst>
          <pc:docMk/>
          <pc:sldMk cId="1762785225" sldId="428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24:37.106" v="10" actId="1076"/>
          <ac:picMkLst>
            <pc:docMk/>
            <pc:sldMk cId="1762785225" sldId="428"/>
            <ac:picMk id="2" creationId="{94A0DFDB-099D-9A6F-7895-A62CF3474301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02:45.449" v="52"/>
        <pc:sldMkLst>
          <pc:docMk/>
          <pc:sldMk cId="1231723398" sldId="429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02:45.449" v="52"/>
          <ac:picMkLst>
            <pc:docMk/>
            <pc:sldMk cId="1231723398" sldId="429"/>
            <ac:picMk id="2" creationId="{64220BF8-05D9-3314-CB6C-528B5F0215CB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15:55.218" v="58"/>
        <pc:sldMkLst>
          <pc:docMk/>
          <pc:sldMk cId="2353607267" sldId="430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15:55.218" v="58"/>
          <ac:picMkLst>
            <pc:docMk/>
            <pc:sldMk cId="2353607267" sldId="430"/>
            <ac:picMk id="2" creationId="{BDAAC5A4-B5B2-604D-D366-6490445BC431}"/>
          </ac:picMkLst>
        </pc:picChg>
      </pc:sldChg>
      <pc:sldChg chg="addSp delSp modSp add replId">
        <pc:chgData name="SEBASTIAN MONTOYA VILLADA" userId="S::sebastianmontoya8118@correo.itm.edu.co::dffcc6c4-4ec2-40a3-ba2d-1adaa01cc26d" providerId="AD" clId="Web-{A9085E3F-640F-8AC8-2CAF-A556D3A012AA}" dt="2025-08-12T20:04:38.999" v="56" actId="1076"/>
        <pc:sldMkLst>
          <pc:docMk/>
          <pc:sldMk cId="3717440452" sldId="434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04:38.999" v="56" actId="1076"/>
          <ac:picMkLst>
            <pc:docMk/>
            <pc:sldMk cId="3717440452" sldId="434"/>
            <ac:picMk id="13" creationId="{EAA64571-95EA-047D-61FC-F0DB3889129C}"/>
          </ac:picMkLst>
        </pc:picChg>
      </pc:sldChg>
    </pc:docChg>
  </pc:docChgLst>
  <pc:docChgLst>
    <pc:chgData name="SEBASTIAN MONTOYA VILLADA" userId="dffcc6c4-4ec2-40a3-ba2d-1adaa01cc26d" providerId="ADAL" clId="{3631816F-C42D-43AB-8BE5-E4DD25D23C65}"/>
    <pc:docChg chg="undo redo custSel addSld delSld modSld sldOrd">
      <pc:chgData name="SEBASTIAN MONTOYA VILLADA" userId="dffcc6c4-4ec2-40a3-ba2d-1adaa01cc26d" providerId="ADAL" clId="{3631816F-C42D-43AB-8BE5-E4DD25D23C65}" dt="2025-02-02T18:01:00.312" v="779" actId="20577"/>
      <pc:docMkLst>
        <pc:docMk/>
      </pc:docMkLst>
      <pc:sldChg chg="modSp mod">
        <pc:chgData name="SEBASTIAN MONTOYA VILLADA" userId="dffcc6c4-4ec2-40a3-ba2d-1adaa01cc26d" providerId="ADAL" clId="{3631816F-C42D-43AB-8BE5-E4DD25D23C65}" dt="2025-02-02T17:03:05.300" v="14" actId="113"/>
        <pc:sldMkLst>
          <pc:docMk/>
          <pc:sldMk cId="488379912" sldId="393"/>
        </pc:sldMkLst>
      </pc:sldChg>
      <pc:sldChg chg="del">
        <pc:chgData name="SEBASTIAN MONTOYA VILLADA" userId="dffcc6c4-4ec2-40a3-ba2d-1adaa01cc26d" providerId="ADAL" clId="{3631816F-C42D-43AB-8BE5-E4DD25D23C65}" dt="2025-02-02T17:02:00.742" v="0" actId="47"/>
        <pc:sldMkLst>
          <pc:docMk/>
          <pc:sldMk cId="2101273427" sldId="394"/>
        </pc:sldMkLst>
      </pc:sldChg>
      <pc:sldChg chg="del">
        <pc:chgData name="SEBASTIAN MONTOYA VILLADA" userId="dffcc6c4-4ec2-40a3-ba2d-1adaa01cc26d" providerId="ADAL" clId="{3631816F-C42D-43AB-8BE5-E4DD25D23C65}" dt="2025-02-02T17:02:01.416" v="1" actId="47"/>
        <pc:sldMkLst>
          <pc:docMk/>
          <pc:sldMk cId="2390427211" sldId="397"/>
        </pc:sldMkLst>
      </pc:sldChg>
      <pc:sldChg chg="addSp modSp mod ord">
        <pc:chgData name="SEBASTIAN MONTOYA VILLADA" userId="dffcc6c4-4ec2-40a3-ba2d-1adaa01cc26d" providerId="ADAL" clId="{3631816F-C42D-43AB-8BE5-E4DD25D23C65}" dt="2025-02-02T17:39:22.546" v="457" actId="20577"/>
        <pc:sldMkLst>
          <pc:docMk/>
          <pc:sldMk cId="656435192" sldId="398"/>
        </pc:sldMkLst>
      </pc:sldChg>
      <pc:sldChg chg="del">
        <pc:chgData name="SEBASTIAN MONTOYA VILLADA" userId="dffcc6c4-4ec2-40a3-ba2d-1adaa01cc26d" providerId="ADAL" clId="{3631816F-C42D-43AB-8BE5-E4DD25D23C65}" dt="2025-02-02T17:02:07.342" v="2" actId="47"/>
        <pc:sldMkLst>
          <pc:docMk/>
          <pc:sldMk cId="3304403443" sldId="399"/>
        </pc:sldMkLst>
      </pc:sldChg>
      <pc:sldChg chg="del">
        <pc:chgData name="SEBASTIAN MONTOYA VILLADA" userId="dffcc6c4-4ec2-40a3-ba2d-1adaa01cc26d" providerId="ADAL" clId="{3631816F-C42D-43AB-8BE5-E4DD25D23C65}" dt="2025-02-02T17:02:12.379" v="3" actId="47"/>
        <pc:sldMkLst>
          <pc:docMk/>
          <pc:sldMk cId="2787044806" sldId="400"/>
        </pc:sldMkLst>
      </pc:sldChg>
      <pc:sldChg chg="del">
        <pc:chgData name="SEBASTIAN MONTOYA VILLADA" userId="dffcc6c4-4ec2-40a3-ba2d-1adaa01cc26d" providerId="ADAL" clId="{3631816F-C42D-43AB-8BE5-E4DD25D23C65}" dt="2025-02-02T17:37:33.435" v="297" actId="47"/>
        <pc:sldMkLst>
          <pc:docMk/>
          <pc:sldMk cId="47168701" sldId="401"/>
        </pc:sldMkLst>
      </pc:sldChg>
      <pc:sldChg chg="modSp">
        <pc:chgData name="SEBASTIAN MONTOYA VILLADA" userId="dffcc6c4-4ec2-40a3-ba2d-1adaa01cc26d" providerId="ADAL" clId="{3631816F-C42D-43AB-8BE5-E4DD25D23C65}" dt="2025-02-02T17:02:58.756" v="13" actId="20577"/>
        <pc:sldMkLst>
          <pc:docMk/>
          <pc:sldMk cId="2608532953" sldId="403"/>
        </pc:sldMkLst>
      </pc:sldChg>
      <pc:sldChg chg="modSp mod">
        <pc:chgData name="SEBASTIAN MONTOYA VILLADA" userId="dffcc6c4-4ec2-40a3-ba2d-1adaa01cc26d" providerId="ADAL" clId="{3631816F-C42D-43AB-8BE5-E4DD25D23C65}" dt="2025-02-02T17:04:29.073" v="32" actId="1076"/>
        <pc:sldMkLst>
          <pc:docMk/>
          <pc:sldMk cId="1301947520" sldId="405"/>
        </pc:sldMkLst>
      </pc:sldChg>
      <pc:sldChg chg="addSp delSp modSp add mod">
        <pc:chgData name="SEBASTIAN MONTOYA VILLADA" userId="dffcc6c4-4ec2-40a3-ba2d-1adaa01cc26d" providerId="ADAL" clId="{3631816F-C42D-43AB-8BE5-E4DD25D23C65}" dt="2025-02-02T17:52:49.619" v="671" actId="20577"/>
        <pc:sldMkLst>
          <pc:docMk/>
          <pc:sldMk cId="4072667157" sldId="406"/>
        </pc:sldMkLst>
      </pc:sldChg>
      <pc:sldChg chg="delSp modSp add mod">
        <pc:chgData name="SEBASTIAN MONTOYA VILLADA" userId="dffcc6c4-4ec2-40a3-ba2d-1adaa01cc26d" providerId="ADAL" clId="{3631816F-C42D-43AB-8BE5-E4DD25D23C65}" dt="2025-02-02T17:12:34.296" v="131" actId="1076"/>
        <pc:sldMkLst>
          <pc:docMk/>
          <pc:sldMk cId="2106485477" sldId="407"/>
        </pc:sldMkLst>
      </pc:sldChg>
      <pc:sldChg chg="modSp add del mod">
        <pc:chgData name="SEBASTIAN MONTOYA VILLADA" userId="dffcc6c4-4ec2-40a3-ba2d-1adaa01cc26d" providerId="ADAL" clId="{3631816F-C42D-43AB-8BE5-E4DD25D23C65}" dt="2025-02-02T17:55:10.721" v="672" actId="47"/>
        <pc:sldMkLst>
          <pc:docMk/>
          <pc:sldMk cId="2579195081" sldId="408"/>
        </pc:sldMkLst>
      </pc:sldChg>
      <pc:sldChg chg="modSp add">
        <pc:chgData name="SEBASTIAN MONTOYA VILLADA" userId="dffcc6c4-4ec2-40a3-ba2d-1adaa01cc26d" providerId="ADAL" clId="{3631816F-C42D-43AB-8BE5-E4DD25D23C65}" dt="2025-02-02T17:24:32.680" v="148" actId="1076"/>
        <pc:sldMkLst>
          <pc:docMk/>
          <pc:sldMk cId="8677875" sldId="409"/>
        </pc:sldMkLst>
      </pc:sldChg>
      <pc:sldChg chg="addSp delSp modSp add mod">
        <pc:chgData name="SEBASTIAN MONTOYA VILLADA" userId="dffcc6c4-4ec2-40a3-ba2d-1adaa01cc26d" providerId="ADAL" clId="{3631816F-C42D-43AB-8BE5-E4DD25D23C65}" dt="2025-02-02T17:18:38.162" v="147" actId="1076"/>
        <pc:sldMkLst>
          <pc:docMk/>
          <pc:sldMk cId="4186104522" sldId="410"/>
        </pc:sldMkLst>
      </pc:sldChg>
      <pc:sldChg chg="add del ord">
        <pc:chgData name="SEBASTIAN MONTOYA VILLADA" userId="dffcc6c4-4ec2-40a3-ba2d-1adaa01cc26d" providerId="ADAL" clId="{3631816F-C42D-43AB-8BE5-E4DD25D23C65}" dt="2025-02-02T17:52:43.562" v="670" actId="47"/>
        <pc:sldMkLst>
          <pc:docMk/>
          <pc:sldMk cId="826557915" sldId="411"/>
        </pc:sldMkLst>
      </pc:sldChg>
      <pc:sldChg chg="addSp modSp add mod">
        <pc:chgData name="SEBASTIAN MONTOYA VILLADA" userId="dffcc6c4-4ec2-40a3-ba2d-1adaa01cc26d" providerId="ADAL" clId="{3631816F-C42D-43AB-8BE5-E4DD25D23C65}" dt="2025-02-02T17:31:21.563" v="201" actId="20577"/>
        <pc:sldMkLst>
          <pc:docMk/>
          <pc:sldMk cId="1378449796" sldId="412"/>
        </pc:sldMkLst>
      </pc:sldChg>
      <pc:sldChg chg="addSp delSp modSp add mod">
        <pc:chgData name="SEBASTIAN MONTOYA VILLADA" userId="dffcc6c4-4ec2-40a3-ba2d-1adaa01cc26d" providerId="ADAL" clId="{3631816F-C42D-43AB-8BE5-E4DD25D23C65}" dt="2025-02-02T17:36:13.703" v="294" actId="20577"/>
        <pc:sldMkLst>
          <pc:docMk/>
          <pc:sldMk cId="1222767551" sldId="413"/>
        </pc:sldMkLst>
      </pc:sldChg>
      <pc:sldChg chg="modSp add mod">
        <pc:chgData name="SEBASTIAN MONTOYA VILLADA" userId="dffcc6c4-4ec2-40a3-ba2d-1adaa01cc26d" providerId="ADAL" clId="{3631816F-C42D-43AB-8BE5-E4DD25D23C65}" dt="2025-02-02T17:44:28.316" v="637" actId="20577"/>
        <pc:sldMkLst>
          <pc:docMk/>
          <pc:sldMk cId="2733277947" sldId="414"/>
        </pc:sldMkLst>
      </pc:sldChg>
      <pc:sldChg chg="modSp add mod">
        <pc:chgData name="SEBASTIAN MONTOYA VILLADA" userId="dffcc6c4-4ec2-40a3-ba2d-1adaa01cc26d" providerId="ADAL" clId="{3631816F-C42D-43AB-8BE5-E4DD25D23C65}" dt="2025-02-02T17:51:15.065" v="669" actId="1076"/>
        <pc:sldMkLst>
          <pc:docMk/>
          <pc:sldMk cId="3342312546" sldId="415"/>
        </pc:sldMkLst>
      </pc:sldChg>
      <pc:sldChg chg="delSp modSp add mod">
        <pc:chgData name="SEBASTIAN MONTOYA VILLADA" userId="dffcc6c4-4ec2-40a3-ba2d-1adaa01cc26d" providerId="ADAL" clId="{3631816F-C42D-43AB-8BE5-E4DD25D23C65}" dt="2025-02-02T17:59:56.766" v="724" actId="20577"/>
        <pc:sldMkLst>
          <pc:docMk/>
          <pc:sldMk cId="3813547514" sldId="416"/>
        </pc:sldMkLst>
      </pc:sldChg>
      <pc:sldChg chg="modSp add mod">
        <pc:chgData name="SEBASTIAN MONTOYA VILLADA" userId="dffcc6c4-4ec2-40a3-ba2d-1adaa01cc26d" providerId="ADAL" clId="{3631816F-C42D-43AB-8BE5-E4DD25D23C65}" dt="2025-02-02T18:01:00.312" v="779" actId="20577"/>
        <pc:sldMkLst>
          <pc:docMk/>
          <pc:sldMk cId="2942061237" sldId="41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9A39C6-7AC7-DE48-A7E7-5D665BC0120C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6A6DC4-62F6-D744-9B5A-2471E53D22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473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Esta diapositiva aclara que el principio de inclusión y exclusión puede usarse con conjuntos explícitos, aunque resulta especialmente útil cuando solo se conocen las cardinalidades y las intersecciones.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Título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2758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7814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8282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8770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4903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0072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7911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0769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6961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8025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5242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3167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799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Título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1439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95273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93016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62647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42893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45509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783100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33632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53981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83209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64553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1774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EBCE69C-0E9C-5945-8C5B-51CD63616BCB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315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3619E48-770E-3797-B2B5-4B5A3A2FE52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47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7" name="Google Shape;42;p1">
            <a:extLst>
              <a:ext uri="{FF2B5EF4-FFF2-40B4-BE49-F238E27FC236}">
                <a16:creationId xmlns:a16="http://schemas.microsoft.com/office/drawing/2014/main" id="{2B45B46A-91AE-80AB-4C52-6F9A4C7FEC60}"/>
              </a:ext>
            </a:extLst>
          </p:cNvPr>
          <p:cNvSpPr txBox="1">
            <a:spLocks noGrp="1"/>
          </p:cNvSpPr>
          <p:nvPr/>
        </p:nvSpPr>
        <p:spPr>
          <a:xfrm>
            <a:off x="1210255" y="2398152"/>
            <a:ext cx="9373925" cy="2962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defRPr sz="3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5400" dirty="0">
                <a:solidFill>
                  <a:schemeClr val="lt1"/>
                </a:solidFill>
              </a:rPr>
              <a:t>Matemáticas para la informática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lang="es-CO" sz="5400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5400" dirty="0">
                <a:solidFill>
                  <a:schemeClr val="lt1"/>
                </a:solidFill>
              </a:rPr>
              <a:t>Sesión 10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lang="es-CO" sz="5400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2000" dirty="0">
                <a:solidFill>
                  <a:schemeClr val="lt1"/>
                </a:solidFill>
              </a:rPr>
              <a:t>Sebastian Montoya Villada</a:t>
            </a:r>
          </a:p>
        </p:txBody>
      </p:sp>
    </p:spTree>
    <p:extLst>
      <p:ext uri="{BB962C8B-B14F-4D97-AF65-F5344CB8AC3E}">
        <p14:creationId xmlns:p14="http://schemas.microsoft.com/office/powerpoint/2010/main" val="1972982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6105525"/>
            <a:ext cx="10648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71524" y="1870256"/>
            <a:ext cx="11181397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Contenido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771525" y="6305550"/>
            <a:ext cx="6000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AGENDA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229975" y="6305550"/>
            <a:ext cx="190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10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71562" y="2831455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Unión, intersección, diferencia y complemento</a:t>
            </a:r>
            <a:endParaRPr sz="2400" dirty="0"/>
          </a:p>
        </p:txBody>
      </p:sp>
      <p:sp>
        <p:nvSpPr>
          <p:cNvPr id="103" name="Google Shape;103;p14"/>
          <p:cNvSpPr/>
          <p:nvPr/>
        </p:nvSpPr>
        <p:spPr>
          <a:xfrm>
            <a:off x="771524" y="2937057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071562" y="3583930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Diagramas de Venn</a:t>
            </a:r>
            <a:endParaRPr sz="2400" dirty="0"/>
          </a:p>
        </p:txBody>
      </p:sp>
      <p:sp>
        <p:nvSpPr>
          <p:cNvPr id="105" name="Google Shape;105;p14"/>
          <p:cNvSpPr/>
          <p:nvPr/>
        </p:nvSpPr>
        <p:spPr>
          <a:xfrm>
            <a:off x="771524" y="368953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1071562" y="4331643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Identidades de conjuntos</a:t>
            </a:r>
            <a:endParaRPr sz="2400"/>
          </a:p>
        </p:txBody>
      </p:sp>
      <p:sp>
        <p:nvSpPr>
          <p:cNvPr id="2" name="Google Shape;106;p14"/>
          <p:cNvSpPr txBox="1"/>
          <p:nvPr/>
        </p:nvSpPr>
        <p:spPr>
          <a:xfrm>
            <a:off x="1071562" y="5084064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Principio de inclusión y exclusión</a:t>
            </a:r>
            <a:endParaRPr sz="2400"/>
          </a:p>
        </p:txBody>
      </p:sp>
      <p:sp>
        <p:nvSpPr>
          <p:cNvPr id="107" name="Google Shape;107;p14"/>
          <p:cNvSpPr txBox="1"/>
          <p:nvPr/>
        </p:nvSpPr>
        <p:spPr>
          <a:xfrm>
            <a:off x="6634163" y="2831455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Producto cartesiano</a:t>
            </a:r>
            <a:endParaRPr sz="2400"/>
          </a:p>
        </p:txBody>
      </p:sp>
      <p:sp>
        <p:nvSpPr>
          <p:cNvPr id="108" name="Google Shape;108;p14"/>
          <p:cNvSpPr/>
          <p:nvPr/>
        </p:nvSpPr>
        <p:spPr>
          <a:xfrm>
            <a:off x="6367463" y="335756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6634163" y="3505498"/>
            <a:ext cx="47720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correspondencia entre lógica y conjuntos</a:t>
            </a:r>
            <a:endParaRPr sz="2400"/>
          </a:p>
        </p:txBody>
      </p:sp>
      <p:sp>
        <p:nvSpPr>
          <p:cNvPr id="110" name="Google Shape;110;p14"/>
          <p:cNvSpPr txBox="1"/>
          <p:nvPr/>
        </p:nvSpPr>
        <p:spPr>
          <a:xfrm>
            <a:off x="6362222" y="5133202"/>
            <a:ext cx="44291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Objetivo: operar con conjuntos, representar el resultado en un diagrama y demostrar identidades.</a:t>
            </a:r>
            <a:endParaRPr sz="2400" dirty="0"/>
          </a:p>
        </p:txBody>
      </p:sp>
      <p:sp>
        <p:nvSpPr>
          <p:cNvPr id="111" name="Google Shape;111;p14"/>
          <p:cNvSpPr/>
          <p:nvPr/>
        </p:nvSpPr>
        <p:spPr>
          <a:xfrm>
            <a:off x="771524" y="2937057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771524" y="368953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6367463" y="335756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862" y="29575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4" y="372091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862" y="446246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1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862" y="5212080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7463" y="29575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7463" y="3867149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Repaso: lo que ya tenemos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sesión pasada quedaron definidas las relaciones básicas.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468880"/>
          <a:ext cx="10652759" cy="2743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56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5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Concepto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Notación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Significado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Pertenencia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x ∈ 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x es un elemento de A.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Contenencia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A ⊆ B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∀x (x ∈ A → x ∈ B)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Igualdad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A = B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A ⊆ B  y  B ⊆ 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Conjunto potencia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P(A)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Todos los subconjuntos de A. Si |A| = n, hay 2ⁿ.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394960"/>
            <a:ext cx="10652760" cy="77724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55040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Hoy pasamos de comparar conjuntos a combinarlos: dados dos conjuntos, construir uno nuevo.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Unión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conjunto de los elementos que están en A, en B, o en ambos.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286000"/>
            <a:ext cx="10652760" cy="8229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97280" y="2450592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A ∪ B  =  { x  :  x ∈ A  ∨  x ∈ B }</a:t>
            </a:r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1810512" y="3589020"/>
            <a:ext cx="1828800" cy="1508760"/>
          </a:xfrm>
          <a:prstGeom prst="ellipse">
            <a:avLst/>
          </a:prstGeom>
          <a:solidFill>
            <a:srgbClr val="2563EB">
              <a:alpha val="22000"/>
            </a:srgbClr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2944368" y="3589020"/>
            <a:ext cx="1828800" cy="1508760"/>
          </a:xfrm>
          <a:prstGeom prst="ellipse">
            <a:avLst/>
          </a:prstGeom>
          <a:solidFill>
            <a:srgbClr val="0E9488">
              <a:alpha val="22000"/>
            </a:srgbClr>
          </a:solidFill>
          <a:ln w="19050">
            <a:solidFill>
              <a:srgbClr val="0E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1764792" y="3278124"/>
            <a:ext cx="457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Montserrat"/>
              </a:rPr>
              <a:t>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361688" y="3278124"/>
            <a:ext cx="457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E9488"/>
                </a:solidFill>
                <a:latin typeface="Montserrat"/>
              </a:rPr>
              <a:t>B</a:t>
            </a:r>
          </a:p>
        </p:txBody>
      </p:sp>
      <p:sp>
        <p:nvSpPr>
          <p:cNvPr id="3" name="Google Shape;107;p14"/>
          <p:cNvSpPr txBox="1"/>
          <p:nvPr/>
        </p:nvSpPr>
        <p:spPr>
          <a:xfrm>
            <a:off x="1737360" y="534924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Toda la región coloreada: lo que está en A o en B.</a:t>
            </a:r>
            <a:endParaRPr/>
          </a:p>
        </p:txBody>
      </p:sp>
      <p:sp>
        <p:nvSpPr>
          <p:cNvPr id="113" name="Rounded Rectangle 112"/>
          <p:cNvSpPr/>
          <p:nvPr/>
        </p:nvSpPr>
        <p:spPr>
          <a:xfrm>
            <a:off x="6675120" y="3291840"/>
            <a:ext cx="4754880" cy="12344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6903720" y="3438144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Se corresponde con la disyunción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903720" y="3858768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∪ de conjuntos es el ∨ de la lógica: basta pertenecer a uno de los dos.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675120" y="4709160"/>
            <a:ext cx="4754880" cy="12344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6903720" y="4855464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Ejemplo</a:t>
            </a:r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6903720" y="5276088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 = {1, 2, 3},  B = {3, 4}</a:t>
            </a:r>
          </a:p>
          <a:p>
            <a:pPr>
              <a:spcAft>
                <a:spcPts val="4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 ∪ B = {1, 2, 3, 4}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Intersección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conjunto de los elementos que están en A y también en B.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286000"/>
            <a:ext cx="10652760" cy="8229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97280" y="2450592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A ∩ B  =  { x  :  x ∈ A  ∧  x ∈ B }</a:t>
            </a:r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1810512" y="3589020"/>
            <a:ext cx="1828800" cy="1508760"/>
          </a:xfrm>
          <a:prstGeom prst="ellipse">
            <a:avLst/>
          </a:prstGeom>
          <a:solidFill>
            <a:srgbClr val="2563EB">
              <a:alpha val="22000"/>
            </a:srgbClr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2944368" y="3589020"/>
            <a:ext cx="1828800" cy="1508760"/>
          </a:xfrm>
          <a:prstGeom prst="ellipse">
            <a:avLst/>
          </a:prstGeom>
          <a:solidFill>
            <a:srgbClr val="0E9488">
              <a:alpha val="22000"/>
            </a:srgbClr>
          </a:solidFill>
          <a:ln w="19050">
            <a:solidFill>
              <a:srgbClr val="0E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1764792" y="3278124"/>
            <a:ext cx="457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Montserrat"/>
              </a:rPr>
              <a:t>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361688" y="3278124"/>
            <a:ext cx="457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E9488"/>
                </a:solidFill>
                <a:latin typeface="Montserrat"/>
              </a:rPr>
              <a:t>B</a:t>
            </a:r>
          </a:p>
        </p:txBody>
      </p:sp>
      <p:sp>
        <p:nvSpPr>
          <p:cNvPr id="3" name="Google Shape;107;p14"/>
          <p:cNvSpPr txBox="1"/>
          <p:nvPr/>
        </p:nvSpPr>
        <p:spPr>
          <a:xfrm>
            <a:off x="1737360" y="534924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Solo la zona central, donde los dos colores se superponen.</a:t>
            </a:r>
            <a:endParaRPr/>
          </a:p>
        </p:txBody>
      </p:sp>
      <p:sp>
        <p:nvSpPr>
          <p:cNvPr id="113" name="Rounded Rectangle 112"/>
          <p:cNvSpPr/>
          <p:nvPr/>
        </p:nvSpPr>
        <p:spPr>
          <a:xfrm>
            <a:off x="6675120" y="3291840"/>
            <a:ext cx="4754880" cy="12344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6903720" y="3438144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Se corresponde con la conjunción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903720" y="3858768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∩ de conjuntos es el ∧ de la lógica: hay que pertenecer a los dos.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675120" y="4709160"/>
            <a:ext cx="4754880" cy="12344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6903720" y="4855464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Conjuntos disyuntos</a:t>
            </a:r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6903720" y="5276088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 A ∩ B = ∅, los conjuntos no tienen elementos en común y se llaman disyuntos.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Diferencia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Lo que está en A pero no en B.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286000"/>
            <a:ext cx="10652760" cy="8229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97280" y="2450592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A − B  =  { x  :  x ∈ A  ∧  x ∉ B }</a:t>
            </a:r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1810512" y="3589020"/>
            <a:ext cx="1828800" cy="1508760"/>
          </a:xfrm>
          <a:prstGeom prst="ellipse">
            <a:avLst/>
          </a:prstGeom>
          <a:solidFill>
            <a:srgbClr val="2563EB">
              <a:alpha val="22000"/>
            </a:srgbClr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2944368" y="3589020"/>
            <a:ext cx="1828800" cy="1508760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1764792" y="3278124"/>
            <a:ext cx="457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Montserrat"/>
              </a:rPr>
              <a:t>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361688" y="3278124"/>
            <a:ext cx="457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Montserrat"/>
              </a:rPr>
              <a:t>B</a:t>
            </a:r>
          </a:p>
        </p:txBody>
      </p:sp>
      <p:sp>
        <p:nvSpPr>
          <p:cNvPr id="3" name="Google Shape;107;p14"/>
          <p:cNvSpPr txBox="1"/>
          <p:nvPr/>
        </p:nvSpPr>
        <p:spPr>
          <a:xfrm>
            <a:off x="1737360" y="534924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Solo A está coloreada; B se dibuja sin relleno para marcar lo que se quita.</a:t>
            </a:r>
            <a:endParaRPr/>
          </a:p>
        </p:txBody>
      </p:sp>
      <p:sp>
        <p:nvSpPr>
          <p:cNvPr id="113" name="Rounded Rectangle 112"/>
          <p:cNvSpPr/>
          <p:nvPr/>
        </p:nvSpPr>
        <p:spPr>
          <a:xfrm>
            <a:off x="6675120" y="3291840"/>
            <a:ext cx="4754880" cy="12344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6903720" y="3438144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No es simétrica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903720" y="3858768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 − B y B − A son distintos. Compare con la resta de números.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675120" y="4709160"/>
            <a:ext cx="4754880" cy="12344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6903720" y="4855464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Ejemplo</a:t>
            </a:r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6903720" y="5276088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 = {1, 2, 3},  B = {3, 4}</a:t>
            </a:r>
          </a:p>
          <a:p>
            <a:pPr>
              <a:spcAft>
                <a:spcPts val="4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 − B = {1, 2}   ·   B − A = {4}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Complemento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Lo que está en el universo pero no en A.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286000"/>
            <a:ext cx="10652760" cy="8229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97280" y="2450592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Aᶜ  =  { x ∈ U  :  x ∉ A }        donde U es el conjunto universal</a:t>
            </a:r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1371600" y="3246120"/>
            <a:ext cx="4023360" cy="210312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1481328" y="3310128"/>
            <a:ext cx="36576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Montserrat"/>
              </a:rPr>
              <a:t>U</a:t>
            </a:r>
          </a:p>
        </p:txBody>
      </p:sp>
      <p:sp>
        <p:nvSpPr>
          <p:cNvPr id="111" name="Oval 110"/>
          <p:cNvSpPr/>
          <p:nvPr/>
        </p:nvSpPr>
        <p:spPr>
          <a:xfrm>
            <a:off x="2468880" y="3657600"/>
            <a:ext cx="1828800" cy="1371600"/>
          </a:xfrm>
          <a:prstGeom prst="ellipse">
            <a:avLst/>
          </a:prstGeom>
          <a:solidFill>
            <a:srgbClr val="FFFFFF">
              <a:alpha val="0"/>
            </a:srgbClr>
          </a:solidFill>
          <a:ln w="1651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3154680" y="4206240"/>
            <a:ext cx="457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Montserrat"/>
              </a:rPr>
              <a:t>A</a:t>
            </a:r>
          </a:p>
        </p:txBody>
      </p:sp>
      <p:sp>
        <p:nvSpPr>
          <p:cNvPr id="3" name="Google Shape;107;p14"/>
          <p:cNvSpPr txBox="1"/>
          <p:nvPr/>
        </p:nvSpPr>
        <p:spPr>
          <a:xfrm>
            <a:off x="1828800" y="54406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zona gris de fuera del círculo es Aᶜ.</a:t>
            </a:r>
            <a:endParaRPr/>
          </a:p>
        </p:txBody>
      </p:sp>
      <p:sp>
        <p:nvSpPr>
          <p:cNvPr id="113" name="Rounded Rectangle 112"/>
          <p:cNvSpPr/>
          <p:nvPr/>
        </p:nvSpPr>
        <p:spPr>
          <a:xfrm>
            <a:off x="6675120" y="3291840"/>
            <a:ext cx="4754880" cy="12344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6903720" y="3438144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Se corresponde con la negación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903720" y="3858768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complemento es el ¬ de la lógica, aplicado sobre un universo fijo.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675120" y="4709160"/>
            <a:ext cx="4754880" cy="123444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6903720" y="4855464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El universo importa</a:t>
            </a:r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6903720" y="5276088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 U = ℤ y A son los pares, Aᶜ son los impares. Con otro U, Aᶜ cambia.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Las cuatro operaciones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Cada operación de conjuntos es una conectiva lógica aplicada a la pertenencia.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468880"/>
          <a:ext cx="10652758" cy="2743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30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44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9717">
                  <a:extLst>
                    <a:ext uri="{9D8B030D-6E8A-4147-A177-3AD203B41FA5}">
                      <a16:colId xmlns:a16="http://schemas.microsoft.com/office/drawing/2014/main" val="124267393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Operación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Notación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Definición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Unión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A ∪ B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{ x : x ∈ A ∨ x ∈ B }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Intersección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A ∩ B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{ x : x ∈ A ∧ x ∈ B }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Diferencia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A − B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{ x : x ∈ A ∧ x ∉ B }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Complemento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Aᶜ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{ x ∈ U : x ∉ A }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394960"/>
            <a:ext cx="10652760" cy="7772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55040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Esta correspondencia es la clave de todo el tema: cualquier propiedad de conjuntos se puede traducir a una propiedad lógica que ya demostramos en la sesión 3.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1: calcule las operaciones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Una tienda en línea analiza a sus clientes. Con U = {5,10,…,50}, A = compraron un smartphone = {10,15,20,25,30}, B = compraron una laptop = {20,25,35,40}.</a:t>
            </a:r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768096" y="2743200"/>
            <a:ext cx="493776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2000"/>
              </a:spcAft>
            </a:pPr>
            <a:r>
              <a:rPr lang="en-US" sz="14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1)   A ∪ B  (al menos un producto)</a:t>
            </a:r>
          </a:p>
          <a:p>
            <a:pPr>
              <a:spcAft>
                <a:spcPts val="1000"/>
              </a:spcAft>
            </a:pPr>
            <a:r>
              <a:rPr sz="1400" b="1">
                <a:latin typeface="Roboto"/>
              </a:rPr>
              <a:t>2)   A ∩ B  (ambos productos)</a:t>
            </a:r>
          </a:p>
          <a:p>
            <a:pPr>
              <a:spcAft>
                <a:spcPts val="1000"/>
              </a:spcAft>
            </a:pPr>
            <a:r>
              <a:rPr sz="1400" b="1">
                <a:latin typeface="Roboto"/>
              </a:rPr>
              <a:t>3)   A − B  (solo smartphone)</a:t>
            </a:r>
          </a:p>
          <a:p>
            <a:pPr>
              <a:spcAft>
                <a:spcPts val="1000"/>
              </a:spcAft>
            </a:pPr>
            <a:r>
              <a:rPr sz="1400" b="1">
                <a:latin typeface="Roboto"/>
              </a:rPr>
              <a:t>4)   B − A  (solo laptop)</a:t>
            </a:r>
          </a:p>
        </p:txBody>
      </p:sp>
      <p:sp>
        <p:nvSpPr>
          <p:cNvPr id="3" name="Google Shape;107;p14"/>
          <p:cNvSpPr txBox="1"/>
          <p:nvPr/>
        </p:nvSpPr>
        <p:spPr>
          <a:xfrm>
            <a:off x="6217920" y="2743200"/>
            <a:ext cx="521208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2000"/>
              </a:spcAft>
            </a:pPr>
            <a:r>
              <a:rPr lang="en-US" sz="14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5)   Aᶜ</a:t>
            </a:r>
          </a:p>
          <a:p>
            <a:pPr>
              <a:spcAft>
                <a:spcPts val="1000"/>
              </a:spcAft>
            </a:pPr>
            <a:r>
              <a:rPr sz="1400" b="1">
                <a:latin typeface="Roboto"/>
              </a:rPr>
              <a:t>6)   (A ∪ B)ᶜ</a:t>
            </a:r>
          </a:p>
          <a:p>
            <a:pPr>
              <a:spcAft>
                <a:spcPts val="1000"/>
              </a:spcAft>
            </a:pPr>
            <a:r>
              <a:rPr sz="1400" b="1">
                <a:latin typeface="Roboto"/>
              </a:rPr>
              <a:t>7)   Aᶜ ∩ Bᶜ</a:t>
            </a:r>
          </a:p>
          <a:p>
            <a:pPr>
              <a:spcAft>
                <a:spcPts val="1000"/>
              </a:spcAft>
            </a:pPr>
            <a:r>
              <a:rPr sz="1400" b="1">
                <a:latin typeface="Roboto"/>
              </a:rPr>
              <a:t>8)   Compare 6 y 7. ¿Qué observa?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68096" y="5120640"/>
            <a:ext cx="10652760" cy="105156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1051560" y="5349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Los puntos 6 y 7 no son casualidad: si el resultado coincide, ya encontró una de las identidades que veremos enseguida.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1 — Solución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Resultados.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560320"/>
          <a:ext cx="10652758" cy="26517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39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7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7214">
                  <a:extLst>
                    <a:ext uri="{9D8B030D-6E8A-4147-A177-3AD203B41FA5}">
                      <a16:colId xmlns:a16="http://schemas.microsoft.com/office/drawing/2014/main" val="3071462947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Roboto"/>
                        </a:rPr>
                        <a:t>#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Roboto"/>
                        </a:rPr>
                        <a:t>Resultado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Roboto"/>
                        </a:rPr>
                        <a:t>#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  <a:endParaRPr dirty="0"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A ∪ B = {10,15,20,25,30,35,40}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Roboto"/>
                        </a:rPr>
                        <a:t>5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  <a:endParaRPr dirty="0"/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A ∩ B = {20,25}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Roboto"/>
                        </a:rPr>
                        <a:t>6</a:t>
                      </a:r>
                      <a:endParaRPr dirty="0"/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  <a:endParaRPr dirty="0"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A − B = {10,15,30}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Roboto"/>
                        </a:rPr>
                        <a:t>7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Roboto"/>
                        </a:rPr>
                        <a:t>4</a:t>
                      </a:r>
                      <a:endParaRPr dirty="0"/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B − A = {35,40}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Roboto"/>
                        </a:rPr>
                        <a:t>8</a:t>
                      </a:r>
                      <a:endParaRPr dirty="0"/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394960"/>
            <a:ext cx="10652760" cy="77724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55040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Compare los puntos 3 y 4: A − B y B − A dan resultados distintos. La diferencia no es conmutativa.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Diagramas de Venn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Sirven para entender una operación y para sospechar si una identidad es cierta.</a:t>
            </a:r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768096" y="2514600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2" name="Google Shape;107;p14"/>
          <p:cNvSpPr txBox="1"/>
          <p:nvPr/>
        </p:nvSpPr>
        <p:spPr>
          <a:xfrm>
            <a:off x="1280160" y="2532888"/>
            <a:ext cx="58887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Dibuje los círculos y numere cada región del diagrama.</a:t>
            </a:r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768096" y="3118104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3" name="Google Shape;107;p14"/>
          <p:cNvSpPr txBox="1"/>
          <p:nvPr/>
        </p:nvSpPr>
        <p:spPr>
          <a:xfrm>
            <a:off x="1280160" y="3136392"/>
            <a:ext cx="58887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Sombree la región que describe el lado izquierdo de la identidad.</a:t>
            </a:r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768096" y="3721608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4" name="Google Shape;107;p14"/>
          <p:cNvSpPr txBox="1"/>
          <p:nvPr/>
        </p:nvSpPr>
        <p:spPr>
          <a:xfrm>
            <a:off x="1280160" y="3739896"/>
            <a:ext cx="58887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Sombree, en otro diagrama, la del lado derecho.</a:t>
            </a:r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768096" y="4325112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5" name="Google Shape;107;p14"/>
          <p:cNvSpPr txBox="1"/>
          <p:nvPr/>
        </p:nvSpPr>
        <p:spPr>
          <a:xfrm>
            <a:off x="1280160" y="4343400"/>
            <a:ext cx="58887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 las regiones coinciden, la identidad es plausible.</a:t>
            </a:r>
            <a:endParaRPr/>
          </a:p>
        </p:txBody>
      </p:sp>
      <p:sp>
        <p:nvSpPr>
          <p:cNvPr id="112" name="Rounded Rectangle 111"/>
          <p:cNvSpPr/>
          <p:nvPr/>
        </p:nvSpPr>
        <p:spPr>
          <a:xfrm>
            <a:off x="7498079" y="2560320"/>
            <a:ext cx="3931920" cy="228600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7726679" y="2706624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Advertencia importante</a:t>
            </a:r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7726679" y="3127248"/>
            <a:ext cx="347472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diagrama muestra que una identidad parece cierta, pero no la demuestra.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demostración formal es por doble contenencia.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768096" y="5074920"/>
            <a:ext cx="10652760" cy="109728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Google Shape;107;p14"/>
          <p:cNvSpPr txBox="1"/>
          <p:nvPr/>
        </p:nvSpPr>
        <p:spPr>
          <a:xfrm>
            <a:off x="1051560" y="5285232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 la misma distinción de la sesión 8: verificar con un dibujo o con ejemplos ayuda a decidir si vale la pena demostrar, pero no reemplaza la demostración.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Ejemplo resuelto 1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Verifique con diagramas:   (A ∪ B)ᶜ  =  Aᶜ ∩ Bᶜ</a:t>
            </a:r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920240" y="2514600"/>
            <a:ext cx="16459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Montserrat"/>
              </a:rPr>
              <a:t>(A ∪ B)ᶜ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14400" y="2880360"/>
            <a:ext cx="3840480" cy="201168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1581912" y="3268980"/>
            <a:ext cx="1554480" cy="1234440"/>
          </a:xfrm>
          <a:prstGeom prst="ellipse">
            <a:avLst/>
          </a:prstGeom>
          <a:solidFill>
            <a:srgbClr val="2563EB">
              <a:alpha val="20000"/>
            </a:srgbClr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2532888" y="3268980"/>
            <a:ext cx="1554480" cy="1234440"/>
          </a:xfrm>
          <a:prstGeom prst="ellipse">
            <a:avLst/>
          </a:prstGeom>
          <a:solidFill>
            <a:srgbClr val="0E9488">
              <a:alpha val="20000"/>
            </a:srgbClr>
          </a:solidFill>
          <a:ln w="19050">
            <a:solidFill>
              <a:srgbClr val="0E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536192" y="2958084"/>
            <a:ext cx="457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Montserrat"/>
              </a:rPr>
              <a:t>A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675887" y="2958084"/>
            <a:ext cx="457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E9488"/>
                </a:solidFill>
                <a:latin typeface="Montserrat"/>
              </a:rPr>
              <a:t>B</a:t>
            </a:r>
          </a:p>
        </p:txBody>
      </p:sp>
      <p:sp>
        <p:nvSpPr>
          <p:cNvPr id="2" name="Google Shape;107;p14"/>
          <p:cNvSpPr txBox="1"/>
          <p:nvPr/>
        </p:nvSpPr>
        <p:spPr>
          <a:xfrm>
            <a:off x="1005840" y="495604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Se sombrea todo lo de fuera de los dos círculos.</a:t>
            </a:r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6949440" y="2514600"/>
            <a:ext cx="16459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Montserrat"/>
              </a:rPr>
              <a:t>Aᶜ ∩ Bᶜ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5943600" y="2880360"/>
            <a:ext cx="3840480" cy="201168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6611112" y="3268980"/>
            <a:ext cx="1554480" cy="1234440"/>
          </a:xfrm>
          <a:prstGeom prst="ellipse">
            <a:avLst/>
          </a:prstGeom>
          <a:solidFill>
            <a:srgbClr val="2563EB">
              <a:alpha val="20000"/>
            </a:srgbClr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7562088" y="3268980"/>
            <a:ext cx="1554480" cy="1234440"/>
          </a:xfrm>
          <a:prstGeom prst="ellipse">
            <a:avLst/>
          </a:prstGeom>
          <a:solidFill>
            <a:srgbClr val="0E9488">
              <a:alpha val="20000"/>
            </a:srgbClr>
          </a:solidFill>
          <a:ln w="19050">
            <a:solidFill>
              <a:srgbClr val="0E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565392" y="2958084"/>
            <a:ext cx="457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Montserrat"/>
              </a:rPr>
              <a:t>A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705088" y="2958084"/>
            <a:ext cx="457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E9488"/>
                </a:solidFill>
                <a:latin typeface="Montserrat"/>
              </a:rPr>
              <a:t>B</a:t>
            </a:r>
          </a:p>
        </p:txBody>
      </p:sp>
      <p:sp>
        <p:nvSpPr>
          <p:cNvPr id="3" name="Google Shape;107;p14"/>
          <p:cNvSpPr txBox="1"/>
          <p:nvPr/>
        </p:nvSpPr>
        <p:spPr>
          <a:xfrm>
            <a:off x="6035040" y="495604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Fuera de A y a la vez fuera de B: la misma región.</a:t>
            </a:r>
            <a:endParaRPr/>
          </a:p>
        </p:txBody>
      </p:sp>
      <p:sp>
        <p:nvSpPr>
          <p:cNvPr id="120" name="Rounded Rectangle 119"/>
          <p:cNvSpPr/>
          <p:nvPr/>
        </p:nvSpPr>
        <p:spPr>
          <a:xfrm>
            <a:off x="768096" y="5440680"/>
            <a:ext cx="10652760" cy="73152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1051560" y="55961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Las dos regiones coinciden, así que la identidad es plausible. Ahora hay que demostrarla.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Identidades de conjuntos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Las mismas leyes de la sesión 3, escritas con conjuntos.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423160"/>
          <a:ext cx="10652758" cy="32004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17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7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7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1E3A8A"/>
                          </a:solidFill>
                          <a:latin typeface="Montserrat"/>
                        </a:rPr>
                        <a:t>Ley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1E3A8A"/>
                          </a:solidFill>
                          <a:latin typeface="Montserrat"/>
                        </a:rPr>
                        <a:t>Con ∩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1E3A8A"/>
                          </a:solidFill>
                          <a:latin typeface="Montserrat"/>
                        </a:rPr>
                        <a:t>Con ∪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Conmutativa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A ∩ B = B ∩ 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A ∪ B = B ∪ 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Asociativa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(A ∩ B) ∩ C = A ∩ (B ∩ C)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(A ∪ B) ∪ C = A ∪ (B ∪ C)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Distributiva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A ∩ (B ∪ C) = (A ∩ B) ∪ (A ∩ C)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A ∪ (B ∩ C) = (A ∪ B) ∩ (A ∪ C)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De Morgan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(A ∩ B)ᶜ = Aᶜ ∪ Bᶜ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(A ∪ B)ᶜ = Aᶜ ∩ Bᶜ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Identidad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A ∩ U = 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A ∪ ∅ = 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37865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Complemento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A ∩ Aᶜ = ∅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A ∪ Aᶜ = U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907940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76072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87044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Compárelas con la tabla de la sesión 3: son idénticas cambiando ∧ por ∩, ∨ por ∪, ¬ por complemento, V por U y F por ∅.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Ejemplo resuelto 2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Una biblioteca digital agrupa a sus primeros 15 usuarios según dos alertas activadas.</a:t>
            </a:r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768096" y="5532120"/>
            <a:ext cx="10652760" cy="77724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687568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truco: para "solo en A" recorra A y tache lo que también esté en B. Para "fuera de ambos" reste del universo lo que sí aparece en el diagrama.</a:t>
            </a:r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68096" y="2240280"/>
            <a:ext cx="10652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E3A8A"/>
                </a:solidFill>
              </a:rPr>
              <a:t>A = alertas por correo = {1,2,3,4,6,12}     B = alertas por SMS = {1,3,5,15}     U = {1, …, 15}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94360" y="2468880"/>
            <a:ext cx="3611880" cy="2971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 w="12700">
            <a:solidFill>
              <a:srgbClr val="DB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868680" y="2788920"/>
            <a:ext cx="1920240" cy="1920240"/>
          </a:xfrm>
          <a:prstGeom prst="ellipse">
            <a:avLst/>
          </a:prstGeom>
          <a:noFill/>
          <a:ln w="222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2011680" y="2788920"/>
            <a:ext cx="1920240" cy="1920240"/>
          </a:xfrm>
          <a:prstGeom prst="ellipse">
            <a:avLst/>
          </a:prstGeom>
          <a:noFill/>
          <a:ln w="22225">
            <a:solidFill>
              <a:srgbClr val="0E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914400" y="25146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</a:rPr>
              <a:t>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611880" y="25146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488"/>
                </a:solidFill>
              </a:rPr>
              <a:t>B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86968" y="3595420"/>
            <a:ext cx="11905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1E293B"/>
                </a:solidFill>
              </a:rPr>
              <a:t>2, 4, 6, 12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029968" y="3595420"/>
            <a:ext cx="7406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1E293B"/>
                </a:solidFill>
              </a:rPr>
              <a:t>1, 3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807208" y="3595420"/>
            <a:ext cx="11064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1E293B"/>
                </a:solidFill>
              </a:rPr>
              <a:t>5, 15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31520" y="481888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75569"/>
                </a:solidFill>
              </a:rPr>
              <a:t>7, 8, 9, 10, 11, 13, 14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126480" y="2468880"/>
            <a:ext cx="5303520" cy="28803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355080" y="2606040"/>
            <a:ext cx="5029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475569"/>
                </a:solidFill>
                <a:latin typeface="Roboto"/>
              </a:rPr>
              <a:t>¿Qué elementos están solo en A?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Roboto"/>
              </a:rPr>
              <a:t>Tome A y quite los que también están en B: quite 1 y 3 de {1,2,3,4,6,12}. Quedan {2, 4, 6, 12}.</a:t>
            </a:r>
          </a:p>
          <a:p>
            <a:pPr>
              <a:spcAft>
                <a:spcPts val="400"/>
              </a:spcAft>
            </a:pPr>
            <a:endParaRPr sz="1250" b="0">
              <a:solidFill>
                <a:srgbClr val="475569"/>
              </a:solidFill>
              <a:latin typeface="Roboto"/>
            </a:endParaRP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475569"/>
                </a:solidFill>
                <a:latin typeface="Roboto"/>
              </a:rPr>
              <a:t>¿Cuántos elementos hay en total dentro del diagrama (A ∪ B)?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Roboto"/>
              </a:rPr>
              <a:t>Sume las tres regiones coloreadas: 4 (solo A) + 2 (solo B) + 2 (ambos) = 8.</a:t>
            </a:r>
          </a:p>
          <a:p>
            <a:pPr>
              <a:spcAft>
                <a:spcPts val="400"/>
              </a:spcAft>
            </a:pPr>
            <a:endParaRPr sz="1250" b="0">
              <a:solidFill>
                <a:srgbClr val="475569"/>
              </a:solidFill>
              <a:latin typeface="Roboto"/>
            </a:endParaRP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475569"/>
                </a:solidFill>
                <a:latin typeface="Roboto"/>
              </a:rPr>
              <a:t>¿Cuántos quedan fuera de los dos conjuntos?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Roboto"/>
              </a:rPr>
              <a:t>15 (el universo) − 8 (en el diagrama) = 7.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2: interpretación de diagramas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Una plataforma agrupa a sus primeros 20 usuarios según dos cursos.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5532120"/>
            <a:ext cx="10652760" cy="77724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50976" y="5687568"/>
            <a:ext cx="10287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75569"/>
                </a:solidFill>
              </a:rPr>
              <a:t>Dibuje primero las cuatro regiones vacías y ubique cada número de C y de D antes de contestar; así no se le queda ninguno por fuera.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94360" y="2468880"/>
            <a:ext cx="3611880" cy="2971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 w="12700">
            <a:solidFill>
              <a:srgbClr val="DB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868680" y="2788920"/>
            <a:ext cx="1920240" cy="1920240"/>
          </a:xfrm>
          <a:prstGeom prst="ellipse">
            <a:avLst/>
          </a:prstGeom>
          <a:noFill/>
          <a:ln w="222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2011680" y="2788920"/>
            <a:ext cx="1920240" cy="1920240"/>
          </a:xfrm>
          <a:prstGeom prst="ellipse">
            <a:avLst/>
          </a:prstGeom>
          <a:noFill/>
          <a:ln w="22225">
            <a:solidFill>
              <a:srgbClr val="0E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914400" y="25146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97706"/>
                </a:solidFill>
              </a:rPr>
              <a:t>C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611880" y="25146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488"/>
                </a:solidFill>
              </a:rPr>
              <a:t>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" y="3595420"/>
            <a:ext cx="11905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2029968" y="3595420"/>
            <a:ext cx="7406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2807208" y="3595420"/>
            <a:ext cx="11064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731520" y="481888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126480" y="2651760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50" b="0">
                <a:solidFill>
                  <a:srgbClr val="475569"/>
                </a:solidFill>
                <a:latin typeface="Roboto"/>
              </a:rPr>
              <a:t>1)  Identifique los elementos que pertenecen exclusivamente a C.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475569"/>
                </a:solidFill>
                <a:latin typeface="Roboto"/>
              </a:rPr>
              <a:t>2)  Identifique los elementos que pertenecen exclusivamente a D.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475569"/>
                </a:solidFill>
                <a:latin typeface="Roboto"/>
              </a:rPr>
              <a:t>3)  ¿Cuáles elementos están en C ∩ D?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475569"/>
                </a:solidFill>
                <a:latin typeface="Roboto"/>
              </a:rPr>
              <a:t>4)  ¿Cuáles elementos no pertenecen ni a C ni a D?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475569"/>
                </a:solidFill>
                <a:latin typeface="Roboto"/>
              </a:rPr>
              <a:t>5)  ¿Cuántos elementos hay en total dentro del diagrama (C ∪ D)?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68096" y="2103120"/>
            <a:ext cx="10652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E3A8A"/>
                </a:solidFill>
              </a:rPr>
              <a:t>C = inscritos en Programación = {2,4,5,7,10,13,18}     D = inscritos en Diseño = {1,4,6,7,9,13,15,19}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2 — Solución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Desarrollo de cada punto.</a:t>
            </a:r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768096" y="5486400"/>
            <a:ext cx="10652760" cy="7772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62356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Contar así, región por región, es exactamente lo que la fórmula de inclusión-exclusión de la próxima actividad automatiza para cuando no se puede dibujar cada elemento.</a:t>
            </a:r>
            <a:endParaRPr/>
          </a:p>
        </p:txBody>
      </p:sp>
      <p:graphicFrame>
        <p:nvGraphicFramePr>
          <p:cNvPr id="110" name="Table 109"/>
          <p:cNvGraphicFramePr>
            <a:graphicFrameLocks noGrp="1"/>
          </p:cNvGraphicFramePr>
          <p:nvPr/>
        </p:nvGraphicFramePr>
        <p:xfrm>
          <a:off x="768096" y="2560320"/>
          <a:ext cx="1065275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01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3A8A"/>
                          </a:solidFill>
                          <a:latin typeface="Roboto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3A8A"/>
                          </a:solidFill>
                          <a:latin typeface="Roboto"/>
                        </a:rPr>
                        <a:t>Respuesta</a:t>
                      </a:r>
                    </a:p>
                  </a:txBody>
                  <a:tcPr marL="73152" marR="73152" marT="27432" marB="27432" anchor="ctr"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Solo C: {2, 5, 10, 18} — son los de C = {2,4,5,7,10,13,18} que no están en D.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Solo D: {1, 6, 9, 15, 19} — son los de D que no están en C.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C ∩ D = {4, 7, 13}.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293B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Fuera de ambos: {3, 8, 11, 12, 14, 16, 17, 20} — 8 elementos.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293B"/>
                          </a:solidFill>
                          <a:latin typeface="Roboto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C ∪ D tiene 4 + 5 + 3 = 12 elementos: {1,2,4,5,6,7,9,10,13,15,18,19}.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FEFFF446-36F4-4D84-BF8F-5C37362BD7C9}"/>
              </a:ext>
            </a:extLst>
          </p:cNvPr>
          <p:cNvSpPr>
            <a:spLocks noGrp="1"/>
          </p:cNvSpPr>
          <p:nvPr/>
        </p:nvSpPr>
        <p:spPr>
          <a:xfrm>
            <a:off x="9525" y="9525"/>
            <a:ext cx="12172950" cy="6838950"/>
          </a:xfrm>
          <a:prstGeom prst="rect">
            <a:avLst/>
          </a:prstGeom>
          <a:noFill/>
          <a:ln w="9525">
            <a:solidFill>
              <a:srgbClr val="C4CB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C970D49-EDE7-47ED-AEFD-2C9F047068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174A9C"/>
          </a:solidFill>
          <a:ln w="0">
            <a:noFill/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9CEB6168-28B6-44EE-85EB-1ED05BE0E95A}"/>
              </a:ext>
            </a:extLst>
          </p:cNvPr>
          <p:cNvSpPr>
            <a:spLocks noGrp="1"/>
          </p:cNvSpPr>
          <p:nvPr/>
        </p:nvSpPr>
        <p:spPr>
          <a:xfrm>
            <a:off x="4059836" y="7810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202E43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 dirty="0" err="1">
                <a:solidFill>
                  <a:srgbClr val="202E43"/>
                </a:solidFill>
                <a:latin typeface="Nimbus Sans"/>
                <a:ea typeface="Nimbus Sans"/>
                <a:cs typeface="Nimbus Sans"/>
              </a:rPr>
              <a:t>Cuándo</a:t>
            </a:r>
            <a:r>
              <a:rPr sz="2850" b="1" dirty="0">
                <a:solidFill>
                  <a:srgbClr val="202E43"/>
                </a:solidFill>
                <a:latin typeface="Nimbus Sans"/>
                <a:ea typeface="Nimbus Sans"/>
                <a:cs typeface="Nimbus Sans"/>
              </a:rPr>
              <a:t> usar </a:t>
            </a:r>
            <a:r>
              <a:rPr sz="2850" b="1" dirty="0" err="1">
                <a:solidFill>
                  <a:srgbClr val="202E43"/>
                </a:solidFill>
                <a:latin typeface="Nimbus Sans"/>
                <a:ea typeface="Nimbus Sans"/>
                <a:cs typeface="Nimbus Sans"/>
              </a:rPr>
              <a:t>inclusión</a:t>
            </a:r>
            <a:r>
              <a:rPr sz="2850" b="1" dirty="0">
                <a:solidFill>
                  <a:srgbClr val="202E43"/>
                </a:solidFill>
                <a:latin typeface="Nimbus Sans"/>
                <a:ea typeface="Nimbus Sans"/>
                <a:cs typeface="Nimbus Sans"/>
              </a:rPr>
              <a:t> y </a:t>
            </a:r>
            <a:r>
              <a:rPr sz="2850" b="1" dirty="0" err="1">
                <a:solidFill>
                  <a:srgbClr val="202E43"/>
                </a:solidFill>
                <a:latin typeface="Nimbus Sans"/>
                <a:ea typeface="Nimbus Sans"/>
                <a:cs typeface="Nimbus Sans"/>
              </a:rPr>
              <a:t>exclusión</a:t>
            </a:r>
            <a:endParaRPr sz="2850" b="1" dirty="0">
              <a:solidFill>
                <a:srgbClr val="202E43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A133D1D-9D37-4662-A33F-5C1E8BA3BBFB}"/>
              </a:ext>
            </a:extLst>
          </p:cNvPr>
          <p:cNvSpPr>
            <a:spLocks noGrp="1"/>
          </p:cNvSpPr>
          <p:nvPr/>
        </p:nvSpPr>
        <p:spPr>
          <a:xfrm>
            <a:off x="762000" y="1219200"/>
            <a:ext cx="10668000" cy="19050"/>
          </a:xfrm>
          <a:prstGeom prst="rect">
            <a:avLst/>
          </a:prstGeom>
          <a:solidFill>
            <a:srgbClr val="D6DFEA"/>
          </a:solidFill>
          <a:ln w="0">
            <a:noFill/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AAEF9F78-142A-45BB-ABAE-A199573616FD}"/>
              </a:ext>
            </a:extLst>
          </p:cNvPr>
          <p:cNvSpPr>
            <a:spLocks noGrp="1"/>
          </p:cNvSpPr>
          <p:nvPr/>
        </p:nvSpPr>
        <p:spPr>
          <a:xfrm>
            <a:off x="762000" y="150495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33465F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33465F"/>
                </a:solidFill>
                <a:latin typeface="Nimbus Sans"/>
                <a:ea typeface="Nimbus Sans"/>
                <a:cs typeface="Nimbus Sans"/>
              </a:rPr>
              <a:t>Es especialmente útil cuando se conocen las cantidades, pero no los elementos de cada conjunto.</a:t>
            </a:r>
          </a:p>
        </p:txBody>
      </p:sp>
      <p:sp>
        <p:nvSpPr>
          <p:cNvPr id="6" name="explicit-sets-panel">
            <a:extLst>
              <a:ext uri="{FF2B5EF4-FFF2-40B4-BE49-F238E27FC236}">
                <a16:creationId xmlns:a16="http://schemas.microsoft.com/office/drawing/2014/main" id="{296DC814-E730-4FB0-9EE6-C2BA8C0395B2}"/>
              </a:ext>
            </a:extLst>
          </p:cNvPr>
          <p:cNvSpPr>
            <a:spLocks noGrp="1"/>
          </p:cNvSpPr>
          <p:nvPr/>
        </p:nvSpPr>
        <p:spPr>
          <a:xfrm>
            <a:off x="762000" y="2266950"/>
            <a:ext cx="4762500" cy="2781300"/>
          </a:xfrm>
          <a:prstGeom prst="roundRect">
            <a:avLst>
              <a:gd name="adj" fmla="val 2740"/>
            </a:avLst>
          </a:prstGeom>
          <a:solidFill>
            <a:srgbClr val="F2F5FB"/>
          </a:solidFill>
          <a:ln w="0">
            <a:noFill/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5EC19C2-6621-4A46-A253-16764120F1CE}"/>
              </a:ext>
            </a:extLst>
          </p:cNvPr>
          <p:cNvSpPr>
            <a:spLocks noGrp="1"/>
          </p:cNvSpPr>
          <p:nvPr/>
        </p:nvSpPr>
        <p:spPr>
          <a:xfrm>
            <a:off x="1066800" y="2533650"/>
            <a:ext cx="415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74A9C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74A9C"/>
                </a:solidFill>
                <a:latin typeface="Nimbus Sans"/>
                <a:ea typeface="Nimbus Sans"/>
                <a:cs typeface="Nimbus Sans"/>
              </a:rPr>
              <a:t>Conjuntos dados de forma explícita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DD010BC-1924-4F9F-A116-DC873AF47C69}"/>
              </a:ext>
            </a:extLst>
          </p:cNvPr>
          <p:cNvSpPr>
            <a:spLocks noGrp="1"/>
          </p:cNvSpPr>
          <p:nvPr/>
        </p:nvSpPr>
        <p:spPr>
          <a:xfrm>
            <a:off x="1066800" y="3009900"/>
            <a:ext cx="4152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202E43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202E43"/>
                </a:solidFill>
                <a:latin typeface="Nimbus Sans"/>
                <a:ea typeface="Nimbus Sans"/>
                <a:cs typeface="Nimbus Sans"/>
              </a:rPr>
              <a:t>A = {1, 2, 3, 4}</a:t>
            </a: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202E43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202E43"/>
                </a:solidFill>
                <a:latin typeface="Nimbus Sans"/>
                <a:ea typeface="Nimbus Sans"/>
                <a:cs typeface="Nimbus Sans"/>
              </a:rPr>
              <a:t>B = {3, 4, 5}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D4B642D-B8D5-4743-BBB0-9EE5A5D62836}"/>
              </a:ext>
            </a:extLst>
          </p:cNvPr>
          <p:cNvSpPr>
            <a:spLocks noGrp="1"/>
          </p:cNvSpPr>
          <p:nvPr/>
        </p:nvSpPr>
        <p:spPr>
          <a:xfrm>
            <a:off x="1066800" y="3829050"/>
            <a:ext cx="4152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33465F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33465F"/>
                </a:solidFill>
                <a:latin typeface="Nimbus Sans"/>
                <a:ea typeface="Nimbus Sans"/>
                <a:cs typeface="Nimbus Sans"/>
              </a:rPr>
              <a:t>Se puede construir directamente la unión: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990BD30-0BB8-4AFD-9079-BB047639C08A}"/>
              </a:ext>
            </a:extLst>
          </p:cNvPr>
          <p:cNvSpPr>
            <a:spLocks noGrp="1"/>
          </p:cNvSpPr>
          <p:nvPr/>
        </p:nvSpPr>
        <p:spPr>
          <a:xfrm>
            <a:off x="1066800" y="4229100"/>
            <a:ext cx="4152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202E43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202E43"/>
                </a:solidFill>
                <a:latin typeface="Nimbus Sans"/>
                <a:ea typeface="Nimbus Sans"/>
                <a:cs typeface="Nimbus Sans"/>
              </a:rPr>
              <a:t>A ∪ B = {1, 2, 3, 4, 5}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F61D11C-93CF-4D23-903B-2C2C52CA3775}"/>
              </a:ext>
            </a:extLst>
          </p:cNvPr>
          <p:cNvSpPr>
            <a:spLocks noGrp="1"/>
          </p:cNvSpPr>
          <p:nvPr/>
        </p:nvSpPr>
        <p:spPr>
          <a:xfrm>
            <a:off x="1066800" y="4676775"/>
            <a:ext cx="415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0">
                <a:solidFill>
                  <a:srgbClr val="607087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07087"/>
                </a:solidFill>
                <a:latin typeface="Nimbus Sans"/>
                <a:ea typeface="Nimbus Sans"/>
                <a:cs typeface="Nimbus Sans"/>
              </a:rPr>
              <a:t>Luego se cuentan sus cinco elementos.</a:t>
            </a:r>
          </a:p>
        </p:txBody>
      </p:sp>
      <p:sp>
        <p:nvSpPr>
          <p:cNvPr id="12" name="cardinalities-panel">
            <a:extLst>
              <a:ext uri="{FF2B5EF4-FFF2-40B4-BE49-F238E27FC236}">
                <a16:creationId xmlns:a16="http://schemas.microsoft.com/office/drawing/2014/main" id="{704D47CB-627C-465D-90A4-64F83F7C703B}"/>
              </a:ext>
            </a:extLst>
          </p:cNvPr>
          <p:cNvSpPr>
            <a:spLocks noGrp="1"/>
          </p:cNvSpPr>
          <p:nvPr/>
        </p:nvSpPr>
        <p:spPr>
          <a:xfrm>
            <a:off x="5829300" y="2266950"/>
            <a:ext cx="5600700" cy="2781300"/>
          </a:xfrm>
          <a:prstGeom prst="roundRect">
            <a:avLst>
              <a:gd name="adj" fmla="val 2740"/>
            </a:avLst>
          </a:prstGeom>
          <a:solidFill>
            <a:srgbClr val="EFFAF3"/>
          </a:solidFill>
          <a:ln w="0">
            <a:noFill/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D7D7265-80E6-4668-87E5-7540AB6F5983}"/>
              </a:ext>
            </a:extLst>
          </p:cNvPr>
          <p:cNvSpPr>
            <a:spLocks noGrp="1"/>
          </p:cNvSpPr>
          <p:nvPr/>
        </p:nvSpPr>
        <p:spPr>
          <a:xfrm>
            <a:off x="6134100" y="2533650"/>
            <a:ext cx="499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74A9C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74A9C"/>
                </a:solidFill>
                <a:latin typeface="Nimbus Sans"/>
                <a:ea typeface="Nimbus Sans"/>
                <a:cs typeface="Nimbus Sans"/>
              </a:rPr>
              <a:t>Solo se conocen las cantidades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BB3D5C9-1278-487E-8B50-491FE2B03D76}"/>
              </a:ext>
            </a:extLst>
          </p:cNvPr>
          <p:cNvSpPr>
            <a:spLocks noGrp="1"/>
          </p:cNvSpPr>
          <p:nvPr/>
        </p:nvSpPr>
        <p:spPr>
          <a:xfrm>
            <a:off x="6134100" y="3009900"/>
            <a:ext cx="4991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75" b="0">
                <a:solidFill>
                  <a:srgbClr val="202E43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202E43"/>
                </a:solidFill>
                <a:latin typeface="Nimbus Sans"/>
                <a:ea typeface="Nimbus Sans"/>
                <a:cs typeface="Nimbus Sans"/>
              </a:rPr>
              <a:t>|A| = 18        |B| = 15        |A ∩ B| = 8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8A3AD8D-BC5A-4C2E-881C-236F4E51FA5C}"/>
              </a:ext>
            </a:extLst>
          </p:cNvPr>
          <p:cNvSpPr>
            <a:spLocks noGrp="1"/>
          </p:cNvSpPr>
          <p:nvPr/>
        </p:nvSpPr>
        <p:spPr>
          <a:xfrm>
            <a:off x="6134100" y="3543300"/>
            <a:ext cx="4991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33465F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33465F"/>
                </a:solidFill>
                <a:latin typeface="Nimbus Sans"/>
                <a:ea typeface="Nimbus Sans"/>
                <a:cs typeface="Nimbus Sans"/>
              </a:rPr>
              <a:t>Como no se conocen los elementos, se aplica la fórmula: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78E829B-DBC0-43DC-810E-5E9671E45131}"/>
              </a:ext>
            </a:extLst>
          </p:cNvPr>
          <p:cNvSpPr>
            <a:spLocks noGrp="1"/>
          </p:cNvSpPr>
          <p:nvPr/>
        </p:nvSpPr>
        <p:spPr>
          <a:xfrm>
            <a:off x="6134100" y="4095750"/>
            <a:ext cx="499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226345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226345"/>
                </a:solidFill>
                <a:latin typeface="Nimbus Sans"/>
                <a:ea typeface="Nimbus Sans"/>
                <a:cs typeface="Nimbus Sans"/>
              </a:rPr>
              <a:t>|A ∪ B| = |A| + |B| − |A ∩ B|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2D0D413-AE0F-4867-A11E-FE2AE13C03FA}"/>
              </a:ext>
            </a:extLst>
          </p:cNvPr>
          <p:cNvSpPr>
            <a:spLocks noGrp="1"/>
          </p:cNvSpPr>
          <p:nvPr/>
        </p:nvSpPr>
        <p:spPr>
          <a:xfrm>
            <a:off x="6134100" y="4524375"/>
            <a:ext cx="4991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202E4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202E43"/>
                </a:solidFill>
                <a:latin typeface="Nimbus Sans"/>
                <a:ea typeface="Nimbus Sans"/>
                <a:cs typeface="Nimbus Sans"/>
              </a:rPr>
              <a:t>= 18 + 15 − 8 = 25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861DD7F-2BA2-482F-B894-CE0B88D39724}"/>
              </a:ext>
            </a:extLst>
          </p:cNvPr>
          <p:cNvSpPr>
            <a:spLocks noGrp="1"/>
          </p:cNvSpPr>
          <p:nvPr/>
        </p:nvSpPr>
        <p:spPr>
          <a:xfrm>
            <a:off x="762000" y="55054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174A9C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174A9C"/>
                </a:solidFill>
                <a:latin typeface="Nimbus Sans"/>
                <a:ea typeface="Nimbus Sans"/>
                <a:cs typeface="Nimbus Sans"/>
              </a:rPr>
              <a:t>Idea clave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B0456CC-3CD1-462A-B697-851F20A52420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33465F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33465F"/>
                </a:solidFill>
                <a:latin typeface="Nimbus Sans"/>
                <a:ea typeface="Nimbus Sans"/>
                <a:cs typeface="Nimbus Sans"/>
              </a:rPr>
              <a:t>La fórmula funciona en ambos casos, pero resulta más útil cuando el problema entrega cardinalidades y elementos compartidos.</a:t>
            </a:r>
          </a:p>
        </p:txBody>
      </p:sp>
    </p:spTree>
    <p:extLst>
      <p:ext uri="{BB962C8B-B14F-4D97-AF65-F5344CB8AC3E}">
        <p14:creationId xmlns:p14="http://schemas.microsoft.com/office/powerpoint/2010/main" val="1564294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Principio de inclusión y exclusión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Cómo contar la unión sin contar dos veces lo que se repite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606040"/>
            <a:ext cx="5166360" cy="155448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96696" y="2752344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E3A8A"/>
                </a:solidFill>
              </a:rPr>
              <a:t>Para dos conjuntos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96696" y="3172968"/>
            <a:ext cx="4709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Roboto"/>
              </a:rPr>
              <a:t>|A ∪ B|  =  |A| + |B| − |A ∩ B|</a:t>
            </a:r>
          </a:p>
          <a:p>
            <a:pPr>
              <a:spcAft>
                <a:spcPts val="300"/>
              </a:spcAft>
            </a:pPr>
            <a:endParaRPr sz="1200" b="0">
              <a:solidFill>
                <a:srgbClr val="475569"/>
              </a:solidFill>
              <a:latin typeface="Roboto"/>
            </a:endParaRP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Roboto"/>
              </a:rPr>
              <a:t>Si solo se suma |A| + |B|, los elementos de A ∩ B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Roboto"/>
              </a:rPr>
              <a:t>se cuentan dos veces; por eso se restan una vez.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68096" y="4251959"/>
            <a:ext cx="5166360" cy="1791081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996696" y="4398264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E3A8A"/>
                </a:solidFill>
              </a:rPr>
              <a:t>Para tres conjuntos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6696" y="4818888"/>
            <a:ext cx="4709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 dirty="0">
                <a:solidFill>
                  <a:srgbClr val="475569"/>
                </a:solidFill>
                <a:latin typeface="Roboto"/>
              </a:rPr>
              <a:t>|A∪B∪C| = |A|+|B|+|C|</a:t>
            </a: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475569"/>
                </a:solidFill>
                <a:latin typeface="Roboto"/>
              </a:rPr>
              <a:t>        − |A∩B| − |A∩C| − |B∩C|  + |A∩B∩C|</a:t>
            </a:r>
          </a:p>
          <a:p>
            <a:pPr>
              <a:spcAft>
                <a:spcPts val="300"/>
              </a:spcAft>
            </a:pPr>
            <a:endParaRPr sz="1200" b="0" dirty="0">
              <a:solidFill>
                <a:srgbClr val="475569"/>
              </a:solidFill>
              <a:latin typeface="Roboto"/>
            </a:endParaRP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475569"/>
                </a:solidFill>
                <a:latin typeface="Roboto"/>
              </a:rPr>
              <a:t>Se suman </a:t>
            </a:r>
            <a:r>
              <a:rPr sz="1200" b="0" dirty="0" err="1">
                <a:solidFill>
                  <a:srgbClr val="475569"/>
                </a:solidFill>
                <a:latin typeface="Roboto"/>
              </a:rPr>
              <a:t>los</a:t>
            </a:r>
            <a:r>
              <a:rPr sz="1200" b="0" dirty="0">
                <a:solidFill>
                  <a:srgbClr val="475569"/>
                </a:solidFill>
                <a:latin typeface="Roboto"/>
              </a:rPr>
              <a:t> </a:t>
            </a:r>
            <a:r>
              <a:rPr sz="1200" b="0" dirty="0" err="1">
                <a:solidFill>
                  <a:srgbClr val="475569"/>
                </a:solidFill>
                <a:latin typeface="Roboto"/>
              </a:rPr>
              <a:t>individuales</a:t>
            </a:r>
            <a:r>
              <a:rPr sz="1200" b="0" dirty="0">
                <a:solidFill>
                  <a:srgbClr val="475569"/>
                </a:solidFill>
                <a:latin typeface="Roboto"/>
              </a:rPr>
              <a:t>, se </a:t>
            </a:r>
            <a:r>
              <a:rPr sz="1200" b="0" dirty="0" err="1">
                <a:solidFill>
                  <a:srgbClr val="475569"/>
                </a:solidFill>
                <a:latin typeface="Roboto"/>
              </a:rPr>
              <a:t>restan</a:t>
            </a:r>
            <a:r>
              <a:rPr sz="1200" b="0" dirty="0">
                <a:solidFill>
                  <a:srgbClr val="475569"/>
                </a:solidFill>
                <a:latin typeface="Roboto"/>
              </a:rPr>
              <a:t> </a:t>
            </a:r>
            <a:r>
              <a:rPr sz="1200" b="0" dirty="0" err="1">
                <a:solidFill>
                  <a:srgbClr val="475569"/>
                </a:solidFill>
                <a:latin typeface="Roboto"/>
              </a:rPr>
              <a:t>los</a:t>
            </a:r>
            <a:r>
              <a:rPr sz="1200" b="0" dirty="0">
                <a:solidFill>
                  <a:srgbClr val="475569"/>
                </a:solidFill>
                <a:latin typeface="Roboto"/>
              </a:rPr>
              <a:t> pares</a:t>
            </a: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475569"/>
                </a:solidFill>
                <a:latin typeface="Roboto"/>
              </a:rPr>
              <a:t>(</a:t>
            </a:r>
            <a:r>
              <a:rPr sz="1200" b="0" dirty="0" err="1">
                <a:solidFill>
                  <a:srgbClr val="475569"/>
                </a:solidFill>
                <a:latin typeface="Roboto"/>
              </a:rPr>
              <a:t>contados</a:t>
            </a:r>
            <a:r>
              <a:rPr sz="1200" b="0" dirty="0">
                <a:solidFill>
                  <a:srgbClr val="475569"/>
                </a:solidFill>
                <a:latin typeface="Roboto"/>
              </a:rPr>
              <a:t> de </a:t>
            </a:r>
            <a:r>
              <a:rPr sz="1200" b="0" dirty="0" err="1">
                <a:solidFill>
                  <a:srgbClr val="475569"/>
                </a:solidFill>
                <a:latin typeface="Roboto"/>
              </a:rPr>
              <a:t>más</a:t>
            </a:r>
            <a:r>
              <a:rPr sz="1200" b="0" dirty="0">
                <a:solidFill>
                  <a:srgbClr val="475569"/>
                </a:solidFill>
                <a:latin typeface="Roboto"/>
              </a:rPr>
              <a:t>) y se </a:t>
            </a:r>
            <a:r>
              <a:rPr sz="1200" b="0" dirty="0" err="1">
                <a:solidFill>
                  <a:srgbClr val="475569"/>
                </a:solidFill>
                <a:latin typeface="Roboto"/>
              </a:rPr>
              <a:t>suma</a:t>
            </a:r>
            <a:r>
              <a:rPr sz="1200" b="0" dirty="0">
                <a:solidFill>
                  <a:srgbClr val="475569"/>
                </a:solidFill>
                <a:latin typeface="Roboto"/>
              </a:rPr>
              <a:t> de </a:t>
            </a:r>
            <a:r>
              <a:rPr sz="1200" b="0" dirty="0" err="1">
                <a:solidFill>
                  <a:srgbClr val="475569"/>
                </a:solidFill>
                <a:latin typeface="Roboto"/>
              </a:rPr>
              <a:t>vuelta</a:t>
            </a:r>
            <a:r>
              <a:rPr sz="1200" b="0" dirty="0">
                <a:solidFill>
                  <a:srgbClr val="475569"/>
                </a:solidFill>
                <a:latin typeface="Roboto"/>
              </a:rPr>
              <a:t> el triple.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172200" y="2606040"/>
            <a:ext cx="5257800" cy="315468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400800" y="2752344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E3A8A"/>
                </a:solidFill>
              </a:rPr>
              <a:t>Ejemplo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400800" y="3172968"/>
            <a:ext cx="48006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Roboto"/>
              </a:rPr>
              <a:t>En un grupo de 30 estudiantes, 18 usan Python,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Roboto"/>
              </a:rPr>
              <a:t>15 usan Java y 8 usan ambos.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Roboto"/>
              </a:rPr>
              <a:t>¿Cuántos usan al menos uno de los dos?</a:t>
            </a:r>
          </a:p>
          <a:p>
            <a:pPr>
              <a:spcAft>
                <a:spcPts val="400"/>
              </a:spcAft>
            </a:pPr>
            <a:endParaRPr sz="1300" b="0">
              <a:solidFill>
                <a:srgbClr val="475569"/>
              </a:solidFill>
              <a:latin typeface="Roboto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Roboto"/>
              </a:rPr>
              <a:t>|P ∪ J| = |P| + |J| − |P ∩ J|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Roboto"/>
              </a:rPr>
              <a:t>          = 18 + 15 − 8   =   25</a:t>
            </a:r>
          </a:p>
          <a:p>
            <a:pPr>
              <a:spcAft>
                <a:spcPts val="400"/>
              </a:spcAft>
            </a:pPr>
            <a:endParaRPr sz="1300" b="0">
              <a:solidFill>
                <a:srgbClr val="475569"/>
              </a:solidFill>
              <a:latin typeface="Roboto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Roboto"/>
              </a:rPr>
              <a:t>25 estudiantes usan al menos uno de los dos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Roboto"/>
              </a:rPr>
              <a:t>lenguajes; los 5 restantes no usan ninguno.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7715" y="6185916"/>
            <a:ext cx="10652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</a:rPr>
              <a:t>Es la misma idea de la sesión 3: |A ∪ B| = |A| + |B| − |A ∩ B| es la versión numérica de que A ∪ B ya cuenta una sola vez lo que está en ambos.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3: inclusión y exclusión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Aplique la fórmula para dos y para tres conjuntos</a:t>
            </a:r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68096" y="2651760"/>
            <a:ext cx="10652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475569"/>
                </a:solidFill>
                <a:latin typeface="Roboto"/>
              </a:rPr>
              <a:t>1)   De 50 personas encuestadas, 28 tienen Netflix, 22 tienen Disney+, y 10 tienen ambos.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475569"/>
                </a:solidFill>
                <a:latin typeface="Roboto"/>
              </a:rPr>
              <a:t>       ¿Cuántas tienen al menos uno de los dos servicios? ¿Cuántas no tienen ninguno?</a:t>
            </a:r>
          </a:p>
          <a:p>
            <a:pPr>
              <a:spcAft>
                <a:spcPts val="1000"/>
              </a:spcAft>
            </a:pPr>
            <a:endParaRPr sz="1400" b="0">
              <a:solidFill>
                <a:srgbClr val="475569"/>
              </a:solidFill>
              <a:latin typeface="Roboto"/>
            </a:endParaRP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475569"/>
                </a:solidFill>
                <a:latin typeface="Roboto"/>
              </a:rPr>
              <a:t>2)   En un curso de 40 estudiantes: 20 toman Cálculo, 18 toman Física y 15 toman Programación.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475569"/>
                </a:solidFill>
                <a:latin typeface="Roboto"/>
              </a:rPr>
              <a:t>       8 toman Cálculo y Física, 6 toman Cálculo y Programación, 5 toman Física y Programación,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475569"/>
                </a:solidFill>
                <a:latin typeface="Roboto"/>
              </a:rPr>
              <a:t>       y 3 toman las tres. ¿Cuántos estudiantes toman al menos una de las tres materias?</a:t>
            </a:r>
          </a:p>
          <a:p>
            <a:pPr>
              <a:spcAft>
                <a:spcPts val="1000"/>
              </a:spcAft>
            </a:pPr>
            <a:endParaRPr sz="1400" b="0">
              <a:solidFill>
                <a:srgbClr val="475569"/>
              </a:solidFill>
              <a:latin typeface="Roboto"/>
            </a:endParaRP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475569"/>
                </a:solidFill>
                <a:latin typeface="Roboto"/>
              </a:rPr>
              <a:t>3)   Si |A| = 12, |B| = 15 y |A ∪ B| = 20, ¿cuánto vale |A ∩ B|?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51560" y="5394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75569"/>
                </a:solidFill>
              </a:rPr>
              <a:t>En el punto 3 se despeja |A ∩ B| de la misma fórmula: no hay que contar nada a mano, solo reacomodar la ecuación.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3 — Solución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Desarrollo de cada punto</a:t>
            </a:r>
            <a:endParaRPr/>
          </a:p>
        </p:txBody>
      </p:sp>
      <p:graphicFrame>
        <p:nvGraphicFramePr>
          <p:cNvPr id="109" name="Table 108"/>
          <p:cNvGraphicFramePr>
            <a:graphicFrameLocks noGrp="1"/>
          </p:cNvGraphicFramePr>
          <p:nvPr/>
        </p:nvGraphicFramePr>
        <p:xfrm>
          <a:off x="768096" y="1691640"/>
          <a:ext cx="10652759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2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00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#</a:t>
                      </a:r>
                    </a:p>
                  </a:txBody>
                  <a:tcPr marL="64008" marR="64008" marT="27432" marB="27432">
                    <a:lnL w="9525" cap="flat">
                      <a:solidFill>
                        <a:srgbClr val="DBE2EC"/>
                      </a:solidFill>
                    </a:lnL>
                    <a:lnR w="9525" cap="flat">
                      <a:solidFill>
                        <a:srgbClr val="DBE2EC"/>
                      </a:solidFill>
                    </a:lnR>
                    <a:lnT w="9525" cap="flat">
                      <a:solidFill>
                        <a:srgbClr val="DBE2EC"/>
                      </a:solidFill>
                    </a:lnT>
                    <a:lnB w="9525" cap="flat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Desarrollo</a:t>
                      </a:r>
                    </a:p>
                  </a:txBody>
                  <a:tcPr marL="64008" marR="64008" marT="27432" marB="27432">
                    <a:lnL w="9525" cap="flat">
                      <a:solidFill>
                        <a:srgbClr val="DBE2EC"/>
                      </a:solidFill>
                    </a:lnL>
                    <a:lnR w="9525" cap="flat">
                      <a:solidFill>
                        <a:srgbClr val="DBE2EC"/>
                      </a:solidFill>
                    </a:lnR>
                    <a:lnT w="9525" cap="flat">
                      <a:solidFill>
                        <a:srgbClr val="DBE2EC"/>
                      </a:solidFill>
                    </a:lnT>
                    <a:lnB w="9525" cap="flat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 marL="64008" marR="64008" marT="27432" marB="27432">
                    <a:lnL w="9525" cap="flat">
                      <a:solidFill>
                        <a:srgbClr val="DBE2EC"/>
                      </a:solidFill>
                    </a:lnL>
                    <a:lnR w="9525" cap="flat">
                      <a:solidFill>
                        <a:srgbClr val="DBE2EC"/>
                      </a:solidFill>
                    </a:lnR>
                    <a:lnT w="9525" cap="flat">
                      <a:solidFill>
                        <a:srgbClr val="DBE2EC"/>
                      </a:solidFill>
                    </a:lnT>
                    <a:lnB w="9525" cap="flat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|N∪D| = 28+22−10 = 40 tienen al menos uno. Ninguno = 50 − 40 = 10 personas.</a:t>
                      </a:r>
                    </a:p>
                  </a:txBody>
                  <a:tcPr marL="64008" marR="64008" marT="27432" marB="27432">
                    <a:lnL w="9525" cap="flat">
                      <a:solidFill>
                        <a:srgbClr val="DBE2EC"/>
                      </a:solidFill>
                    </a:lnL>
                    <a:lnR w="9525" cap="flat">
                      <a:solidFill>
                        <a:srgbClr val="DBE2EC"/>
                      </a:solidFill>
                    </a:lnR>
                    <a:lnT w="9525" cap="flat">
                      <a:solidFill>
                        <a:srgbClr val="DBE2EC"/>
                      </a:solidFill>
                    </a:lnT>
                    <a:lnB w="9525" cap="flat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 marL="64008" marR="64008" marT="27432" marB="27432">
                    <a:lnL w="9525" cap="flat">
                      <a:solidFill>
                        <a:srgbClr val="DBE2EC"/>
                      </a:solidFill>
                    </a:lnL>
                    <a:lnR w="9525" cap="flat">
                      <a:solidFill>
                        <a:srgbClr val="DBE2EC"/>
                      </a:solidFill>
                    </a:lnR>
                    <a:lnT w="9525" cap="flat">
                      <a:solidFill>
                        <a:srgbClr val="DBE2EC"/>
                      </a:solidFill>
                    </a:lnT>
                    <a:lnB w="9525" cap="flat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|C∪F∪P| = (20+18+15) − (8+6+5) + 3 = 53 − 19 + 3 = 37 estudiantes toman al menos una.</a:t>
                      </a:r>
                    </a:p>
                  </a:txBody>
                  <a:tcPr marL="64008" marR="64008" marT="27432" marB="27432">
                    <a:lnL w="9525" cap="flat">
                      <a:solidFill>
                        <a:srgbClr val="DBE2EC"/>
                      </a:solidFill>
                    </a:lnL>
                    <a:lnR w="9525" cap="flat">
                      <a:solidFill>
                        <a:srgbClr val="DBE2EC"/>
                      </a:solidFill>
                    </a:lnR>
                    <a:lnT w="9525" cap="flat">
                      <a:solidFill>
                        <a:srgbClr val="DBE2EC"/>
                      </a:solidFill>
                    </a:lnT>
                    <a:lnB w="9525" cap="flat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 marL="64008" marR="64008" marT="27432" marB="27432">
                    <a:lnL w="9525" cap="flat">
                      <a:solidFill>
                        <a:srgbClr val="DBE2EC"/>
                      </a:solidFill>
                    </a:lnL>
                    <a:lnR w="9525" cap="flat">
                      <a:solidFill>
                        <a:srgbClr val="DBE2EC"/>
                      </a:solidFill>
                    </a:lnR>
                    <a:lnT w="9525" cap="flat">
                      <a:solidFill>
                        <a:srgbClr val="DBE2EC"/>
                      </a:solidFill>
                    </a:lnT>
                    <a:lnB w="9525" cap="flat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|A∩B| = |A| + |B| − |A∪B| = 12 + 15 − 20 = 7.</a:t>
                      </a:r>
                    </a:p>
                  </a:txBody>
                  <a:tcPr marL="64008" marR="64008" marT="27432" marB="27432">
                    <a:lnL w="9525" cap="flat">
                      <a:solidFill>
                        <a:srgbClr val="DBE2EC"/>
                      </a:solidFill>
                    </a:lnL>
                    <a:lnR w="9525" cap="flat">
                      <a:solidFill>
                        <a:srgbClr val="DBE2EC"/>
                      </a:solidFill>
                    </a:lnR>
                    <a:lnT w="9525" cap="flat">
                      <a:solidFill>
                        <a:srgbClr val="DBE2EC"/>
                      </a:solidFill>
                    </a:lnT>
                    <a:lnB w="9525" cap="flat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0" name="TextBox 109"/>
          <p:cNvSpPr txBox="1"/>
          <p:nvPr/>
        </p:nvSpPr>
        <p:spPr>
          <a:xfrm>
            <a:off x="105156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75569"/>
                </a:solidFill>
              </a:rPr>
              <a:t>En el punto 2, de los 40 estudiantes solo 3 no toman ninguna de las tres materias: 40 − 37 = 3.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Producto cartesiano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conjunto de todas las parejas ordenadas que se pueden formar.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286000"/>
            <a:ext cx="10652760" cy="8229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97280" y="2450592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A × B  =  { (a, b)  :  a ∈ A  ∧  b ∈ B }</a:t>
            </a:r>
            <a:endParaRPr/>
          </a:p>
        </p:txBody>
      </p:sp>
      <p:graphicFrame>
        <p:nvGraphicFramePr>
          <p:cNvPr id="109" name="Table 108"/>
          <p:cNvGraphicFramePr>
            <a:graphicFrameLocks noGrp="1"/>
          </p:cNvGraphicFramePr>
          <p:nvPr/>
        </p:nvGraphicFramePr>
        <p:xfrm>
          <a:off x="822960" y="3291840"/>
          <a:ext cx="45720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x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y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(1, x)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(1, y)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(2, x)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(2, y)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(3, x)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(3, y)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Google Shape;107;p14"/>
          <p:cNvSpPr txBox="1"/>
          <p:nvPr/>
        </p:nvSpPr>
        <p:spPr>
          <a:xfrm>
            <a:off x="731519" y="55778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 = {1, 2, 3}  y  B = {x, y}: la rejilla muestra las seis parejas.</a:t>
            </a:r>
            <a:endParaRPr/>
          </a:p>
        </p:txBody>
      </p:sp>
      <p:sp>
        <p:nvSpPr>
          <p:cNvPr id="110" name="Rounded Rectangle 109"/>
          <p:cNvSpPr/>
          <p:nvPr/>
        </p:nvSpPr>
        <p:spPr>
          <a:xfrm>
            <a:off x="6035040" y="3291840"/>
            <a:ext cx="5394960" cy="105156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6263640" y="3438144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El orden importa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263640" y="3858768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(1, x) y (x, 1) son parejas distintas. Por eso A × B ≠ B × A.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035040" y="44805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6263640" y="4626864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Cardinalidad</a:t>
            </a:r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6263640" y="5047488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|A × B| = |A| · |B|.   Aquí 3 · 2 = 6.</a:t>
            </a:r>
          </a:p>
        </p:txBody>
      </p:sp>
      <p:sp>
        <p:nvSpPr>
          <p:cNvPr id="8" name="Google Shape;107;p14"/>
          <p:cNvSpPr txBox="1"/>
          <p:nvPr/>
        </p:nvSpPr>
        <p:spPr>
          <a:xfrm>
            <a:off x="6035040" y="562356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 la base de la sesión siguiente: una función será un subconjunto especial de A × B.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Ejemplo resuelto 4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Un sistema de reservas de hotel define Hoteles A = {U, V}, Habitaciones B = {1, 2} y Fechas C = {X, Y, Z}.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514600"/>
          <a:ext cx="10652758" cy="287121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73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9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Roboto"/>
                        </a:rPr>
                        <a:t>Pregunta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Roboto"/>
                        </a:rPr>
                        <a:t>Respuesta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¿Cuántas combinaciones (Hotel, Habitación, Fecha) hay en total?</a:t>
                      </a:r>
                      <a:endParaRPr dirty="0"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|A×B×C| = |A|·|B|·|C| = 2·2·3 = 12.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Genere el conjunto A×B×C fijando el hotel U</a:t>
                      </a:r>
                      <a:endParaRPr dirty="0"/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(U,1,X),(U,1,Y),(U,1,Z),(U,2,X),(U,2,Y),(U,2,Z) — y lo mismo con V, hasta completar las 12 ternas.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¿Cómo se construye sistemáticamente?</a:t>
                      </a:r>
                      <a:endParaRPr dirty="0"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Se fija el primer elemento, se recorre el segundo completo, y por cada pareja se recorre el tercero: un nivel más que con dos conjuntos.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¿Es A×B×C = B×A×C?</a:t>
                      </a:r>
                      <a:endParaRPr dirty="0"/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No: cambiar el orden de los conjuntos cambia el orden de las coordenadas en cada terna.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¿Y si agregamos Turnos = {Mañana, Noche}?</a:t>
                      </a:r>
                      <a:endParaRPr dirty="0"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|A×B×C×D| = 2·2·3·2 = 24: cada conjunto nuevo vuelve a multiplicar la cardinalidad.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046022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486400"/>
            <a:ext cx="10652760" cy="68580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62356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Así como A×B combina 2 conjuntos, A×B×C combina 3: la cardinalidad se sigue multiplicando y el listado se sigue haciendo por niveles.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4: producto cartesiano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Una cuadrícula de píxeles se define por Eje X = {0, 1, 2}  y  Eje Y = {0, 1}.</a:t>
            </a:r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768096" y="2651760"/>
            <a:ext cx="1065276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2000"/>
              </a:spcAft>
            </a:pPr>
            <a:r>
              <a:rPr lang="en-US" sz="15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1)   Calcule y escriba X × Y, todas las coordenadas de la cuadrícula. ¿Cuántas hay en total?</a:t>
            </a:r>
          </a:p>
          <a:p>
            <a:pPr>
              <a:spcAft>
                <a:spcPts val="1400"/>
              </a:spcAft>
            </a:pPr>
            <a:r>
              <a:rPr sz="1500" b="1">
                <a:latin typeface="Roboto"/>
              </a:rPr>
              <a:t>2)   De ese conjunto, encuentre la relación R de puntos (x, y) que cumplen x &gt; y.</a:t>
            </a:r>
          </a:p>
          <a:p>
            <a:pPr>
              <a:spcAft>
                <a:spcPts val="1400"/>
              </a:spcAft>
            </a:pPr>
            <a:r>
              <a:rPr sz="1500" b="1">
                <a:latin typeface="Roboto"/>
              </a:rPr>
              <a:t>3)   Si |A| = 4 y |B| = 5, ¿cuántos elementos tiene A × B?</a:t>
            </a:r>
          </a:p>
          <a:p>
            <a:pPr>
              <a:spcAft>
                <a:spcPts val="1400"/>
              </a:spcAft>
            </a:pPr>
            <a:r>
              <a:rPr sz="1500" b="1">
                <a:latin typeface="Roboto"/>
              </a:rPr>
              <a:t>4)   ¿Cuántos subconjuntos tiene X × Y?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68096" y="5440680"/>
            <a:ext cx="10652760" cy="73152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1051560" y="55961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punto 2 es un adelanto: una relación es justamente un subconjunto del producto cartesiano, como se verá pronto.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4 — Solución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Respuestas.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514600"/>
          <a:ext cx="10652758" cy="2743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0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5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6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Roboto"/>
                        </a:rPr>
                        <a:t>#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Roboto"/>
                        </a:rPr>
                        <a:t>Respuesta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Roboto"/>
                        </a:rPr>
                        <a:t>Justificación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  <a:endParaRPr dirty="0"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X×Y = {(0,0),(0,1),(1,0),(1,1),(2,0),(2,1)} — 6 coordenadas.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Se combina cada valor de X con cada valor de Y.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  <a:endParaRPr dirty="0"/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R = {(1,0),(2,0),(2,1)}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Son los pares donde el primer valor es mayor que el segundo.</a:t>
                      </a:r>
                      <a:endParaRPr dirty="0"/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  <a:endParaRPr dirty="0"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20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4 · 5 = 20.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Roboto"/>
                        </a:rPr>
                        <a:t>4</a:t>
                      </a:r>
                      <a:endParaRPr dirty="0"/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2⁶ = 64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X×Y tiene 6 elementos, y un conjunto de n elementos tiene 2ⁿ subconjuntos.</a:t>
                      </a:r>
                      <a:endParaRPr dirty="0"/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394960"/>
            <a:ext cx="10652760" cy="77724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55040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punto 2 muestra que una relación no es más que un subconjunto elegido del producto cartesiano: aquí, el "filtro" fue la condición x &gt; y.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Errores frecuentes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Los cuatro que más aparecen en este tema.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7744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99669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Creer que la diferencia conmuta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96696" y="2944368"/>
            <a:ext cx="47548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 − B y B − A dan resultados distintos. Compruébelo siempre con un ejemplo.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208776" y="237744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643737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Olvidar el universo en el complemento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437376" y="2944368"/>
            <a:ext cx="47548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Aᶜ no tiene sentido sin decir cuál es U. Cambiando U cambia el resultado.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68096" y="420624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996696" y="43525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Dar el diagrama como demostración</a:t>
            </a:r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996696" y="4773168"/>
            <a:ext cx="47548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diagrama sugiere que la identidad es cierta. La prueba es por doble contenencia.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208776" y="420624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Google Shape;107;p14"/>
          <p:cNvSpPr txBox="1"/>
          <p:nvPr/>
        </p:nvSpPr>
        <p:spPr>
          <a:xfrm>
            <a:off x="6437376" y="43525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Confundir (a, b) con { a, b }</a:t>
            </a:r>
            <a:endParaRPr/>
          </a:p>
        </p:txBody>
      </p:sp>
      <p:sp>
        <p:nvSpPr>
          <p:cNvPr id="9" name="Google Shape;107;p14"/>
          <p:cNvSpPr txBox="1"/>
          <p:nvPr/>
        </p:nvSpPr>
        <p:spPr>
          <a:xfrm>
            <a:off x="6437376" y="4773168"/>
            <a:ext cx="47548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pareja ordenada tiene orden y admite repetición; el conjunto no.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Lógica y conjuntos: la correspondencia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resumen que conviene tener presente para el resto del curso.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468880"/>
          <a:ext cx="10652758" cy="29260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769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9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3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En lógica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En conjuntos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Ejemplo de la correspondencia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∧  conjunción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∩  intersección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 ∧ q  ↔  A ∩ B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∨  disyunción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∪  unión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 ∨ q  ↔  A ∪ B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¬  negación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complemento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¬p  ↔  Aᶜ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→  condicional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⊆  contenencia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∀x (x∈A → x∈B)  ↔  A ⊆ B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↔  bicondicional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=  igualdad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doble contenencia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413704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577840"/>
            <a:ext cx="10652760" cy="64008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7150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Cada vez que no recuerde una propiedad de conjuntos, tradúzcala a lógica: allí ya la demostró.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Trabajo independiente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Para desarrollar fuera del horario de clase.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77440"/>
            <a:ext cx="5212080" cy="28346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99669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Para entregar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96696" y="2944368"/>
            <a:ext cx="475488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1. Con A = {1,2,3,4} y B = {a,b}, defina R = {(x,y) ∈ A×B : x es par}. Escriba A×B y los pares de R.</a:t>
            </a:r>
          </a:p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2. Una aerolínea define A = {Bogotá, Medellín, Cali} y B = {Lunes, Miércoles, Viernes}. ¿Cuántos elementos tiene A×B? Si se agrega C = {Mañana, Tarde}, ¿cuántos tendría A×B×C?</a:t>
            </a:r>
          </a:p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3. Con los clientes del Ejemplo 1 (smartphone/laptop), calcule (A∪B)−(A∩B) e interprete en una frase qué clientes representa.</a:t>
            </a:r>
          </a:p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4. Dibuje el diagrama de Venn de dos conjuntos propios de al menos 5 elementos cada uno, y responda cuántos elementos hay en cada una de las cuatro regiones.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208776" y="2377440"/>
            <a:ext cx="5212080" cy="28346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643737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Cómo entregarlas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437376" y="2944368"/>
            <a:ext cx="475488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En el punto 1, escriba primero A × B completo y luego filtre los pares de R.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En el punto 2, cada conjunto nuevo que agregue vuelve a multiplicar la cardinalidad total.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Lectura: la sección de su texto guía sobre producto cartesiano y diagramas de Venn.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68096" y="5349240"/>
            <a:ext cx="10652760" cy="8229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1051560" y="55321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Próxima sesión: funciones. Una función será un subconjunto especial del producto cartesiano que vimos hoy.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60B8AF-6022-4E5B-06B9-24B4B78C8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1AB1FB-E3DC-2D26-6B2C-08A25A3B7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0326D8-E30C-AD24-3EAA-BCE96D5C0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8B8AA84-A5E1-21DE-2EAE-BD6F0C302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85BB1BB9-F4AA-2D61-3C1B-74A58B29D078}"/>
              </a:ext>
            </a:extLst>
          </p:cNvPr>
          <p:cNvSpPr/>
          <p:nvPr/>
        </p:nvSpPr>
        <p:spPr>
          <a:xfrm>
            <a:off x="1330467" y="3166712"/>
            <a:ext cx="95310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chemeClr val="lt1"/>
              </a:buClr>
              <a:buSzPts val="5400"/>
            </a:pPr>
            <a:r>
              <a:rPr lang="es-MX" sz="5400" b="1">
                <a:solidFill>
                  <a:schemeClr val="bg1"/>
                </a:solidFill>
                <a:latin typeface="Montserrat" panose="00000500000000000000" pitchFamily="50" charset="0"/>
                <a:ea typeface="Roboto" panose="02000000000000000000" pitchFamily="2" charset="0"/>
                <a:cs typeface="Myanmar Text" panose="020B0502040204020203" pitchFamily="34" charset="0"/>
              </a:rPr>
              <a:t>¡MUCHAS GRACIAS!</a:t>
            </a:r>
            <a:endParaRPr lang="es-MX" sz="5400" b="1">
              <a:latin typeface="Montserrat" panose="00000500000000000000" pitchFamily="50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26931EB-0942-B142-0FC7-C81642E72B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410236" y="1629116"/>
            <a:ext cx="913016" cy="474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053338"/>
      </p:ext>
    </p:extLst>
  </p:cSld>
  <p:clrMapOvr>
    <a:masterClrMapping/>
  </p:clrMapOvr>
</p:sld>
</file>

<file path=ppt/theme/theme1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0F1A998DF485741973047B0282D7461" ma:contentTypeVersion="4" ma:contentTypeDescription="Crear nuevo documento." ma:contentTypeScope="" ma:versionID="1b70b2faf0ee7eb4a2a5c078e35f5067">
  <xsd:schema xmlns:xsd="http://www.w3.org/2001/XMLSchema" xmlns:xs="http://www.w3.org/2001/XMLSchema" xmlns:p="http://schemas.microsoft.com/office/2006/metadata/properties" xmlns:ns2="539bfd63-48c4-4ceb-ad51-e3b6b1d74c20" targetNamespace="http://schemas.microsoft.com/office/2006/metadata/properties" ma:root="true" ma:fieldsID="935c1bb362677d2a5e464ee38cef8249" ns2:_="">
    <xsd:import namespace="539bfd63-48c4-4ceb-ad51-e3b6b1d74c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9bfd63-48c4-4ceb-ad51-e3b6b1d74c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B2C89B-F763-4A7D-B5C0-BB607F12021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188521E-61ED-4F45-B1B4-1DD77D94DB22}">
  <ds:schemaRefs>
    <ds:schemaRef ds:uri="539bfd63-48c4-4ceb-ad51-e3b6b1d74c20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C2A1A5F-7253-4080-B5DF-B5BC64A6EA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9bfd63-48c4-4ceb-ad51-e3b6b1d74c2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2794</TotalTime>
  <Words>3560</Words>
  <Application>Microsoft Office PowerPoint</Application>
  <PresentationFormat>Panorámica</PresentationFormat>
  <Paragraphs>381</Paragraphs>
  <Slides>28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28</vt:i4>
      </vt:variant>
    </vt:vector>
  </HeadingPairs>
  <TitlesOfParts>
    <vt:vector size="38" baseType="lpstr">
      <vt:lpstr>Arial</vt:lpstr>
      <vt:lpstr>Calibri</vt:lpstr>
      <vt:lpstr>Calibri Light</vt:lpstr>
      <vt:lpstr>Inter</vt:lpstr>
      <vt:lpstr>Inter SemiBold</vt:lpstr>
      <vt:lpstr>Montserrat</vt:lpstr>
      <vt:lpstr>Nimbus Sans</vt:lpstr>
      <vt:lpstr>Roboto</vt:lpstr>
      <vt:lpstr>3_Tema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Paula Andrea Yepes Gómez</dc:creator>
  <cp:lastModifiedBy>SEBASTIAN MONTOYA VILLADA</cp:lastModifiedBy>
  <cp:revision>95</cp:revision>
  <dcterms:created xsi:type="dcterms:W3CDTF">2022-07-12T20:27:57Z</dcterms:created>
  <dcterms:modified xsi:type="dcterms:W3CDTF">2026-09-17T14:52:43Z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0x010100E0F1A998DF485741973047B0282D7461</vt:lpwstr>
  </property>
</Properties>
</file>