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1"/>
  </p:notesMasterIdLst>
  <p:sldIdLst>
    <p:sldId id="259" r:id="rId6"/>
    <p:sldId id="435" r:id="rId7"/>
    <p:sldId id="532" r:id="rId8"/>
    <p:sldId id="551" r:id="rId9"/>
    <p:sldId id="552" r:id="rId10"/>
    <p:sldId id="553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49" r:id="rId28"/>
    <p:sldId id="550" r:id="rId29"/>
    <p:sldId id="358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94" autoAdjust="0"/>
  </p:normalViewPr>
  <p:slideViewPr>
    <p:cSldViewPr snapToGrid="0">
      <p:cViewPr varScale="1">
        <p:scale>
          <a:sx n="36" d="100"/>
          <a:sy n="36" d="100"/>
        </p:scale>
        <p:origin x="11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11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Qué es una función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Dominio, codominio y rango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Formas de representarla</a:t>
            </a:r>
            <a:endParaRPr sz="2400"/>
          </a:p>
        </p:txBody>
      </p:sp>
      <p:sp>
        <p:nvSpPr>
          <p:cNvPr id="2" name="Google Shape;106;p14"/>
          <p:cNvSpPr txBox="1"/>
          <p:nvPr/>
        </p:nvSpPr>
        <p:spPr>
          <a:xfrm>
            <a:off x="1071562" y="5084064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Repaso: simplificación de conjuntos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Imagen y preimagen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Igualdad de funciones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reconocer cuándo una correspondencia es función y determinar su dominio, codominio y rango.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521208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Del producto cartesiano a las funciones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función no es un objeto nuevo: es un subconjunto de A × B con una condición.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que vimos ayer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× B es el conjunto de todas las parejas ordenadas (a, b).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A = {1, 2} y B = {x, y} hay cuatro parejas posibles.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de hoy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función es un subconjunto de A × B que elige exactamente una pareja por cada elemento de 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 ninguna, ni dos.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480560"/>
            <a:ext cx="1065276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qué importa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función es la forma matemática de expresar una transformación: a cada dato de entrada le corresponde un único resultado. Es la idea que sostiene el resto del curso y buena parte de la informática.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Repaso activo: álgebra de conjuntos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Antes de construir funciones, afiancemos la simplificación de la sesión pasada.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377440"/>
          <a:ext cx="1065276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2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Expresión original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Resultado simplificado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((A ∪ B) ∩ (A ∪ Bᶜ)) ∩ (Aᶜ ∪ 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∩ C   —   usando distributiva, complemento e identidad.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768096" y="402336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El resultado, A ∩ C, será exactamente el tipo de conjunto con el que trabajaremos hoy: un subconjunto de un producto cartesiano.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Repaso activo: simplifique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Halle el resultado simplificado de cada expresión.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68096" y="2651760"/>
            <a:ext cx="10652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>
                <a:solidFill>
                  <a:srgbClr val="475569"/>
                </a:solidFill>
                <a:latin typeface="Roboto"/>
              </a:rPr>
              <a:t>1)   (A ∩ B) ∪ (Aᶜ ∩ B) ∪ (A ∩ Bᶜ)</a:t>
            </a:r>
          </a:p>
          <a:p>
            <a:pPr>
              <a:spcAft>
                <a:spcPts val="1400"/>
              </a:spcAft>
            </a:pPr>
            <a:endParaRPr sz="15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475569"/>
                </a:solidFill>
                <a:latin typeface="Roboto"/>
              </a:rPr>
              <a:t>2)   Sea U el universo. Simplifique  (A ∪ U) ∩ (A ∪ Aᶜ)</a:t>
            </a:r>
          </a:p>
          <a:p>
            <a:pPr>
              <a:spcAft>
                <a:spcPts val="1400"/>
              </a:spcAft>
            </a:pPr>
            <a:endParaRPr sz="1500" b="0">
              <a:solidFill>
                <a:srgbClr val="475569"/>
              </a:solidFill>
              <a:latin typeface="Roboto"/>
            </a:endParaRP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475569"/>
                </a:solidFill>
                <a:latin typeface="Roboto"/>
              </a:rPr>
              <a:t>3)   ¿Es cierto que  A ∩ (Aᶜ ∪ B)  =  A ∩ B  para cualquier par de conjuntos A y B?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475569"/>
                </a:solidFill>
                <a:latin typeface="Roboto"/>
              </a:rPr>
              <a:t>       Simplifique el lado izquierdo para decidir.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Tómense cinco minutos: esto es exactamente lo que evaluará la Actividad Evaluativa 3, mezclado con dominio, codominio y rango.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Repaso activo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Resultado de cada punto.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68096" y="1737360"/>
          <a:ext cx="106527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4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Roboto"/>
                        </a:rPr>
                        <a:t>Por qué</a:t>
                      </a:r>
                    </a:p>
                  </a:txBody>
                  <a:tcPr marL="73152" marR="73152" marT="27432" marB="27432" anchor="ctr"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∪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Se agrupan los dos primeros términos con la distributiva y la ley del complemento; el resultado se combina con el tercero de la misma forma.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U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∪ U = U, y A ∪ Aᶜ = U. La intersección de U con U es U.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Sí: A ∩ (Aᶜ ∪ B) = A ∩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 la distributiva combinada con el complemento (A ∩ Aᶜ = ∅).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</a:rPr>
              <a:t>El punto 3 es una identidad genuina: por eso funciona para cualquier A y B, no solo para los del ejemplo.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Qué es una función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definición y su notación.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42032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 : A → B   asigna a cada elemento de A exactamente un elemento de B.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52044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666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Se lee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408736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«f de A en B».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cada a ∈ A le corresponde f(a) ∈ B.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52044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4654296" y="3666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Las dos exigencias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4654296" y="408736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Todo elemento de A debe tener imagen.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Ningún elemento de A puede tener dos.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52044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311896" y="3666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8311896" y="408736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 : ℤ → ℤ,   f(n) = 2n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f(3) = 6,   f(−1) = −2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palabra clave es «exactamente uno»: es la que separa una función de una correspondencia cualquiera.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Dominio, codominio y rango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tres conjuntos que acompañan a toda función.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005840" y="2788920"/>
            <a:ext cx="1554480" cy="2468880"/>
          </a:xfrm>
          <a:prstGeom prst="ellipse">
            <a:avLst/>
          </a:prstGeom>
          <a:solidFill>
            <a:srgbClr val="2563EB">
              <a:alpha val="10000"/>
            </a:srgbClr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05840" y="244144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ontserrat"/>
              </a:rPr>
              <a:t>A · dominio</a:t>
            </a:r>
          </a:p>
        </p:txBody>
      </p:sp>
      <p:sp>
        <p:nvSpPr>
          <p:cNvPr id="110" name="Oval 109"/>
          <p:cNvSpPr/>
          <p:nvPr/>
        </p:nvSpPr>
        <p:spPr>
          <a:xfrm>
            <a:off x="4114800" y="2788920"/>
            <a:ext cx="1554480" cy="2468880"/>
          </a:xfrm>
          <a:prstGeom prst="ellipse">
            <a:avLst/>
          </a:prstGeom>
          <a:solidFill>
            <a:srgbClr val="0E9488">
              <a:alpha val="10000"/>
            </a:srgbClr>
          </a:solidFill>
          <a:ln w="1651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114800" y="244144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9488"/>
                </a:solidFill>
                <a:latin typeface="Montserrat"/>
              </a:rPr>
              <a:t>B · codominio</a:t>
            </a:r>
          </a:p>
        </p:txBody>
      </p:sp>
      <p:sp>
        <p:nvSpPr>
          <p:cNvPr id="112" name="Oval 111"/>
          <p:cNvSpPr/>
          <p:nvPr/>
        </p:nvSpPr>
        <p:spPr>
          <a:xfrm>
            <a:off x="1732788" y="3195827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399032" y="3118103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2563EB"/>
                </a:solidFill>
                <a:latin typeface="Roboto"/>
              </a:rPr>
              <a:t>1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920240" y="3246120"/>
            <a:ext cx="2880360" cy="182880"/>
          </a:xfrm>
          <a:prstGeom prst="line">
            <a:avLst/>
          </a:prstGeom>
          <a:ln w="1397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1732788" y="3881628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399032" y="380390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2563EB"/>
                </a:solidFill>
                <a:latin typeface="Roboto"/>
              </a:rPr>
              <a:t>2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920240" y="3931920"/>
            <a:ext cx="2880360" cy="320040"/>
          </a:xfrm>
          <a:prstGeom prst="line">
            <a:avLst/>
          </a:prstGeom>
          <a:ln w="1397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732788" y="4567428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399032" y="448970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2563EB"/>
                </a:solidFill>
                <a:latin typeface="Roboto"/>
              </a:rPr>
              <a:t>3</a:t>
            </a:r>
          </a:p>
        </p:txBody>
      </p:sp>
      <p:cxnSp>
        <p:nvCxnSpPr>
          <p:cNvPr id="120" name="Connector 119"/>
          <p:cNvCxnSpPr/>
          <p:nvPr/>
        </p:nvCxnSpPr>
        <p:spPr>
          <a:xfrm flipV="1">
            <a:off x="1920240" y="4251960"/>
            <a:ext cx="2880360" cy="365760"/>
          </a:xfrm>
          <a:prstGeom prst="line">
            <a:avLst/>
          </a:prstGeom>
          <a:ln w="1397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4841748" y="3378708"/>
            <a:ext cx="100584" cy="100584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507992" y="330098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E9488"/>
                </a:solidFill>
                <a:latin typeface="Roboto"/>
              </a:rPr>
              <a:t>x</a:t>
            </a:r>
          </a:p>
        </p:txBody>
      </p:sp>
      <p:sp>
        <p:nvSpPr>
          <p:cNvPr id="123" name="Oval 122"/>
          <p:cNvSpPr/>
          <p:nvPr/>
        </p:nvSpPr>
        <p:spPr>
          <a:xfrm>
            <a:off x="4841748" y="4201668"/>
            <a:ext cx="100584" cy="100584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507992" y="41239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E9488"/>
                </a:solidFill>
                <a:latin typeface="Roboto"/>
              </a:rPr>
              <a:t>y</a:t>
            </a:r>
          </a:p>
        </p:txBody>
      </p:sp>
      <p:sp>
        <p:nvSpPr>
          <p:cNvPr id="125" name="Oval 124"/>
          <p:cNvSpPr/>
          <p:nvPr/>
        </p:nvSpPr>
        <p:spPr>
          <a:xfrm>
            <a:off x="4841748" y="48874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507992" y="48097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94A3B8"/>
                </a:solidFill>
                <a:latin typeface="Roboto"/>
              </a:rPr>
              <a:t>z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188720" y="54864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rango es { x, y }: la z no es imagen de nadie.</a:t>
            </a:r>
            <a:endParaRPr/>
          </a:p>
        </p:txBody>
      </p:sp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6400800" y="2743200"/>
          <a:ext cx="50292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Concepto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Qué es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 el diagrama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El conjunto de partida. Todos sus elementos tienen imagen.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= { 1, 2, 3 }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El conjunto de llegada declarado.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B = { x, y, z }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Rango o imagen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Los elementos de B que sí son imagen de alguien.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{ x, y }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107;p14"/>
          <p:cNvSpPr txBox="1"/>
          <p:nvPr/>
        </p:nvSpPr>
        <p:spPr>
          <a:xfrm>
            <a:off x="6400800" y="5303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rango siempre está contenido en el codominio, pero no tiene por qué ser igual a él.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Cuándo NO es una función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Dos situaciones que rompen la definición.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097280" y="3200400"/>
            <a:ext cx="1188720" cy="1828800"/>
          </a:xfrm>
          <a:prstGeom prst="ellipse">
            <a:avLst/>
          </a:prstGeom>
          <a:solidFill>
            <a:srgbClr val="94A3B8">
              <a:alpha val="10000"/>
            </a:srgbClr>
          </a:solidFill>
          <a:ln w="1651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97280" y="285292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A</a:t>
            </a:r>
          </a:p>
        </p:txBody>
      </p:sp>
      <p:sp>
        <p:nvSpPr>
          <p:cNvPr id="110" name="Oval 109"/>
          <p:cNvSpPr/>
          <p:nvPr/>
        </p:nvSpPr>
        <p:spPr>
          <a:xfrm>
            <a:off x="3291840" y="3200400"/>
            <a:ext cx="1188720" cy="1828800"/>
          </a:xfrm>
          <a:prstGeom prst="ellipse">
            <a:avLst/>
          </a:prstGeom>
          <a:solidFill>
            <a:srgbClr val="94A3B8">
              <a:alpha val="10000"/>
            </a:srgbClr>
          </a:solidFill>
          <a:ln w="1651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291840" y="285292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B</a:t>
            </a:r>
          </a:p>
        </p:txBody>
      </p:sp>
      <p:sp>
        <p:nvSpPr>
          <p:cNvPr id="112" name="Oval 111"/>
          <p:cNvSpPr/>
          <p:nvPr/>
        </p:nvSpPr>
        <p:spPr>
          <a:xfrm>
            <a:off x="1641348" y="360730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307592" y="352958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1</a:t>
            </a:r>
          </a:p>
        </p:txBody>
      </p:sp>
      <p:sp>
        <p:nvSpPr>
          <p:cNvPr id="114" name="Oval 113"/>
          <p:cNvSpPr/>
          <p:nvPr/>
        </p:nvSpPr>
        <p:spPr>
          <a:xfrm>
            <a:off x="1641348" y="443026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307592" y="43525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2</a:t>
            </a:r>
          </a:p>
        </p:txBody>
      </p:sp>
      <p:sp>
        <p:nvSpPr>
          <p:cNvPr id="116" name="Oval 115"/>
          <p:cNvSpPr/>
          <p:nvPr/>
        </p:nvSpPr>
        <p:spPr>
          <a:xfrm>
            <a:off x="3835908" y="360730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502152" y="352958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x</a:t>
            </a:r>
          </a:p>
        </p:txBody>
      </p:sp>
      <p:sp>
        <p:nvSpPr>
          <p:cNvPr id="118" name="Oval 117"/>
          <p:cNvSpPr/>
          <p:nvPr/>
        </p:nvSpPr>
        <p:spPr>
          <a:xfrm>
            <a:off x="3835908" y="443026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502152" y="43525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y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783080" y="3657600"/>
            <a:ext cx="2011680" cy="0"/>
          </a:xfrm>
          <a:prstGeom prst="line">
            <a:avLst/>
          </a:prstGeom>
          <a:ln w="13970">
            <a:solidFill>
              <a:srgbClr val="DC26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107;p14"/>
          <p:cNvSpPr txBox="1"/>
          <p:nvPr/>
        </p:nvSpPr>
        <p:spPr>
          <a:xfrm>
            <a:off x="1234439" y="5257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2 no tiene imagen: falta una flecha.</a:t>
            </a:r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6400800" y="3200400"/>
            <a:ext cx="1188720" cy="1828800"/>
          </a:xfrm>
          <a:prstGeom prst="ellipse">
            <a:avLst/>
          </a:prstGeom>
          <a:solidFill>
            <a:srgbClr val="94A3B8">
              <a:alpha val="10000"/>
            </a:srgbClr>
          </a:solidFill>
          <a:ln w="1651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400800" y="285292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A</a:t>
            </a:r>
          </a:p>
        </p:txBody>
      </p:sp>
      <p:sp>
        <p:nvSpPr>
          <p:cNvPr id="123" name="Oval 122"/>
          <p:cNvSpPr/>
          <p:nvPr/>
        </p:nvSpPr>
        <p:spPr>
          <a:xfrm>
            <a:off x="8595360" y="3200400"/>
            <a:ext cx="1188720" cy="1828800"/>
          </a:xfrm>
          <a:prstGeom prst="ellipse">
            <a:avLst/>
          </a:prstGeom>
          <a:solidFill>
            <a:srgbClr val="94A3B8">
              <a:alpha val="10000"/>
            </a:srgbClr>
          </a:solidFill>
          <a:ln w="1651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595360" y="2852928"/>
            <a:ext cx="1828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Montserrat"/>
              </a:rPr>
              <a:t>B</a:t>
            </a:r>
          </a:p>
        </p:txBody>
      </p:sp>
      <p:sp>
        <p:nvSpPr>
          <p:cNvPr id="125" name="Oval 124"/>
          <p:cNvSpPr/>
          <p:nvPr/>
        </p:nvSpPr>
        <p:spPr>
          <a:xfrm>
            <a:off x="6944868" y="360730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11112" y="352958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1</a:t>
            </a:r>
          </a:p>
        </p:txBody>
      </p:sp>
      <p:sp>
        <p:nvSpPr>
          <p:cNvPr id="127" name="Oval 126"/>
          <p:cNvSpPr/>
          <p:nvPr/>
        </p:nvSpPr>
        <p:spPr>
          <a:xfrm>
            <a:off x="6944868" y="443026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611112" y="43525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2</a:t>
            </a:r>
          </a:p>
        </p:txBody>
      </p:sp>
      <p:sp>
        <p:nvSpPr>
          <p:cNvPr id="129" name="Oval 128"/>
          <p:cNvSpPr/>
          <p:nvPr/>
        </p:nvSpPr>
        <p:spPr>
          <a:xfrm>
            <a:off x="9139428" y="360730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805672" y="352958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x</a:t>
            </a:r>
          </a:p>
        </p:txBody>
      </p:sp>
      <p:sp>
        <p:nvSpPr>
          <p:cNvPr id="131" name="Oval 130"/>
          <p:cNvSpPr/>
          <p:nvPr/>
        </p:nvSpPr>
        <p:spPr>
          <a:xfrm>
            <a:off x="9139428" y="4430268"/>
            <a:ext cx="100584" cy="100584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05672" y="4352544"/>
            <a:ext cx="29260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1E293B"/>
                </a:solidFill>
                <a:latin typeface="Roboto"/>
              </a:rPr>
              <a:t>y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7086600" y="3657600"/>
            <a:ext cx="2011680" cy="0"/>
          </a:xfrm>
          <a:prstGeom prst="line">
            <a:avLst/>
          </a:prstGeom>
          <a:ln w="13970">
            <a:solidFill>
              <a:srgbClr val="DC26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086600" y="3657600"/>
            <a:ext cx="2011680" cy="822960"/>
          </a:xfrm>
          <a:prstGeom prst="line">
            <a:avLst/>
          </a:prstGeom>
          <a:ln w="13970">
            <a:solidFill>
              <a:srgbClr val="DC26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107;p14"/>
          <p:cNvSpPr txBox="1"/>
          <p:nvPr/>
        </p:nvSpPr>
        <p:spPr>
          <a:xfrm>
            <a:off x="6537959" y="5257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1 tiene dos imágenes: sobra una flecha.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768096" y="2377440"/>
            <a:ext cx="10652760" cy="685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2514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 cada elemento del dominio debe salir exactamente una flecha: ni cero, ni dos.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768096" y="5715000"/>
            <a:ext cx="10652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cambio, que dos elementos de A vayan al mismo elemento de B sí está permitido, y que sobren elementos en B también.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¿es función?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A = { 1, 2, 3 } y B = { a, b }. Decida si cada correspondencia es función y justifique.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{ (1, a), (2, b), (3, a)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{ (1, a), (2, b)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{ (1, a), (1, b), (2, a), (3, b)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{ (1, b), (2, b), (3, b) }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Revise las dos condiciones por separado: ¿todos los elementos de A aparecen? ¿alguno aparece dos veces?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Veredicto y razón.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3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¿Es función?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Razón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Cada elemento de A aparece exactamente una vez. El rango es { a, b }.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Al 3 no se le asignó imagen.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El 1 aparece dos veces, con imágenes distintas.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Todos tienen imagen y ninguno se repite. El rango es { b }.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4 es función aunque todos vayan al mismo lugar: la definición no exige que las imágenes sean distintas, solo que cada entrada tenga una sola salida.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Cuatro formas de representar la misma función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Elegir la representación adecuada facilita el trabajo.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468880"/>
          <a:ext cx="1065275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9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3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Forma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 con  f : {1,2,3} → {2,4,6},  f(n) = 2n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Fórmula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f(n) = 2n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Tabla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n:  1, 2, 3        f(n):  2, 4, 6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Conjunto de parejas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(1, 2), (2, 4), (3, 6) }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Diagrama de flechas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Cada elemento de la izquierda unido con su imagen a la derecha.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representación como conjunto de parejas es la que conecta con la sesión anterior: la función es literalmente un subconjunto de A × B.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Sea  f : ℤ → ℤ,  f(n) = n² . Determine dominio, codominio y rango.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Pregunta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ℤ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Está declarado en la notación f : ℤ → ℤ.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ℤ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También está declarado.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f(−3)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reemplaza: (−3)² = 9.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¿El rango es ℤ?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Ningún cuadrado es negativo. El rango son los cuadrados perfectos.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codominio se declara; el rango se calcula. Confundirlos es el error más frecuente del tema.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Imagen y preimagen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Dos preguntas opuestas sobre la misma función.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Imagen de un elemento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conoce a ∈ A y se busca f(a) ∈ B.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Siempre existe y es única.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Ejemplo: si f(n) = 2n, la imagen de 5 es 10.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Preimagen de un elemento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conoce b ∈ B y se buscan los a con f(a) = b.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Puede no existir, o haber varias.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Ejemplo: la preimagen de 10 es 5; la de 7 no existe.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480560"/>
            <a:ext cx="1065276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asimetría, otra vez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Ir de A hacia B siempre funciona y da un único resultado; volver de B hacia A puede fallar o dar varios. Esa asimetría es la que dará origen a los conceptos de inyectividad y sobreyectividad en la próxima sesión.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Sea  f : { 1, 2, 3, 4 } → { a, b, c },  dada por  { (1,a), (2,b), (3,a), (4,c) }.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60320"/>
          <a:ext cx="1065275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Pregunta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f(3)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Preimagen de 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 y 3.  Son dos: eso está permitido.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Preimagen de b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Solo el 2.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Rango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a, b, c }.  Coincide con el codominio en este caso.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1208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Que la preimagen de a tenga dos elementos no rompe la definición de función: lo prohibido es que un elemento del dominio tenga dos imágenes, no al revés.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dominio, codominio y rango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función, determine lo que se pide.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f : ℤ → ℤ,  f(n) = n + 3.   Halle f(−5) y el rango.</a:t>
            </a:r>
          </a:p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g : { 1, 2, 3 } → { a, b },  g = { (1,a), (2,a), (3,b) }.   Halle el rango y la preimagen de a.</a:t>
            </a:r>
          </a:p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h : ℤ → ℤ,  h(n) = n².   ¿Cuál es la preimagen de 16? ¿Y la de −4?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21208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3, recuerde que la preimagen puede tener más de un elemento o ninguno. Verifique los dos casos.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Respuestas.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4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Observación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f(−5) = −2.  El rango es todo ℤ.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Todo entero es n + 3 para algún 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Rango = { a, b }.  Preimagen de a: { 1, 2 }.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Dos elementos van al mismo destino.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Preimagen de 16: { 4, −4 }.  Preimagen de −4: vacía.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Ningún cuadrado es negativo.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166360"/>
            <a:ext cx="10652760" cy="1005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tres casos posibles de una preimagen aparecen aquí: un solo elemento, varios, o ninguno. Compárelos con lo que ocurre siempre con la imagen, que es única.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Igualdad de funciones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Dos funciones son iguales solo si coinciden en todo.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f = g   si tienen el mismo dominio, el mismo codominio y f(x) = g(x) para todo x.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Mismo criterio, funciones distintas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 : ℤ → ℤ,  f(n) = n²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 : ℕ → ℤ,  g(n) = n²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son iguales: cambian el dominio.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Distinta fórmula, misma función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f(n) = 2n  y  g(n) = n + n,  ambas de ℤ en ℤ.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Sí son iguales: coinciden en todo el dominio.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5778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función no es la fórmula: es la correspondencia. Dos escrituras distintas pueden definir la misma función, y la misma fórmula sobre dominios distintos define funciones distintas.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¿Son iguales estas parejas de funciones?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8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Par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¿Iguales?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Razón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f, g : ℤ → ℤ,  f(n) = n + n,  g(n) = 2n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Sí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Mismo dominio, mismo codominio y f(n) = g(n) para todo entero.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 : ℤ → ℤ,  f(n) = n²   y   g : ℤ → ℕ,  g(n) = n²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Cambia el codominio, aunque el criterio sea el mismo.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f, g : ℝ → ℝ,  f(x) = x,  g(x) = x²/x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g no está definida en x = 0: no tienen el mismo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tercer caso es el más instructivo: dos expresiones que parecen simplificarse a lo mismo pueden tener dominios distintos.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igualdad y representación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Justifique cada respuesta.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¿Son iguales  f : ℤ → ℤ, f(n) = 3n  y  g : ℤ → ℤ, g(n) = n + 2n?</a:t>
            </a:r>
          </a:p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¿Son iguales  f : ℕ → ℕ, f(n) = n  y  g : ℤ → ℤ, g(n) = n?</a:t>
            </a:r>
          </a:p>
          <a:p>
            <a:pPr>
              <a:spcAft>
                <a:spcPts val="22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Escriba  f : { 1, 2, 3 } → ℤ,  f(n) = n² − 1  como conjunto de parejas y halle su rango.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21208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decidir una igualdad revise las tres cosas en orden: dominio, codominio y regla. Basta que falle una para que las funciones sean distintas.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Respuestas.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Razón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Sí son iguales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Mismo dominio y codominio, y n + 2n = 3n para todo entero.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No son iguales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La regla es la misma, pero el dominio y el codominio cambian.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(1, 0), (2, 3), (3, 8) }.  Rango = { 0, 3, 8 }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evalúa n² − 1 en cada elemento del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166360"/>
            <a:ext cx="10652760" cy="1005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3 observe que el codominio es ℤ, pero el rango tiene solo tres elementos. El rango depende del dominio, no del codominio declarado.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que más cuestan puntos.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codominio con rango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codominio se declara al escribir f : A → B. El rango hay que calcularlo.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Creer que dos entradas no pueden compartir salida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Sí pueden. Lo prohibido es que una entrada tenga dos salidas.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Dejar elementos sin imagen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algún elemento del dominio no tiene imagen, no es función.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Identificar la función con la fórmula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misma fórmula sobre dominios distintos define funciones distintas.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Síntesis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 que hay que llevarse de la sesión.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468880"/>
          <a:ext cx="1065275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Concepto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 una línea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Función  f : A → B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cada elemento de A le corresponde exactamente uno de B.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El conjunto A. Todos sus elementos deben tener imagen.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Codominio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El conjunto B. Se declara.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Rango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Los elementos de B que sí son imagen. Se calcula, y cumple rango ⊆ B.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Preimagen de b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Los elementos de A cuya imagen es b. Puede tener 0, 1 o varios.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623560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74243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función es un subconjunto de A × B en el que cada elemento de A aparece exactamente una vez como primera componente.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entregar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Decida cuáles de estas son funciones de {1,2,3} en {a,b}: {(1,a),(2,a)}, {(1,a),(2,b),(3,a)}, {(1,a),(1,b),(2,a),(3,b)}.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Para f : ℤ → ℤ, f(n) = 3n − 1, halle f(0), f(−2) y la preimagen de 8.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Escriba f : {0,1,2,3} → ℤ, f(n) = n² − n como conjunto de parejas y dé su rango.</a:t>
            </a:r>
          </a:p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¿Son iguales f : ℝ → ℝ, f(x) = |x| y g : ℝ → ℝ, g(x) = √(x²)?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1, cuando no sea función diga cuál de las dos condiciones falla.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4, revise dominio, codominio y regla por separado.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sección 2.2 de Johnsonbaugh, funciones.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inyectividad, sobreyectividad y biyectividad, es decir, qué pasa cuando se intenta volver de B hacia 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2778</Words>
  <Application>Microsoft Office PowerPoint</Application>
  <PresentationFormat>Panorámica</PresentationFormat>
  <Paragraphs>298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94</cp:revision>
  <dcterms:created xsi:type="dcterms:W3CDTF">2022-07-12T20:27:57Z</dcterms:created>
  <dcterms:modified xsi:type="dcterms:W3CDTF">2026-09-18T14:57:06Z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