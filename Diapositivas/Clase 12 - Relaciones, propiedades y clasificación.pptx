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4"/>
    <p:sldMasterId id="2147483660" r:id="rId5"/>
  </p:sldMasterIdLst>
  <p:notesMasterIdLst>
    <p:notesMasterId r:id="rId29"/>
  </p:notesMasterIdLst>
  <p:sldIdLst>
    <p:sldId id="259" r:id="rId6"/>
    <p:sldId id="435" r:id="rId7"/>
    <p:sldId id="572" r:id="rId139"/>
    <p:sldId id="573" r:id="rId140"/>
    <p:sldId id="574" r:id="rId141"/>
    <p:sldId id="575" r:id="rId142"/>
    <p:sldId id="576" r:id="rId143"/>
    <p:sldId id="577" r:id="rId144"/>
    <p:sldId id="578" r:id="rId145"/>
    <p:sldId id="579" r:id="rId146"/>
    <p:sldId id="580" r:id="rId147"/>
    <p:sldId id="581" r:id="rId148"/>
    <p:sldId id="593" r:id="rId160"/>
    <p:sldId id="594" r:id="rId161"/>
    <p:sldId id="595" r:id="rId162"/>
    <p:sldId id="596" r:id="rId163"/>
    <p:sldId id="597" r:id="rId164"/>
    <p:sldId id="589" r:id="rId156"/>
    <p:sldId id="590" r:id="rId157"/>
    <p:sldId id="591" r:id="rId158"/>
    <p:sldId id="592" r:id="rId159"/>
    <p:sldId id="358" r:id="rId28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24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71842D-0B3E-C4F0-38AD-F9C6520AB797}" v="1" dt="2025-08-14T00:02:49.985"/>
    <p1510:client id="{A9085E3F-640F-8AC8-2CAF-A556D3A012AA}" v="88" dt="2025-08-12T20:32:49.3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28" Type="http://schemas.openxmlformats.org/officeDocument/2006/relationships/slide" Target="slides/slide22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microsoft.com/office/2016/11/relationships/changesInfo" Target="changesInfos/changesInfo1.xml"/><Relationship Id="rId35" Type="http://schemas.microsoft.com/office/2015/10/relationships/revisionInfo" Target="revisionInfo.xml"/><Relationship Id="rId139" Type="http://schemas.openxmlformats.org/officeDocument/2006/relationships/slide" Target="slides/slide3.xml"/><Relationship Id="rId140" Type="http://schemas.openxmlformats.org/officeDocument/2006/relationships/slide" Target="slides/slide4.xml"/><Relationship Id="rId141" Type="http://schemas.openxmlformats.org/officeDocument/2006/relationships/slide" Target="slides/slide5.xml"/><Relationship Id="rId142" Type="http://schemas.openxmlformats.org/officeDocument/2006/relationships/slide" Target="slides/slide6.xml"/><Relationship Id="rId143" Type="http://schemas.openxmlformats.org/officeDocument/2006/relationships/slide" Target="slides/slide7.xml"/><Relationship Id="rId144" Type="http://schemas.openxmlformats.org/officeDocument/2006/relationships/slide" Target="slides/slide8.xml"/><Relationship Id="rId145" Type="http://schemas.openxmlformats.org/officeDocument/2006/relationships/slide" Target="slides/slide9.xml"/><Relationship Id="rId146" Type="http://schemas.openxmlformats.org/officeDocument/2006/relationships/slide" Target="slides/slide10.xml"/><Relationship Id="rId147" Type="http://schemas.openxmlformats.org/officeDocument/2006/relationships/slide" Target="slides/slide11.xml"/><Relationship Id="rId148" Type="http://schemas.openxmlformats.org/officeDocument/2006/relationships/slide" Target="slides/slide12.xml"/><Relationship Id="rId156" Type="http://schemas.openxmlformats.org/officeDocument/2006/relationships/slide" Target="slides/slide18.xml"/><Relationship Id="rId157" Type="http://schemas.openxmlformats.org/officeDocument/2006/relationships/slide" Target="slides/slide19.xml"/><Relationship Id="rId158" Type="http://schemas.openxmlformats.org/officeDocument/2006/relationships/slide" Target="slides/slide20.xml"/><Relationship Id="rId159" Type="http://schemas.openxmlformats.org/officeDocument/2006/relationships/slide" Target="slides/slide21.xml"/><Relationship Id="rId160" Type="http://schemas.openxmlformats.org/officeDocument/2006/relationships/slide" Target="slides/slide13.xml"/><Relationship Id="rId161" Type="http://schemas.openxmlformats.org/officeDocument/2006/relationships/slide" Target="slides/slide14.xml"/><Relationship Id="rId162" Type="http://schemas.openxmlformats.org/officeDocument/2006/relationships/slide" Target="slides/slide15.xml"/><Relationship Id="rId163" Type="http://schemas.openxmlformats.org/officeDocument/2006/relationships/slide" Target="slides/slide16.xml"/><Relationship Id="rId164" Type="http://schemas.openxmlformats.org/officeDocument/2006/relationships/slide" Target="slides/slide1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BASTIAN MONTOYA VILLADA" userId="S::sebastianmontoya8118@correo.itm.edu.co::dffcc6c4-4ec2-40a3-ba2d-1adaa01cc26d" providerId="AD" clId="Web-{F0891811-0C3E-E044-B339-FA3C78DDAA21}"/>
    <pc:docChg chg="modSld">
      <pc:chgData name="SEBASTIAN MONTOYA VILLADA" userId="S::sebastianmontoya8118@correo.itm.edu.co::dffcc6c4-4ec2-40a3-ba2d-1adaa01cc26d" providerId="AD" clId="Web-{F0891811-0C3E-E044-B339-FA3C78DDAA21}" dt="2025-02-02T16:50:46.608" v="48" actId="20577"/>
      <pc:docMkLst>
        <pc:docMk/>
      </pc:docMkLst>
      <pc:sldChg chg="modSp">
        <pc:chgData name="SEBASTIAN MONTOYA VILLADA" userId="S::sebastianmontoya8118@correo.itm.edu.co::dffcc6c4-4ec2-40a3-ba2d-1adaa01cc26d" providerId="AD" clId="Web-{F0891811-0C3E-E044-B339-FA3C78DDAA21}" dt="2025-02-02T16:50:46.608" v="48" actId="20577"/>
        <pc:sldMkLst>
          <pc:docMk/>
          <pc:sldMk cId="2518797674" sldId="377"/>
        </pc:sldMkLst>
      </pc:sldChg>
    </pc:docChg>
  </pc:docChgLst>
  <pc:docChgLst>
    <pc:chgData name="SEBASTIAN MONTOYA VILLADA" userId="S::sebastianmontoya8118@correo.itm.edu.co::dffcc6c4-4ec2-40a3-ba2d-1adaa01cc26d" providerId="AD" clId="Web-{12ABB21D-7E4B-A741-8DBD-07416A75BBC9}"/>
    <pc:docChg chg="addSld modSld">
      <pc:chgData name="SEBASTIAN MONTOYA VILLADA" userId="S::sebastianmontoya8118@correo.itm.edu.co::dffcc6c4-4ec2-40a3-ba2d-1adaa01cc26d" providerId="AD" clId="Web-{12ABB21D-7E4B-A741-8DBD-07416A75BBC9}" dt="2025-02-06T19:01:40.165" v="84" actId="20577"/>
      <pc:docMkLst>
        <pc:docMk/>
      </pc:docMkLst>
      <pc:sldChg chg="modSp">
        <pc:chgData name="SEBASTIAN MONTOYA VILLADA" userId="S::sebastianmontoya8118@correo.itm.edu.co::dffcc6c4-4ec2-40a3-ba2d-1adaa01cc26d" providerId="AD" clId="Web-{12ABB21D-7E4B-A741-8DBD-07416A75BBC9}" dt="2025-02-06T19:01:40.165" v="84" actId="20577"/>
        <pc:sldMkLst>
          <pc:docMk/>
          <pc:sldMk cId="3747983956" sldId="427"/>
        </pc:sldMkLst>
      </pc:sldChg>
      <pc:sldChg chg="modSp">
        <pc:chgData name="SEBASTIAN MONTOYA VILLADA" userId="S::sebastianmontoya8118@correo.itm.edu.co::dffcc6c4-4ec2-40a3-ba2d-1adaa01cc26d" providerId="AD" clId="Web-{12ABB21D-7E4B-A741-8DBD-07416A75BBC9}" dt="2025-02-06T18:52:16.640" v="48" actId="20577"/>
        <pc:sldMkLst>
          <pc:docMk/>
          <pc:sldMk cId="2353607267" sldId="430"/>
        </pc:sldMkLst>
      </pc:sldChg>
      <pc:sldChg chg="modSp add replId">
        <pc:chgData name="SEBASTIAN MONTOYA VILLADA" userId="S::sebastianmontoya8118@correo.itm.edu.co::dffcc6c4-4ec2-40a3-ba2d-1adaa01cc26d" providerId="AD" clId="Web-{12ABB21D-7E4B-A741-8DBD-07416A75BBC9}" dt="2025-02-06T18:32:55.280" v="33" actId="20577"/>
        <pc:sldMkLst>
          <pc:docMk/>
          <pc:sldMk cId="2958943099" sldId="433"/>
        </pc:sldMkLst>
      </pc:sldChg>
    </pc:docChg>
  </pc:docChgLst>
  <pc:docChgLst>
    <pc:chgData name="SEBASTIAN MONTOYA VILLADA" userId="S::sebastianmontoya8118@correo.itm.edu.co::dffcc6c4-4ec2-40a3-ba2d-1adaa01cc26d" providerId="AD" clId="Web-{4371842D-0B3E-C4F0-38AD-F9C6520AB797}"/>
    <pc:docChg chg="delSld">
      <pc:chgData name="SEBASTIAN MONTOYA VILLADA" userId="S::sebastianmontoya8118@correo.itm.edu.co::dffcc6c4-4ec2-40a3-ba2d-1adaa01cc26d" providerId="AD" clId="Web-{4371842D-0B3E-C4F0-38AD-F9C6520AB797}" dt="2025-08-14T00:02:49.985" v="0"/>
      <pc:docMkLst>
        <pc:docMk/>
      </pc:docMkLst>
      <pc:sldChg chg="del">
        <pc:chgData name="SEBASTIAN MONTOYA VILLADA" userId="S::sebastianmontoya8118@correo.itm.edu.co::dffcc6c4-4ec2-40a3-ba2d-1adaa01cc26d" providerId="AD" clId="Web-{4371842D-0B3E-C4F0-38AD-F9C6520AB797}" dt="2025-08-14T00:02:49.985" v="0"/>
        <pc:sldMkLst>
          <pc:docMk/>
          <pc:sldMk cId="2831281710" sldId="423"/>
        </pc:sldMkLst>
      </pc:sldChg>
    </pc:docChg>
  </pc:docChgLst>
  <pc:docChgLst>
    <pc:chgData name="SEBASTIAN MONTOYA VILLADA" userId="S::sebastianmontoya8118@correo.itm.edu.co::dffcc6c4-4ec2-40a3-ba2d-1adaa01cc26d" providerId="AD" clId="Web-{0E7E6845-1414-57BF-4B89-6166058ECF3B}"/>
    <pc:docChg chg="modSld">
      <pc:chgData name="SEBASTIAN MONTOYA VILLADA" userId="S::sebastianmontoya8118@correo.itm.edu.co::dffcc6c4-4ec2-40a3-ba2d-1adaa01cc26d" providerId="AD" clId="Web-{0E7E6845-1414-57BF-4B89-6166058ECF3B}" dt="2025-02-12T15:13:33.994" v="57"/>
      <pc:docMkLst>
        <pc:docMk/>
      </pc:docMkLst>
      <pc:sldChg chg="modSp">
        <pc:chgData name="SEBASTIAN MONTOYA VILLADA" userId="S::sebastianmontoya8118@correo.itm.edu.co::dffcc6c4-4ec2-40a3-ba2d-1adaa01cc26d" providerId="AD" clId="Web-{0E7E6845-1414-57BF-4B89-6166058ECF3B}" dt="2025-02-12T15:13:33.994" v="57"/>
        <pc:sldMkLst>
          <pc:docMk/>
          <pc:sldMk cId="3952345243" sldId="406"/>
        </pc:sldMkLst>
      </pc:sldChg>
    </pc:docChg>
  </pc:docChgLst>
  <pc:docChgLst>
    <pc:chgData name="SEBASTIAN MONTOYA VILLADA" userId="S::sebastianmontoya8118@correo.itm.edu.co::dffcc6c4-4ec2-40a3-ba2d-1adaa01cc26d" providerId="AD" clId="Web-{A9085E3F-640F-8AC8-2CAF-A556D3A012AA}"/>
    <pc:docChg chg="addSld delSld modSld">
      <pc:chgData name="SEBASTIAN MONTOYA VILLADA" userId="S::sebastianmontoya8118@correo.itm.edu.co::dffcc6c4-4ec2-40a3-ba2d-1adaa01cc26d" providerId="AD" clId="Web-{A9085E3F-640F-8AC8-2CAF-A556D3A012AA}" dt="2025-08-12T20:32:49.389" v="84" actId="1076"/>
      <pc:docMkLst>
        <pc:docMk/>
      </pc:docMkLst>
      <pc:sldChg chg="modSp">
        <pc:chgData name="SEBASTIAN MONTOYA VILLADA" userId="S::sebastianmontoya8118@correo.itm.edu.co::dffcc6c4-4ec2-40a3-ba2d-1adaa01cc26d" providerId="AD" clId="Web-{A9085E3F-640F-8AC8-2CAF-A556D3A012AA}" dt="2025-08-12T19:15:50.527" v="6" actId="1076"/>
        <pc:sldMkLst>
          <pc:docMk/>
          <pc:sldMk cId="3065597046" sldId="405"/>
        </pc:sldMkLst>
        <pc:spChg chg="mod">
          <ac:chgData name="SEBASTIAN MONTOYA VILLADA" userId="S::sebastianmontoya8118@correo.itm.edu.co::dffcc6c4-4ec2-40a3-ba2d-1adaa01cc26d" providerId="AD" clId="Web-{A9085E3F-640F-8AC8-2CAF-A556D3A012AA}" dt="2025-08-12T19:15:14.573" v="4" actId="20577"/>
          <ac:spMkLst>
            <pc:docMk/>
            <pc:sldMk cId="3065597046" sldId="405"/>
            <ac:spMk id="15" creationId="{85FAB7AA-F6D0-DCD2-169A-663C9F578B7B}"/>
          </ac:spMkLst>
        </pc:spChg>
        <pc:picChg chg="mod">
          <ac:chgData name="SEBASTIAN MONTOYA VILLADA" userId="S::sebastianmontoya8118@correo.itm.edu.co::dffcc6c4-4ec2-40a3-ba2d-1adaa01cc26d" providerId="AD" clId="Web-{A9085E3F-640F-8AC8-2CAF-A556D3A012AA}" dt="2025-08-12T19:15:50.527" v="6" actId="1076"/>
          <ac:picMkLst>
            <pc:docMk/>
            <pc:sldMk cId="3065597046" sldId="405"/>
            <ac:picMk id="16" creationId="{B82471AD-453F-FE32-A520-39111B862C8C}"/>
          </ac:picMkLst>
        </pc:picChg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19:29:12.618" v="26" actId="1076"/>
        <pc:sldMkLst>
          <pc:docMk/>
          <pc:sldMk cId="2099833142" sldId="409"/>
        </pc:sldMkLst>
        <pc:picChg chg="add mod modCrop">
          <ac:chgData name="SEBASTIAN MONTOYA VILLADA" userId="S::sebastianmontoya8118@correo.itm.edu.co::dffcc6c4-4ec2-40a3-ba2d-1adaa01cc26d" providerId="AD" clId="Web-{A9085E3F-640F-8AC8-2CAF-A556D3A012AA}" dt="2025-08-12T19:29:12.618" v="26" actId="1076"/>
          <ac:picMkLst>
            <pc:docMk/>
            <pc:sldMk cId="2099833142" sldId="409"/>
            <ac:picMk id="2" creationId="{E1E9E397-3AAE-3E2C-904F-97CAAC617C8A}"/>
          </ac:picMkLst>
        </pc:picChg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19:31:05.981" v="32" actId="1076"/>
        <pc:sldMkLst>
          <pc:docMk/>
          <pc:sldMk cId="1253375017" sldId="411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19:31:05.981" v="32" actId="1076"/>
          <ac:picMkLst>
            <pc:docMk/>
            <pc:sldMk cId="1253375017" sldId="411"/>
            <ac:picMk id="2" creationId="{04956126-4BFB-27E9-D04E-1B80B4AA7AB2}"/>
          </ac:picMkLst>
        </pc:picChg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19:34:01.251" v="38" actId="1076"/>
        <pc:sldMkLst>
          <pc:docMk/>
          <pc:sldMk cId="1563925881" sldId="413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19:34:01.251" v="38" actId="1076"/>
          <ac:picMkLst>
            <pc:docMk/>
            <pc:sldMk cId="1563925881" sldId="413"/>
            <ac:picMk id="2" creationId="{EB19C2A4-3385-F990-DD12-C1BE3613E0DD}"/>
          </ac:picMkLst>
        </pc:picChg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19:36:58.461" v="44" actId="1076"/>
        <pc:sldMkLst>
          <pc:docMk/>
          <pc:sldMk cId="4289046495" sldId="415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19:36:58.461" v="44" actId="1076"/>
          <ac:picMkLst>
            <pc:docMk/>
            <pc:sldMk cId="4289046495" sldId="415"/>
            <ac:picMk id="2" creationId="{ECE24E22-13B2-AC5A-D5ED-D761F8A6DE8C}"/>
          </ac:picMkLst>
        </pc:picChg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19:39:44.258" v="48" actId="1076"/>
        <pc:sldMkLst>
          <pc:docMk/>
          <pc:sldMk cId="3874360725" sldId="418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19:39:44.258" v="48" actId="1076"/>
          <ac:picMkLst>
            <pc:docMk/>
            <pc:sldMk cId="3874360725" sldId="418"/>
            <ac:picMk id="2" creationId="{F20355AC-76D8-DAD9-33C0-42A20F5BA8C4}"/>
          </ac:picMkLst>
        </pc:picChg>
      </pc:sldChg>
      <pc:sldChg chg="modSp">
        <pc:chgData name="SEBASTIAN MONTOYA VILLADA" userId="S::sebastianmontoya8118@correo.itm.edu.co::dffcc6c4-4ec2-40a3-ba2d-1adaa01cc26d" providerId="AD" clId="Web-{A9085E3F-640F-8AC8-2CAF-A556D3A012AA}" dt="2025-08-12T19:40:02.557" v="50"/>
        <pc:sldMkLst>
          <pc:docMk/>
          <pc:sldMk cId="2616112607" sldId="420"/>
        </pc:sldMkLst>
        <pc:spChg chg="mod">
          <ac:chgData name="SEBASTIAN MONTOYA VILLADA" userId="S::sebastianmontoya8118@correo.itm.edu.co::dffcc6c4-4ec2-40a3-ba2d-1adaa01cc26d" providerId="AD" clId="Web-{A9085E3F-640F-8AC8-2CAF-A556D3A012AA}" dt="2025-08-12T19:40:02.557" v="50"/>
          <ac:spMkLst>
            <pc:docMk/>
            <pc:sldMk cId="2616112607" sldId="420"/>
            <ac:spMk id="13" creationId="{FDA4B643-DEB4-C77F-0211-C4BA4EE48C1A}"/>
          </ac:spMkLst>
        </pc:spChg>
      </pc:sldChg>
      <pc:sldChg chg="del">
        <pc:chgData name="SEBASTIAN MONTOYA VILLADA" userId="S::sebastianmontoya8118@correo.itm.edu.co::dffcc6c4-4ec2-40a3-ba2d-1adaa01cc26d" providerId="AD" clId="Web-{A9085E3F-640F-8AC8-2CAF-A556D3A012AA}" dt="2025-08-12T20:17:34.972" v="59"/>
        <pc:sldMkLst>
          <pc:docMk/>
          <pc:sldMk cId="1817142743" sldId="421"/>
        </pc:sldMkLst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20:32:49.389" v="84" actId="1076"/>
        <pc:sldMkLst>
          <pc:docMk/>
          <pc:sldMk cId="4243160153" sldId="424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20:32:14.919" v="76" actId="1076"/>
          <ac:picMkLst>
            <pc:docMk/>
            <pc:sldMk cId="4243160153" sldId="424"/>
            <ac:picMk id="2" creationId="{3FAE8893-D5D5-DB51-07AF-32142177194D}"/>
          </ac:picMkLst>
        </pc:picChg>
        <pc:picChg chg="add mod">
          <ac:chgData name="SEBASTIAN MONTOYA VILLADA" userId="S::sebastianmontoya8118@correo.itm.edu.co::dffcc6c4-4ec2-40a3-ba2d-1adaa01cc26d" providerId="AD" clId="Web-{A9085E3F-640F-8AC8-2CAF-A556D3A012AA}" dt="2025-08-12T20:32:48.186" v="83" actId="1076"/>
          <ac:picMkLst>
            <pc:docMk/>
            <pc:sldMk cId="4243160153" sldId="424"/>
            <ac:picMk id="14" creationId="{CA992F2E-C4EB-3035-3338-919DEF831901}"/>
          </ac:picMkLst>
        </pc:picChg>
        <pc:picChg chg="add mod">
          <ac:chgData name="SEBASTIAN MONTOYA VILLADA" userId="S::sebastianmontoya8118@correo.itm.edu.co::dffcc6c4-4ec2-40a3-ba2d-1adaa01cc26d" providerId="AD" clId="Web-{A9085E3F-640F-8AC8-2CAF-A556D3A012AA}" dt="2025-08-12T20:32:49.389" v="84" actId="1076"/>
          <ac:picMkLst>
            <pc:docMk/>
            <pc:sldMk cId="4243160153" sldId="424"/>
            <ac:picMk id="15" creationId="{DB23A67A-24EB-F427-E73A-4F0873FE2805}"/>
          </ac:picMkLst>
        </pc:picChg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20:26:33.713" v="64" actId="1076"/>
        <pc:sldMkLst>
          <pc:docMk/>
          <pc:sldMk cId="3747983956" sldId="427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20:26:33.713" v="64" actId="1076"/>
          <ac:picMkLst>
            <pc:docMk/>
            <pc:sldMk cId="3747983956" sldId="427"/>
            <ac:picMk id="2" creationId="{1C04A617-E0EB-E6A2-0B6C-86EEC4B49615}"/>
          </ac:picMkLst>
        </pc:picChg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19:24:37.106" v="10" actId="1076"/>
        <pc:sldMkLst>
          <pc:docMk/>
          <pc:sldMk cId="1762785225" sldId="428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19:24:37.106" v="10" actId="1076"/>
          <ac:picMkLst>
            <pc:docMk/>
            <pc:sldMk cId="1762785225" sldId="428"/>
            <ac:picMk id="2" creationId="{94A0DFDB-099D-9A6F-7895-A62CF3474301}"/>
          </ac:picMkLst>
        </pc:picChg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20:02:45.449" v="52"/>
        <pc:sldMkLst>
          <pc:docMk/>
          <pc:sldMk cId="1231723398" sldId="429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20:02:45.449" v="52"/>
          <ac:picMkLst>
            <pc:docMk/>
            <pc:sldMk cId="1231723398" sldId="429"/>
            <ac:picMk id="2" creationId="{64220BF8-05D9-3314-CB6C-528B5F0215CB}"/>
          </ac:picMkLst>
        </pc:picChg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20:15:55.218" v="58"/>
        <pc:sldMkLst>
          <pc:docMk/>
          <pc:sldMk cId="2353607267" sldId="430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20:15:55.218" v="58"/>
          <ac:picMkLst>
            <pc:docMk/>
            <pc:sldMk cId="2353607267" sldId="430"/>
            <ac:picMk id="2" creationId="{BDAAC5A4-B5B2-604D-D366-6490445BC431}"/>
          </ac:picMkLst>
        </pc:picChg>
      </pc:sldChg>
      <pc:sldChg chg="addSp delSp modSp add replId">
        <pc:chgData name="SEBASTIAN MONTOYA VILLADA" userId="S::sebastianmontoya8118@correo.itm.edu.co::dffcc6c4-4ec2-40a3-ba2d-1adaa01cc26d" providerId="AD" clId="Web-{A9085E3F-640F-8AC8-2CAF-A556D3A012AA}" dt="2025-08-12T20:04:38.999" v="56" actId="1076"/>
        <pc:sldMkLst>
          <pc:docMk/>
          <pc:sldMk cId="3717440452" sldId="434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20:04:38.999" v="56" actId="1076"/>
          <ac:picMkLst>
            <pc:docMk/>
            <pc:sldMk cId="3717440452" sldId="434"/>
            <ac:picMk id="13" creationId="{EAA64571-95EA-047D-61FC-F0DB3889129C}"/>
          </ac:picMkLst>
        </pc:picChg>
      </pc:sldChg>
    </pc:docChg>
  </pc:docChgLst>
  <pc:docChgLst>
    <pc:chgData name="SEBASTIAN MONTOYA VILLADA" userId="dffcc6c4-4ec2-40a3-ba2d-1adaa01cc26d" providerId="ADAL" clId="{3631816F-C42D-43AB-8BE5-E4DD25D23C65}"/>
    <pc:docChg chg="undo redo custSel addSld delSld modSld sldOrd">
      <pc:chgData name="SEBASTIAN MONTOYA VILLADA" userId="dffcc6c4-4ec2-40a3-ba2d-1adaa01cc26d" providerId="ADAL" clId="{3631816F-C42D-43AB-8BE5-E4DD25D23C65}" dt="2025-02-02T18:01:00.312" v="779" actId="20577"/>
      <pc:docMkLst>
        <pc:docMk/>
      </pc:docMkLst>
      <pc:sldChg chg="modSp mod">
        <pc:chgData name="SEBASTIAN MONTOYA VILLADA" userId="dffcc6c4-4ec2-40a3-ba2d-1adaa01cc26d" providerId="ADAL" clId="{3631816F-C42D-43AB-8BE5-E4DD25D23C65}" dt="2025-02-02T17:03:05.300" v="14" actId="113"/>
        <pc:sldMkLst>
          <pc:docMk/>
          <pc:sldMk cId="488379912" sldId="393"/>
        </pc:sldMkLst>
      </pc:sldChg>
      <pc:sldChg chg="del">
        <pc:chgData name="SEBASTIAN MONTOYA VILLADA" userId="dffcc6c4-4ec2-40a3-ba2d-1adaa01cc26d" providerId="ADAL" clId="{3631816F-C42D-43AB-8BE5-E4DD25D23C65}" dt="2025-02-02T17:02:00.742" v="0" actId="47"/>
        <pc:sldMkLst>
          <pc:docMk/>
          <pc:sldMk cId="2101273427" sldId="394"/>
        </pc:sldMkLst>
      </pc:sldChg>
      <pc:sldChg chg="del">
        <pc:chgData name="SEBASTIAN MONTOYA VILLADA" userId="dffcc6c4-4ec2-40a3-ba2d-1adaa01cc26d" providerId="ADAL" clId="{3631816F-C42D-43AB-8BE5-E4DD25D23C65}" dt="2025-02-02T17:02:01.416" v="1" actId="47"/>
        <pc:sldMkLst>
          <pc:docMk/>
          <pc:sldMk cId="2390427211" sldId="397"/>
        </pc:sldMkLst>
      </pc:sldChg>
      <pc:sldChg chg="addSp modSp mod ord">
        <pc:chgData name="SEBASTIAN MONTOYA VILLADA" userId="dffcc6c4-4ec2-40a3-ba2d-1adaa01cc26d" providerId="ADAL" clId="{3631816F-C42D-43AB-8BE5-E4DD25D23C65}" dt="2025-02-02T17:39:22.546" v="457" actId="20577"/>
        <pc:sldMkLst>
          <pc:docMk/>
          <pc:sldMk cId="656435192" sldId="398"/>
        </pc:sldMkLst>
      </pc:sldChg>
      <pc:sldChg chg="del">
        <pc:chgData name="SEBASTIAN MONTOYA VILLADA" userId="dffcc6c4-4ec2-40a3-ba2d-1adaa01cc26d" providerId="ADAL" clId="{3631816F-C42D-43AB-8BE5-E4DD25D23C65}" dt="2025-02-02T17:02:07.342" v="2" actId="47"/>
        <pc:sldMkLst>
          <pc:docMk/>
          <pc:sldMk cId="3304403443" sldId="399"/>
        </pc:sldMkLst>
      </pc:sldChg>
      <pc:sldChg chg="del">
        <pc:chgData name="SEBASTIAN MONTOYA VILLADA" userId="dffcc6c4-4ec2-40a3-ba2d-1adaa01cc26d" providerId="ADAL" clId="{3631816F-C42D-43AB-8BE5-E4DD25D23C65}" dt="2025-02-02T17:02:12.379" v="3" actId="47"/>
        <pc:sldMkLst>
          <pc:docMk/>
          <pc:sldMk cId="2787044806" sldId="400"/>
        </pc:sldMkLst>
      </pc:sldChg>
      <pc:sldChg chg="del">
        <pc:chgData name="SEBASTIAN MONTOYA VILLADA" userId="dffcc6c4-4ec2-40a3-ba2d-1adaa01cc26d" providerId="ADAL" clId="{3631816F-C42D-43AB-8BE5-E4DD25D23C65}" dt="2025-02-02T17:37:33.435" v="297" actId="47"/>
        <pc:sldMkLst>
          <pc:docMk/>
          <pc:sldMk cId="47168701" sldId="401"/>
        </pc:sldMkLst>
      </pc:sldChg>
      <pc:sldChg chg="modSp">
        <pc:chgData name="SEBASTIAN MONTOYA VILLADA" userId="dffcc6c4-4ec2-40a3-ba2d-1adaa01cc26d" providerId="ADAL" clId="{3631816F-C42D-43AB-8BE5-E4DD25D23C65}" dt="2025-02-02T17:02:58.756" v="13" actId="20577"/>
        <pc:sldMkLst>
          <pc:docMk/>
          <pc:sldMk cId="2608532953" sldId="403"/>
        </pc:sldMkLst>
      </pc:sldChg>
      <pc:sldChg chg="modSp mod">
        <pc:chgData name="SEBASTIAN MONTOYA VILLADA" userId="dffcc6c4-4ec2-40a3-ba2d-1adaa01cc26d" providerId="ADAL" clId="{3631816F-C42D-43AB-8BE5-E4DD25D23C65}" dt="2025-02-02T17:04:29.073" v="32" actId="1076"/>
        <pc:sldMkLst>
          <pc:docMk/>
          <pc:sldMk cId="1301947520" sldId="405"/>
        </pc:sldMkLst>
      </pc:sldChg>
      <pc:sldChg chg="addSp delSp modSp add mod">
        <pc:chgData name="SEBASTIAN MONTOYA VILLADA" userId="dffcc6c4-4ec2-40a3-ba2d-1adaa01cc26d" providerId="ADAL" clId="{3631816F-C42D-43AB-8BE5-E4DD25D23C65}" dt="2025-02-02T17:52:49.619" v="671" actId="20577"/>
        <pc:sldMkLst>
          <pc:docMk/>
          <pc:sldMk cId="4072667157" sldId="406"/>
        </pc:sldMkLst>
      </pc:sldChg>
      <pc:sldChg chg="delSp modSp add mod">
        <pc:chgData name="SEBASTIAN MONTOYA VILLADA" userId="dffcc6c4-4ec2-40a3-ba2d-1adaa01cc26d" providerId="ADAL" clId="{3631816F-C42D-43AB-8BE5-E4DD25D23C65}" dt="2025-02-02T17:12:34.296" v="131" actId="1076"/>
        <pc:sldMkLst>
          <pc:docMk/>
          <pc:sldMk cId="2106485477" sldId="407"/>
        </pc:sldMkLst>
      </pc:sldChg>
      <pc:sldChg chg="modSp add del mod">
        <pc:chgData name="SEBASTIAN MONTOYA VILLADA" userId="dffcc6c4-4ec2-40a3-ba2d-1adaa01cc26d" providerId="ADAL" clId="{3631816F-C42D-43AB-8BE5-E4DD25D23C65}" dt="2025-02-02T17:55:10.721" v="672" actId="47"/>
        <pc:sldMkLst>
          <pc:docMk/>
          <pc:sldMk cId="2579195081" sldId="408"/>
        </pc:sldMkLst>
      </pc:sldChg>
      <pc:sldChg chg="modSp add">
        <pc:chgData name="SEBASTIAN MONTOYA VILLADA" userId="dffcc6c4-4ec2-40a3-ba2d-1adaa01cc26d" providerId="ADAL" clId="{3631816F-C42D-43AB-8BE5-E4DD25D23C65}" dt="2025-02-02T17:24:32.680" v="148" actId="1076"/>
        <pc:sldMkLst>
          <pc:docMk/>
          <pc:sldMk cId="8677875" sldId="409"/>
        </pc:sldMkLst>
      </pc:sldChg>
      <pc:sldChg chg="addSp delSp modSp add mod">
        <pc:chgData name="SEBASTIAN MONTOYA VILLADA" userId="dffcc6c4-4ec2-40a3-ba2d-1adaa01cc26d" providerId="ADAL" clId="{3631816F-C42D-43AB-8BE5-E4DD25D23C65}" dt="2025-02-02T17:18:38.162" v="147" actId="1076"/>
        <pc:sldMkLst>
          <pc:docMk/>
          <pc:sldMk cId="4186104522" sldId="410"/>
        </pc:sldMkLst>
      </pc:sldChg>
      <pc:sldChg chg="add del ord">
        <pc:chgData name="SEBASTIAN MONTOYA VILLADA" userId="dffcc6c4-4ec2-40a3-ba2d-1adaa01cc26d" providerId="ADAL" clId="{3631816F-C42D-43AB-8BE5-E4DD25D23C65}" dt="2025-02-02T17:52:43.562" v="670" actId="47"/>
        <pc:sldMkLst>
          <pc:docMk/>
          <pc:sldMk cId="826557915" sldId="411"/>
        </pc:sldMkLst>
      </pc:sldChg>
      <pc:sldChg chg="addSp modSp add mod">
        <pc:chgData name="SEBASTIAN MONTOYA VILLADA" userId="dffcc6c4-4ec2-40a3-ba2d-1adaa01cc26d" providerId="ADAL" clId="{3631816F-C42D-43AB-8BE5-E4DD25D23C65}" dt="2025-02-02T17:31:21.563" v="201" actId="20577"/>
        <pc:sldMkLst>
          <pc:docMk/>
          <pc:sldMk cId="1378449796" sldId="412"/>
        </pc:sldMkLst>
      </pc:sldChg>
      <pc:sldChg chg="addSp delSp modSp add mod">
        <pc:chgData name="SEBASTIAN MONTOYA VILLADA" userId="dffcc6c4-4ec2-40a3-ba2d-1adaa01cc26d" providerId="ADAL" clId="{3631816F-C42D-43AB-8BE5-E4DD25D23C65}" dt="2025-02-02T17:36:13.703" v="294" actId="20577"/>
        <pc:sldMkLst>
          <pc:docMk/>
          <pc:sldMk cId="1222767551" sldId="413"/>
        </pc:sldMkLst>
      </pc:sldChg>
      <pc:sldChg chg="modSp add mod">
        <pc:chgData name="SEBASTIAN MONTOYA VILLADA" userId="dffcc6c4-4ec2-40a3-ba2d-1adaa01cc26d" providerId="ADAL" clId="{3631816F-C42D-43AB-8BE5-E4DD25D23C65}" dt="2025-02-02T17:44:28.316" v="637" actId="20577"/>
        <pc:sldMkLst>
          <pc:docMk/>
          <pc:sldMk cId="2733277947" sldId="414"/>
        </pc:sldMkLst>
      </pc:sldChg>
      <pc:sldChg chg="modSp add mod">
        <pc:chgData name="SEBASTIAN MONTOYA VILLADA" userId="dffcc6c4-4ec2-40a3-ba2d-1adaa01cc26d" providerId="ADAL" clId="{3631816F-C42D-43AB-8BE5-E4DD25D23C65}" dt="2025-02-02T17:51:15.065" v="669" actId="1076"/>
        <pc:sldMkLst>
          <pc:docMk/>
          <pc:sldMk cId="3342312546" sldId="415"/>
        </pc:sldMkLst>
      </pc:sldChg>
      <pc:sldChg chg="delSp modSp add mod">
        <pc:chgData name="SEBASTIAN MONTOYA VILLADA" userId="dffcc6c4-4ec2-40a3-ba2d-1adaa01cc26d" providerId="ADAL" clId="{3631816F-C42D-43AB-8BE5-E4DD25D23C65}" dt="2025-02-02T17:59:56.766" v="724" actId="20577"/>
        <pc:sldMkLst>
          <pc:docMk/>
          <pc:sldMk cId="3813547514" sldId="416"/>
        </pc:sldMkLst>
      </pc:sldChg>
      <pc:sldChg chg="modSp add mod">
        <pc:chgData name="SEBASTIAN MONTOYA VILLADA" userId="dffcc6c4-4ec2-40a3-ba2d-1adaa01cc26d" providerId="ADAL" clId="{3631816F-C42D-43AB-8BE5-E4DD25D23C65}" dt="2025-02-02T18:01:00.312" v="779" actId="20577"/>
        <pc:sldMkLst>
          <pc:docMk/>
          <pc:sldMk cId="2942061237" sldId="417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9A39C6-7AC7-DE48-A7E7-5D665BC0120C}" type="datetimeFigureOut">
              <a:rPr lang="es-CO" smtClean="0"/>
              <a:t>18/08/2026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6A6DC4-62F6-D744-9B5A-2471E53D227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04731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/>
              <a:t>Título</a:t>
            </a:r>
            <a:endParaRPr lang="es-C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18/08/2026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32758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18/08/2026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77814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18/08/2026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38282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18/08/2026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68770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18/08/2026</a:t>
            </a:fld>
            <a:endParaRPr lang="es-C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04903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18/08/2026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90072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18/08/2026</a:t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97911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18/08/2026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0769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18/08/2026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46961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18/08/2026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08025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18/08/2026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452423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C7DC55F-43BB-FB49-985D-1CA2736A2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18/08/2026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23304A2-70B6-DF4D-80BD-AD524CAF4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85EBE7F-1BF7-4741-937F-BD93F139F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931673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/>
              <a:t>Título</a:t>
            </a:r>
            <a:endParaRPr lang="es-C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18/08/2026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114393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18/08/2026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095273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18/08/2026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593016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18/08/2026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062647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18/08/2026</a:t>
            </a:fld>
            <a:endParaRPr lang="es-C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942893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18/08/2026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245509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18/08/2026</a:t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783100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18/08/2026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533632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18/08/2026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853981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18/08/2026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683209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18/08/2026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4645532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C7DC55F-43BB-FB49-985D-1CA2736A2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18/08/2026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23304A2-70B6-DF4D-80BD-AD524CAF4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85EBE7F-1BF7-4741-937F-BD93F139F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8177478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jpeg"/><Relationship Id="rId15" Type="http://schemas.openxmlformats.org/officeDocument/2006/relationships/image" Target="../media/image2.jpe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theme" Target="../theme/theme2.xml"/><Relationship Id="rId14" Type="http://schemas.openxmlformats.org/officeDocument/2006/relationships/image" Target="../media/image1.jpeg"/><Relationship Id="rId15" Type="http://schemas.openxmlformats.org/officeDocument/2006/relationships/image" Target="../media/image3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99EB6C-330A-4556-AC8C-E5A501B46336}" type="datetimeFigureOut">
              <a:rPr lang="es-CO" smtClean="0"/>
              <a:t>18/08/2026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EBCE69C-0E9C-5945-8C5B-51CD63616BCB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315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99EB6C-330A-4556-AC8C-E5A501B46336}" type="datetimeFigureOut">
              <a:rPr lang="es-CO" smtClean="0"/>
              <a:t>18/08/2026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3619E48-770E-3797-B2B5-4B5A3A2FE52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474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eg"/><Relationship Id="rId3" Type="http://schemas.openxmlformats.org/officeDocument/2006/relationships/image" Target="../media/image9.jpe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sp>
        <p:nvSpPr>
          <p:cNvPr id="7" name="Google Shape;42;p1">
            <a:extLst>
              <a:ext uri="{FF2B5EF4-FFF2-40B4-BE49-F238E27FC236}">
                <a16:creationId xmlns:a16="http://schemas.microsoft.com/office/drawing/2014/main" id="{2B45B46A-91AE-80AB-4C52-6F9A4C7FEC60}"/>
              </a:ext>
            </a:extLst>
          </p:cNvPr>
          <p:cNvSpPr txBox="1">
            <a:spLocks noGrp="1"/>
          </p:cNvSpPr>
          <p:nvPr/>
        </p:nvSpPr>
        <p:spPr>
          <a:xfrm>
            <a:off x="1210255" y="2398152"/>
            <a:ext cx="9373925" cy="2962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None/>
              <a:defRPr sz="36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s-CO" sz="5400" dirty="0">
                <a:solidFill>
                  <a:schemeClr val="lt1"/>
                </a:solidFill>
              </a:rPr>
              <a:t>Matemáticas para la informática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endParaRPr lang="es-CO" sz="5400" dirty="0"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s-CO" sz="5400" dirty="0">
                <a:solidFill>
                  <a:schemeClr val="lt1"/>
                </a:solidFill>
              </a:rPr>
              <a:t>Sesión 12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endParaRPr lang="es-CO" sz="5400" dirty="0"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s-CO" sz="2000" dirty="0">
                <a:solidFill>
                  <a:schemeClr val="lt1"/>
                </a:solidFill>
              </a:rPr>
              <a:t>Sebastian Montoya Villada</a:t>
            </a:r>
          </a:p>
        </p:txBody>
      </p:sp>
    </p:spTree>
    <p:extLst>
      <p:ext uri="{BB962C8B-B14F-4D97-AF65-F5344CB8AC3E}">
        <p14:creationId xmlns:p14="http://schemas.microsoft.com/office/powerpoint/2010/main" val="1972982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1525" y="6105525"/>
            <a:ext cx="10648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771524" y="1870256"/>
            <a:ext cx="11181397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Contenido</a:t>
            </a:r>
            <a:endParaRPr dirty="0"/>
          </a:p>
        </p:txBody>
      </p:sp>
      <p:sp>
        <p:nvSpPr>
          <p:cNvPr id="100" name="Google Shape;100;p14"/>
          <p:cNvSpPr txBox="1"/>
          <p:nvPr/>
        </p:nvSpPr>
        <p:spPr>
          <a:xfrm>
            <a:off x="771525" y="6305550"/>
            <a:ext cx="6000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AGENDA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1229975" y="6305550"/>
            <a:ext cx="1905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12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071562" y="2831455"/>
            <a:ext cx="47720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Qué es una relación</a:t>
            </a:r>
            <a:endParaRPr sz="2400" dirty="0"/>
          </a:p>
        </p:txBody>
      </p:sp>
      <p:sp>
        <p:nvSpPr>
          <p:cNvPr id="103" name="Google Shape;103;p14"/>
          <p:cNvSpPr/>
          <p:nvPr/>
        </p:nvSpPr>
        <p:spPr>
          <a:xfrm>
            <a:off x="771524" y="2937057"/>
            <a:ext cx="50387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1071562" y="3583930"/>
            <a:ext cx="47720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Relaciones como conjunto de pares</a:t>
            </a:r>
            <a:endParaRPr sz="2400" dirty="0"/>
          </a:p>
        </p:txBody>
      </p:sp>
      <p:sp>
        <p:nvSpPr>
          <p:cNvPr id="105" name="Google Shape;105;p14"/>
          <p:cNvSpPr/>
          <p:nvPr/>
        </p:nvSpPr>
        <p:spPr>
          <a:xfrm>
            <a:off x="771524" y="3689532"/>
            <a:ext cx="50387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1071562" y="4331643"/>
            <a:ext cx="47720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Reflexiva, simétrica, antisimétrica y transitiva</a:t>
            </a:r>
            <a:endParaRPr sz="2400"/>
          </a:p>
        </p:txBody>
      </p:sp>
      <p:sp>
        <p:nvSpPr>
          <p:cNvPr id="107" name="Google Shape;107;p14"/>
          <p:cNvSpPr txBox="1"/>
          <p:nvPr/>
        </p:nvSpPr>
        <p:spPr>
          <a:xfrm>
            <a:off x="6634163" y="2831455"/>
            <a:ext cx="47720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Equivalencia, orden parcial y actividades</a:t>
            </a:r>
            <a:endParaRPr sz="2400"/>
          </a:p>
        </p:txBody>
      </p:sp>
      <p:sp>
        <p:nvSpPr>
          <p:cNvPr id="108" name="Google Shape;108;p14"/>
          <p:cNvSpPr/>
          <p:nvPr/>
        </p:nvSpPr>
        <p:spPr>
          <a:xfrm>
            <a:off x="6367463" y="3357562"/>
            <a:ext cx="50387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6634163" y="3505498"/>
            <a:ext cx="477202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Errores frecuentes</a:t>
            </a:r>
            <a:endParaRPr sz="2400"/>
          </a:p>
        </p:txBody>
      </p:sp>
      <p:sp>
        <p:nvSpPr>
          <p:cNvPr id="110" name="Google Shape;110;p14"/>
          <p:cNvSpPr txBox="1"/>
          <p:nvPr/>
        </p:nvSpPr>
        <p:spPr>
          <a:xfrm>
            <a:off x="6362222" y="4550000"/>
            <a:ext cx="4429125" cy="1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Objetivo: representar una relación como pares, verificar sus propiedades, y clasificarla como equivalencia, orden parcial, o ninguna.</a:t>
            </a:r>
            <a:endParaRPr sz="2400" dirty="0"/>
          </a:p>
        </p:txBody>
      </p:sp>
      <p:sp>
        <p:nvSpPr>
          <p:cNvPr id="111" name="Google Shape;111;p14"/>
          <p:cNvSpPr/>
          <p:nvPr/>
        </p:nvSpPr>
        <p:spPr>
          <a:xfrm>
            <a:off x="771524" y="2937057"/>
            <a:ext cx="50387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/>
          <p:nvPr/>
        </p:nvSpPr>
        <p:spPr>
          <a:xfrm>
            <a:off x="771524" y="3689532"/>
            <a:ext cx="50387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/>
          <p:nvPr/>
        </p:nvSpPr>
        <p:spPr>
          <a:xfrm>
            <a:off x="6367463" y="3357562"/>
            <a:ext cx="50387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4862" y="2957512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4" y="3720917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4862" y="4462462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67463" y="2957512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67463" y="3867149"/>
            <a:ext cx="12382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De funciones a relaciones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Se levanta la restricción que definía a las funciones.</a:t>
            </a:r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768096" y="2377440"/>
            <a:ext cx="5212080" cy="192024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Google Shape;107;p14"/>
          <p:cNvSpPr txBox="1"/>
          <p:nvPr/>
        </p:nvSpPr>
        <p:spPr>
          <a:xfrm>
            <a:off x="996696" y="252374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Una función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996696" y="2944368"/>
            <a:ext cx="475488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Es un subconjunto de A × B donde cada elemento de A aparece exactamente una vez.</a:t>
            </a:r>
          </a:p>
          <a:p>
            <a:pPr>
              <a:spcAft>
                <a:spcPts val="8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Ni cero veces, ni dos.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6208776" y="2377440"/>
            <a:ext cx="5212080" cy="192024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Google Shape;107;p14"/>
          <p:cNvSpPr txBox="1"/>
          <p:nvPr/>
        </p:nvSpPr>
        <p:spPr>
          <a:xfrm>
            <a:off x="6437376" y="252374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Una relación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437376" y="2944368"/>
            <a:ext cx="475488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Es cualquier subconjunto de A × B, sin ninguna restricción.</a:t>
            </a:r>
          </a:p>
          <a:p>
            <a:pPr>
              <a:spcAft>
                <a:spcPts val="8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Un elemento puede relacionarse con varios, o con ninguno.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768096" y="4480560"/>
            <a:ext cx="10652760" cy="164592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Google Shape;107;p14"/>
          <p:cNvSpPr txBox="1"/>
          <p:nvPr/>
        </p:nvSpPr>
        <p:spPr>
          <a:xfrm>
            <a:off x="1051560" y="461772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La consecuencia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1051560" y="5029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Toda función es una relación, pero no toda relación es función. Las relaciones son más generales, y por eso permiten modelar cosas que una función no puede: «x es compañero de y», «x divide a y», «x tiene la misma edad que y».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Qué es una relación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La definición y su notación.</a:t>
            </a:r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768096" y="2286000"/>
            <a:ext cx="10652760" cy="86868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Google Shape;107;p14"/>
          <p:cNvSpPr txBox="1"/>
          <p:nvPr/>
        </p:nvSpPr>
        <p:spPr>
          <a:xfrm>
            <a:off x="1097280" y="2468880"/>
            <a:ext cx="9966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Una relación R de A en B es un subconjunto de A × B.     Se escribe  a R b  cuando  (a, b) ∈ R</a:t>
            </a:r>
            <a:endParaRPr/>
          </a:p>
        </p:txBody>
      </p:sp>
      <p:sp>
        <p:nvSpPr>
          <p:cNvPr id="109" name="Rounded Rectangle 108"/>
          <p:cNvSpPr/>
          <p:nvPr/>
        </p:nvSpPr>
        <p:spPr>
          <a:xfrm>
            <a:off x="768096" y="3337560"/>
            <a:ext cx="3337560" cy="182880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Google Shape;107;p14"/>
          <p:cNvSpPr txBox="1"/>
          <p:nvPr/>
        </p:nvSpPr>
        <p:spPr>
          <a:xfrm>
            <a:off x="996696" y="3483864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Relación en un conjunto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996696" y="3904488"/>
            <a:ext cx="288036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7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Cuando A = B se dice que R es una relación en A.</a:t>
            </a:r>
          </a:p>
          <a:p>
            <a:pPr>
              <a:spcAft>
                <a:spcPts val="7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Es el caso más frecuente.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4425696" y="3337560"/>
            <a:ext cx="3337560" cy="182880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Google Shape;107;p14"/>
          <p:cNvSpPr txBox="1"/>
          <p:nvPr/>
        </p:nvSpPr>
        <p:spPr>
          <a:xfrm>
            <a:off x="4654296" y="3483864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Ejemplo numérico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4654296" y="3904488"/>
            <a:ext cx="288036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500"/>
              </a:spcAft>
            </a:pPr>
            <a:r>
              <a:rPr lang="en-US" sz="12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En A = { 1, 2, 3 }:</a:t>
            </a:r>
          </a:p>
          <a:p>
            <a:pPr>
              <a:spcAft>
                <a:spcPts val="500"/>
              </a:spcAft>
            </a:pPr>
            <a:r>
              <a:rPr lang="en-US" sz="12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R = { (a,b) : a ≤ b }</a:t>
            </a:r>
          </a:p>
          <a:p>
            <a:pPr>
              <a:spcAft>
                <a:spcPts val="500"/>
              </a:spcAft>
            </a:pPr>
            <a:r>
              <a:rPr lang="en-US" sz="12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= { (1,1),(1,2),(1,3),(2,2),(2,3),(3,3) }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8083296" y="3337560"/>
            <a:ext cx="3337560" cy="182880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Google Shape;107;p14"/>
          <p:cNvSpPr txBox="1"/>
          <p:nvPr/>
        </p:nvSpPr>
        <p:spPr>
          <a:xfrm>
            <a:off x="8311896" y="3483864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Ejemplo cotidiano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311896" y="3904488"/>
            <a:ext cx="288036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7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«x es compañero de y» sobre el conjunto de estudiantes del grupo.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768096" y="5349240"/>
            <a:ext cx="10652760" cy="82296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Google Shape;107;p14"/>
          <p:cNvSpPr txBox="1"/>
          <p:nvPr/>
        </p:nvSpPr>
        <p:spPr>
          <a:xfrm>
            <a:off x="1051560" y="553212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Una relación queda completamente determinada por el conjunto de parejas que la forman: decir cuál es la relación es decir qué parejas están dentro.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Cómo se representa una relación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Con  A = { 1, 2, 3 }  y  R = { (1,1), (1,2), (2,3), (3,1) }.</a:t>
            </a:r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3958000" y="2377440"/>
            <a:ext cx="42770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E3A8A"/>
                </a:solidFill>
                <a:latin typeface="Montserrat"/>
              </a:rPr>
              <a:t>Conjunto de pares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3500000" y="2743200"/>
            <a:ext cx="5192000" cy="100584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Google Shape;107;p14"/>
          <p:cNvSpPr txBox="1"/>
          <p:nvPr/>
        </p:nvSpPr>
        <p:spPr>
          <a:xfrm>
            <a:off x="960120" y="306324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{ (1,1), (1,2), (2,3), (3,1) }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3958000" y="5257800"/>
            <a:ext cx="4277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Una relación es literalmente un conjunto de parejas ordenadas: para saber si (a,b) está relacionado, basta con buscar la pareja (a,b) en R.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Ejemplo resuelto 1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Escriba la relación «a divide a b» sobre A = { 1, 2, 3, 4 } como conjunto de pares.</a:t>
            </a:r>
            <a:endParaRPr/>
          </a:p>
        </p:txBody>
      </p:sp>
      <p:sp>
        <p:nvSpPr>
          <p:cNvPr id="109" name="Rounded Rectangle 108"/>
          <p:cNvSpPr/>
          <p:nvPr/>
        </p:nvSpPr>
        <p:spPr>
          <a:xfrm>
            <a:off x="5486400" y="2606040"/>
            <a:ext cx="5943600" cy="137160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Google Shape;107;p14"/>
          <p:cNvSpPr txBox="1"/>
          <p:nvPr/>
        </p:nvSpPr>
        <p:spPr>
          <a:xfrm>
            <a:off x="771525" y="2752344"/>
            <a:ext cx="1064895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Como conjunto de pares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3172968"/>
            <a:ext cx="1064895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2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{ (1,1),(1,2),(1,3),(1,4),(2,2),(2,4),(3,3),(4,4) }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5486400" y="4114800"/>
            <a:ext cx="5943600" cy="146304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Google Shape;107;p14"/>
          <p:cNvSpPr txBox="1"/>
          <p:nvPr/>
        </p:nvSpPr>
        <p:spPr>
          <a:xfrm>
            <a:off x="5715000" y="4261104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Qué se puede leer directamente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5715000" y="4681728"/>
            <a:ext cx="54864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2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Todas las parejas (n,n) aparecen: todo número se divide a sí mismo.
No aparece (2,1): 1 divide a 2 pero 2 no divide a 1, así que la relación no es simétrica.</a:t>
            </a:r>
          </a:p>
        </p:txBody>
      </p:sp>
      <p:sp>
        <p:nvSpPr>
          <p:cNvPr id="107" name="Google Shape;107;p14"/>
          <p:cNvSpPr txBox="1"/>
          <p:nvPr/>
        </p:nvSpPr>
        <p:spPr>
          <a:xfrm>
            <a:off x="768096" y="5257800"/>
            <a:ext cx="106527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Buscar las parejas (n,n) y comparar cada pareja con su inversa permite adivinar las propiedades antes de verificarlas.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Actividad 1: represente la relación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Sobre A = { 1, 2, 3 }, con  R = { (1,2), (2,1), (2,2), (3,3) }.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768096" y="2697480"/>
            <a:ext cx="10652760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2400"/>
              </a:spcAft>
            </a:pPr>
            <a:r>
              <a:rPr lang="en-US" sz="16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1)   Liste los pares de R.
2)   ¿Pertenece (1,3) a R? ¿Y (3,1)?
3)   ¿Cuántas parejas tiene A × A? ¿Cuántas relaciones distintas se pueden definir en A?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768096" y="5120640"/>
            <a:ext cx="10652760" cy="105156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Google Shape;107;p14"/>
          <p:cNvSpPr txBox="1"/>
          <p:nvPr/>
        </p:nvSpPr>
        <p:spPr>
          <a:xfrm>
            <a:off x="1051560" y="53492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El punto 3 combina lo de hoy con el conjunto potencia: una relación en A es un subconjunto de A × A.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Actividad 1 — Solución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Las tres respuestas.</a:t>
            </a:r>
            <a:endParaRPr/>
          </a:p>
        </p:txBody>
      </p:sp>
      <p:sp>
        <p:nvSpPr>
          <p:cNvPr id="116" name="Rounded Rectangle 115"/>
          <p:cNvSpPr/>
          <p:nvPr/>
        </p:nvSpPr>
        <p:spPr>
          <a:xfrm>
            <a:off x="8778240" y="2606040"/>
            <a:ext cx="2651760" cy="210312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Google Shape;107;p14"/>
          <p:cNvSpPr txBox="1"/>
          <p:nvPr/>
        </p:nvSpPr>
        <p:spPr>
          <a:xfrm>
            <a:off x="9006840" y="2752344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Punto 3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9006840" y="3172968"/>
            <a:ext cx="219456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|A × A| = 9</a:t>
            </a:r>
          </a:p>
          <a:p>
            <a:pPr>
              <a:spcAft>
                <a:spcPts val="8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Relaciones posibles: 2⁹ = 512</a:t>
            </a:r>
          </a:p>
        </p:txBody>
      </p:sp>
      <p:sp>
        <p:nvSpPr>
          <p:cNvPr id="107" name="Google Shape;107;p14"/>
          <p:cNvSpPr txBox="1"/>
          <p:nvPr/>
        </p:nvSpPr>
        <p:spPr>
          <a:xfrm>
            <a:off x="768096" y="5532120"/>
            <a:ext cx="106527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Cada relación es un subconjunto de las nueve parejas, así que hay tantas relaciones como subconjuntos de A × A.</a:t>
            </a:r>
            <a:endParaRPr/>
          </a:p>
        </p:txBody>
      </p:sp>
      <p:graphicFrame>
        <p:nvGraphicFramePr>
          <p:cNvPr id="117" name="Table 116"/>
          <p:cNvGraphicFramePr>
            <a:graphicFrameLocks noGrp="1"/>
          </p:cNvGraphicFramePr>
          <p:nvPr/>
        </p:nvGraphicFramePr>
        <p:xfrm>
          <a:off x="771525" y="2500000"/>
          <a:ext cx="6900000" cy="23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0000"/>
                <a:gridCol w="6210000"/>
              </a:tblGrid>
              <a:tr h="57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3A8A"/>
                          </a:solidFill>
                        </a:rPr>
                        <a:t>#</a:t>
                      </a:r>
                    </a:p>
                  </a:txBody>
                  <a:tcPr marL="91440" marR="91440" marT="27432" marB="27432"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3A8A"/>
                          </a:solidFill>
                        </a:rPr>
                        <a:t>Respuesta</a:t>
                      </a:r>
                    </a:p>
                  </a:txBody>
                  <a:tcPr marL="91440" marR="91440" marT="27432" marB="27432" anchor="ctr">
                    <a:solidFill>
                      <a:srgbClr val="EFF3FA"/>
                    </a:solidFill>
                  </a:tcPr>
                </a:tc>
              </a:tr>
              <a:tr h="5750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</a:rPr>
                        <a:t>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</a:rPr>
                        <a:t>R = {(1,2), (2,1), (2,2), (3,3)} — ya está dado como conjunto de pares.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750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</a:rPr>
                        <a:t>2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</a:rPr>
                        <a:t>(1,3) ∉ R y (3,1) ∉ R: ninguna de las dos parejas aparece en R.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</a:tr>
              <a:tr h="5750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</a:rPr>
                        <a:t>3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</a:rPr>
                        <a:t>|A × A| = 9. Relaciones posibles = 2⁹ = 512, una por cada subconjunto de A × A.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Las cuatro propiedades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Se verifican sobre relaciones definidas en un mismo conjunto.</a:t>
            </a:r>
            <a:endParaRPr/>
          </a:p>
        </p:txBody>
      </p:sp>
      <p:sp>
        <p:nvSpPr>
          <p:cNvPr id="109" name="Rounded Rectangle 108"/>
          <p:cNvSpPr/>
          <p:nvPr/>
        </p:nvSpPr>
        <p:spPr>
          <a:xfrm>
            <a:off x="768096" y="5303520"/>
            <a:ext cx="10652760" cy="86868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Google Shape;107;p14"/>
          <p:cNvSpPr txBox="1"/>
          <p:nvPr/>
        </p:nvSpPr>
        <p:spPr>
          <a:xfrm>
            <a:off x="1051560" y="585000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Las cuatro definiciones son enunciados cuantificados: para refutar una basta un contraejemplo, y para verificarla hay que revisar todos los elementos. Es la sesión 5 aplicada aquí.</a:t>
            </a:r>
            <a:endParaRPr/>
          </a:p>
        </p:txBody>
      </p:sp>
      <p:graphicFrame>
        <p:nvGraphicFramePr>
          <p:cNvPr id="110" name="Table 109"/>
          <p:cNvGraphicFramePr>
            <a:graphicFrameLocks noGrp="1"/>
          </p:cNvGraphicFramePr>
          <p:nvPr/>
        </p:nvGraphicFramePr>
        <p:xfrm>
          <a:off x="771525" y="2350000"/>
          <a:ext cx="10648950" cy="33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9790"/>
                <a:gridCol w="4259580"/>
                <a:gridCol w="4259580"/>
              </a:tblGrid>
              <a:tr h="66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3A8A"/>
                          </a:solidFill>
                        </a:rPr>
                        <a:t>Propiedad</a:t>
                      </a:r>
                    </a:p>
                  </a:txBody>
                  <a:tcPr marL="91440" marR="91440" marT="27432" marB="27432"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3A8A"/>
                          </a:solidFill>
                        </a:rPr>
                        <a:t>Definición</a:t>
                      </a:r>
                    </a:p>
                  </a:txBody>
                  <a:tcPr marL="91440" marR="91440" marT="27432" marB="27432"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3A8A"/>
                          </a:solidFill>
                        </a:rPr>
                        <a:t>Cómo verificarla en los pares</a:t>
                      </a:r>
                    </a:p>
                  </a:txBody>
                  <a:tcPr marL="91440" marR="91440" marT="27432" marB="27432" anchor="ctr">
                    <a:solidFill>
                      <a:srgbClr val="EFF3FA"/>
                    </a:solidFill>
                  </a:tcPr>
                </a:tc>
              </a:tr>
              <a:tr h="660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Reflexiva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∀a ∈ A,  (a, a) ∈ 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Busque (a,a) para cada a ∈ A.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660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Simétrica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(a,b) ∈ R → (b,a) ∈ R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Si está (a,b), busque también (b,a).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</a:tr>
              <a:tr h="660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Antisimétrica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(a,b)∈R ∧ (b,a)∈R → a=b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Si (a,b) y (b,a) están con a≠b, falla.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660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Transitiva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(a,b)∈R ∧ (b,c)∈R → (a,c)∈R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Si están (a,b) y (b,c), busque (a,c).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Ejemplo resuelto 2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Verifique las cuatro propiedades de  R = { (1,1),(2,2),(3,3),(1,2),(2,1) }  en A = { 1,2,3 }.</a:t>
            </a:r>
            <a:endParaRPr/>
          </a:p>
        </p:txBody>
      </p:sp>
      <p:graphicFrame>
        <p:nvGraphicFramePr>
          <p:cNvPr id="108" name="Table 107"/>
          <p:cNvGraphicFramePr>
            <a:graphicFrameLocks noGrp="1"/>
          </p:cNvGraphicFramePr>
          <p:nvPr/>
        </p:nvGraphicFramePr>
        <p:xfrm>
          <a:off x="768096" y="2514600"/>
          <a:ext cx="10652757" cy="2971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30551"/>
                <a:gridCol w="2130551"/>
                <a:gridCol w="6391655"/>
              </a:tblGrid>
              <a:tr h="5943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3A8A"/>
                          </a:solidFill>
                        </a:rPr>
                        <a:t>Propiedad</a:t>
                      </a:r>
                    </a:p>
                  </a:txBody>
                  <a:tcPr marT="27432" marB="27432" marL="91440" marR="91440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3A8A"/>
                          </a:solidFill>
                        </a:rPr>
                        <a:t>¿Se cumple?</a:t>
                      </a:r>
                    </a:p>
                  </a:txBody>
                  <a:tcPr marT="27432" marB="27432" marL="91440" marR="91440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3A8A"/>
                          </a:solidFill>
                        </a:rPr>
                        <a:t>Verificación</a:t>
                      </a:r>
                    </a:p>
                  </a:txBody>
                  <a:tcPr marT="27432" marB="27432" marL="91440" marR="91440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</a:rPr>
                        <a:t>Reflexiva</a:t>
                      </a:r>
                    </a:p>
                  </a:txBody>
                  <a:tcPr marT="27432" marB="27432" marL="91440" marR="91440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</a:rPr>
                        <a:t>Sí</a:t>
                      </a:r>
                    </a:p>
                  </a:txBody>
                  <a:tcPr marT="27432" marB="27432" marL="91440" marR="91440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</a:rPr>
                        <a:t>Están (1,1), (2,2) y (3,3): las tres parejas (a,a).</a:t>
                      </a:r>
                    </a:p>
                  </a:txBody>
                  <a:tcPr marT="27432" marB="27432" marL="91440" marR="91440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</a:rPr>
                        <a:t>Simétrica</a:t>
                      </a:r>
                    </a:p>
                  </a:txBody>
                  <a:tcPr marT="27432" marB="27432" marL="91440" marR="91440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</a:rPr>
                        <a:t>Sí</a:t>
                      </a:r>
                    </a:p>
                  </a:txBody>
                  <a:tcPr marT="27432" marB="27432" marL="91440" marR="91440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</a:rPr>
                        <a:t>Está (1,2) y también (2,1). Las demás son de la diagonal.</a:t>
                      </a:r>
                    </a:p>
                  </a:txBody>
                  <a:tcPr marT="27432" marB="27432" marL="91440" marR="91440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</a:rPr>
                        <a:t>Antisimétrica</a:t>
                      </a:r>
                    </a:p>
                  </a:txBody>
                  <a:tcPr marT="27432" marB="27432" marL="91440" marR="91440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</a:rPr>
                        <a:t>No</a:t>
                      </a:r>
                    </a:p>
                  </a:txBody>
                  <a:tcPr marT="27432" marB="27432" marL="91440" marR="91440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</a:rPr>
                        <a:t>Están (1,2) y (2,1) con 1 ≠ 2: viola la antisimetría.</a:t>
                      </a:r>
                    </a:p>
                  </a:txBody>
                  <a:tcPr marT="27432" marB="27432" marL="91440" marR="91440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</a:rPr>
                        <a:t>Transitiva</a:t>
                      </a:r>
                    </a:p>
                  </a:txBody>
                  <a:tcPr marT="27432" marB="27432" marL="91440" marR="91440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</a:rPr>
                        <a:t>Sí</a:t>
                      </a:r>
                    </a:p>
                  </a:txBody>
                  <a:tcPr marT="27432" marB="27432" marL="91440" marR="91440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</a:rPr>
                        <a:t>De (1,2) y (2,1) se sigue (1,1), que está. Se revisan todos los casos.</a:t>
                      </a:r>
                    </a:p>
                  </a:txBody>
                  <a:tcPr marT="27432" marB="27432" marL="91440" marR="91440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9" name="Rounded Rectangle 108"/>
          <p:cNvSpPr/>
          <p:nvPr/>
        </p:nvSpPr>
        <p:spPr>
          <a:xfrm>
            <a:off x="768096" y="5536400"/>
            <a:ext cx="10652760" cy="114300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Google Shape;107;p14"/>
          <p:cNvSpPr txBox="1"/>
          <p:nvPr/>
        </p:nvSpPr>
        <p:spPr>
          <a:xfrm>
            <a:off x="1051560" y="567356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Simétrica y antisimétrica no siempre van juntas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1051560" y="603932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Una relación puede ser simétrica sin ser antisimétrica: basta con tener una pareja (a,b) con a ≠ b cuya inversa (b,a) también esté.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Actividad 2: verifique las propiedades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Para cada relación en A = { 1, 2, 3 }, diga cuáles de las cuatro propiedades cumple.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768096" y="2651760"/>
            <a:ext cx="1065276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2000"/>
              </a:spcAft>
            </a:pPr>
            <a:r>
              <a:rPr lang="en-US" sz="17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1)   R = { (1,1), (2,2), (3,3) }</a:t>
            </a:r>
          </a:p>
          <a:p>
            <a:pPr>
              <a:spcAft>
                <a:spcPts val="2000"/>
              </a:spcAft>
            </a:pPr>
            <a:r>
              <a:rPr lang="en-US" sz="17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2)   R = { (1,2), (2,3), (1,3) }</a:t>
            </a:r>
          </a:p>
          <a:p>
            <a:pPr>
              <a:spcAft>
                <a:spcPts val="2000"/>
              </a:spcAft>
            </a:pPr>
            <a:r>
              <a:rPr lang="en-US" sz="17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3)   R = { (1,2), (2,1) }</a:t>
            </a:r>
          </a:p>
          <a:p>
            <a:pPr>
              <a:spcAft>
                <a:spcPts val="2000"/>
              </a:spcAft>
            </a:pPr>
            <a:r>
              <a:rPr lang="en-US" sz="17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4)   R = «a ≤ b»  sobre A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768096" y="5440680"/>
            <a:ext cx="10652760" cy="73152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Google Shape;107;p14"/>
          <p:cNvSpPr txBox="1"/>
          <p:nvPr/>
        </p:nvSpPr>
        <p:spPr>
          <a:xfrm>
            <a:off x="1051560" y="5596128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Cuando una propiedad falle, señale la pareja concreta que falta. Esa pareja es el contraejemplo.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Actividad 2 — Solución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Propiedades de cada relación.</a:t>
            </a:r>
            <a:endParaRPr/>
          </a:p>
        </p:txBody>
      </p:sp>
      <p:graphicFrame>
        <p:nvGraphicFramePr>
          <p:cNvPr id="108" name="Table 107"/>
          <p:cNvGraphicFramePr>
            <a:graphicFrameLocks noGrp="1"/>
          </p:cNvGraphicFramePr>
          <p:nvPr/>
        </p:nvGraphicFramePr>
        <p:xfrm>
          <a:off x="768096" y="2514600"/>
          <a:ext cx="10652753" cy="26517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819442"/>
                <a:gridCol w="1638885"/>
                <a:gridCol w="1638885"/>
                <a:gridCol w="1638885"/>
                <a:gridCol w="1638885"/>
                <a:gridCol w="3277771"/>
              </a:tblGrid>
              <a:tr h="53035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3A8A"/>
                          </a:solidFill>
                        </a:rPr>
                        <a:t>#</a:t>
                      </a:r>
                    </a:p>
                  </a:txBody>
                  <a:tcPr marT="27432" marB="27432" marL="91440" marR="91440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3A8A"/>
                          </a:solidFill>
                        </a:rPr>
                        <a:t>Reflexiva</a:t>
                      </a:r>
                    </a:p>
                  </a:txBody>
                  <a:tcPr marT="27432" marB="27432" marL="91440" marR="91440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3A8A"/>
                          </a:solidFill>
                        </a:rPr>
                        <a:t>Simétrica</a:t>
                      </a:r>
                    </a:p>
                  </a:txBody>
                  <a:tcPr marT="27432" marB="27432" marL="91440" marR="91440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3A8A"/>
                          </a:solidFill>
                        </a:rPr>
                        <a:t>Antisimétrica</a:t>
                      </a:r>
                    </a:p>
                  </a:txBody>
                  <a:tcPr marT="27432" marB="27432" marL="91440" marR="91440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3A8A"/>
                          </a:solidFill>
                        </a:rPr>
                        <a:t>Transitiva</a:t>
                      </a:r>
                    </a:p>
                  </a:txBody>
                  <a:tcPr marT="27432" marB="27432" marL="91440" marR="91440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3A8A"/>
                          </a:solidFill>
                        </a:rPr>
                        <a:t>Observación</a:t>
                      </a:r>
                    </a:p>
                  </a:txBody>
                  <a:tcPr marT="27432" marB="27432" marL="91440" marR="91440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</a:rPr>
                        <a:t>1</a:t>
                      </a:r>
                    </a:p>
                  </a:txBody>
                  <a:tcPr marT="27432" marB="27432" marL="91440" marR="91440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</a:rPr>
                        <a:t>Sí</a:t>
                      </a:r>
                    </a:p>
                  </a:txBody>
                  <a:tcPr marT="27432" marB="27432" marL="91440" marR="91440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</a:rPr>
                        <a:t>Sí</a:t>
                      </a:r>
                    </a:p>
                  </a:txBody>
                  <a:tcPr marT="27432" marB="27432" marL="91440" marR="91440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</a:rPr>
                        <a:t>Sí</a:t>
                      </a:r>
                    </a:p>
                  </a:txBody>
                  <a:tcPr marT="27432" marB="27432" marL="91440" marR="91440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</a:rPr>
                        <a:t>Sí</a:t>
                      </a:r>
                    </a:p>
                  </a:txBody>
                  <a:tcPr marT="27432" marB="27432" marL="91440" marR="91440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</a:rPr>
                        <a:t>Es la relación de igualdad. Cumple las cuatro.</a:t>
                      </a:r>
                    </a:p>
                  </a:txBody>
                  <a:tcPr marT="27432" marB="27432" marL="91440" marR="91440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</a:rPr>
                        <a:t>2</a:t>
                      </a:r>
                    </a:p>
                  </a:txBody>
                  <a:tcPr marT="27432" marB="27432" marL="91440" marR="91440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</a:rPr>
                        <a:t>No</a:t>
                      </a:r>
                    </a:p>
                  </a:txBody>
                  <a:tcPr marT="27432" marB="27432" marL="91440" marR="91440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</a:rPr>
                        <a:t>No</a:t>
                      </a:r>
                    </a:p>
                  </a:txBody>
                  <a:tcPr marT="27432" marB="27432" marL="91440" marR="91440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</a:rPr>
                        <a:t>Sí</a:t>
                      </a:r>
                    </a:p>
                  </a:txBody>
                  <a:tcPr marT="27432" marB="27432" marL="91440" marR="91440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</a:rPr>
                        <a:t>Sí</a:t>
                      </a:r>
                    </a:p>
                  </a:txBody>
                  <a:tcPr marT="27432" marB="27432" marL="91440" marR="91440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</a:rPr>
                        <a:t>Falta (1,1). Y está (1,2) pero no (2,1), así que también es antisimétrica.</a:t>
                      </a:r>
                    </a:p>
                  </a:txBody>
                  <a:tcPr marT="27432" marB="27432" marL="91440" marR="91440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</a:rPr>
                        <a:t>3</a:t>
                      </a:r>
                    </a:p>
                  </a:txBody>
                  <a:tcPr marT="27432" marB="27432" marL="91440" marR="91440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</a:rPr>
                        <a:t>No</a:t>
                      </a:r>
                    </a:p>
                  </a:txBody>
                  <a:tcPr marT="27432" marB="27432" marL="91440" marR="91440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</a:rPr>
                        <a:t>Sí</a:t>
                      </a:r>
                    </a:p>
                  </a:txBody>
                  <a:tcPr marT="27432" marB="27432" marL="91440" marR="91440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</a:rPr>
                        <a:t>No</a:t>
                      </a:r>
                    </a:p>
                  </a:txBody>
                  <a:tcPr marT="27432" marB="27432" marL="91440" marR="91440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</a:rPr>
                        <a:t>No</a:t>
                      </a:r>
                    </a:p>
                  </a:txBody>
                  <a:tcPr marT="27432" marB="27432" marL="91440" marR="91440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</a:rPr>
                        <a:t>Están (1,2) y (2,1) con 1≠2: no es antisimétrica. Tampoco es transitiva: debería seguirse (1,1), que no está.</a:t>
                      </a:r>
                    </a:p>
                  </a:txBody>
                  <a:tcPr marT="27432" marB="27432" marL="91440" marR="91440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</a:rPr>
                        <a:t>4</a:t>
                      </a:r>
                    </a:p>
                  </a:txBody>
                  <a:tcPr marT="27432" marB="27432" marL="91440" marR="91440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</a:rPr>
                        <a:t>Sí</a:t>
                      </a:r>
                    </a:p>
                  </a:txBody>
                  <a:tcPr marT="27432" marB="27432" marL="91440" marR="91440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</a:rPr>
                        <a:t>No</a:t>
                      </a:r>
                    </a:p>
                  </a:txBody>
                  <a:tcPr marT="27432" marB="27432" marL="91440" marR="91440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</a:rPr>
                        <a:t>Sí</a:t>
                      </a:r>
                    </a:p>
                  </a:txBody>
                  <a:tcPr marT="27432" marB="27432" marL="91440" marR="91440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</a:rPr>
                        <a:t>Sí</a:t>
                      </a:r>
                    </a:p>
                  </a:txBody>
                  <a:tcPr marT="27432" marB="27432" marL="91440" marR="91440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</a:rPr>
                        <a:t>a≤b y b≤a solo ocurren si a=b, así que es antisimétrica.</a:t>
                      </a:r>
                    </a:p>
                  </a:txBody>
                  <a:tcPr marT="27432" marB="27432" marL="91440" marR="91440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9" name="Rounded Rectangle 108"/>
          <p:cNvSpPr/>
          <p:nvPr/>
        </p:nvSpPr>
        <p:spPr>
          <a:xfrm>
            <a:off x="768096" y="5303520"/>
            <a:ext cx="10652760" cy="86868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Google Shape;107;p14"/>
          <p:cNvSpPr txBox="1"/>
          <p:nvPr/>
        </p:nvSpPr>
        <p:spPr>
          <a:xfrm>
            <a:off x="1051560" y="548640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Las cuatro propiedades son independientes entre sí: el punto 3 es simétrica pero no antisimétrica ni transitiva, y el punto 4 es antisimétrica pero no simétrica.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Relación de equivalencia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Cuando agrupa elementos que «cuentan como iguales».</a:t>
            </a:r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768096" y="2286000"/>
            <a:ext cx="10652760" cy="86868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Google Shape;107;p14"/>
          <p:cNvSpPr txBox="1"/>
          <p:nvPr/>
        </p:nvSpPr>
        <p:spPr>
          <a:xfrm>
            <a:off x="1097280" y="2468880"/>
            <a:ext cx="9966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R es de equivalencia si es reflexiva, simétrica y transitiva a la vez.</a:t>
            </a:r>
            <a:endParaRPr/>
          </a:p>
        </p:txBody>
      </p:sp>
      <p:sp>
        <p:nvSpPr>
          <p:cNvPr id="109" name="Rounded Rectangle 108"/>
          <p:cNvSpPr/>
          <p:nvPr/>
        </p:nvSpPr>
        <p:spPr>
          <a:xfrm>
            <a:off x="768096" y="3337560"/>
            <a:ext cx="3337560" cy="182880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Google Shape;107;p14"/>
          <p:cNvSpPr txBox="1"/>
          <p:nvPr/>
        </p:nvSpPr>
        <p:spPr>
          <a:xfrm>
            <a:off x="996696" y="3483864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Ejemplos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996696" y="3904488"/>
            <a:ext cx="288036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7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Igualdad entre números.</a:t>
            </a:r>
          </a:p>
          <a:p>
            <a:pPr>
              <a:spcAft>
                <a:spcPts val="7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Tener el mismo resto al dividir por 2.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4425696" y="3337560"/>
            <a:ext cx="3337560" cy="182880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Google Shape;107;p14"/>
          <p:cNvSpPr txBox="1"/>
          <p:nvPr/>
        </p:nvSpPr>
        <p:spPr>
          <a:xfrm>
            <a:off x="4654296" y="3483864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Ejemplo numérico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4654296" y="3904488"/>
            <a:ext cx="288036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500"/>
              </a:spcAft>
            </a:pPr>
            <a:r>
              <a:rPr lang="en-US" sz="12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En A = { 1, 2, 3, 4 }:</a:t>
            </a:r>
          </a:p>
          <a:p>
            <a:pPr>
              <a:spcAft>
                <a:spcPts val="500"/>
              </a:spcAft>
            </a:pPr>
            <a:r>
              <a:rPr lang="en-US" sz="12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R = { (a,b) : a y b tienen el mismo resto al dividir entre 2 }</a:t>
            </a:r>
          </a:p>
          <a:p>
            <a:pPr>
              <a:spcAft>
                <a:spcPts val="500"/>
              </a:spcAft>
            </a:pPr>
            <a:r>
              <a:rPr lang="en-US" sz="12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= { (1,1),(1,3),(3,1),(3,3),(2,2),(2,4),(4,2),(4,4) }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8083296" y="3337560"/>
            <a:ext cx="3337560" cy="182880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Google Shape;107;p14"/>
          <p:cNvSpPr txBox="1"/>
          <p:nvPr/>
        </p:nvSpPr>
        <p:spPr>
          <a:xfrm>
            <a:off x="8311896" y="3483864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No son de equivalencia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311896" y="3904488"/>
            <a:ext cx="288036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7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«a ≤ b»: es reflexiva y transitiva, pero no simétrica.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768096" y="5349240"/>
            <a:ext cx="10652760" cy="82296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Google Shape;107;p14"/>
          <p:cNvSpPr txBox="1"/>
          <p:nvPr/>
        </p:nvSpPr>
        <p:spPr>
          <a:xfrm>
            <a:off x="1051560" y="553212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Toda relación de equivalencia reparte al conjunto en grupos: dentro de cada grupo, todos los elementos están relacionados entre sí.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Orden parcial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Cuando jerarquiza en vez de agrupar.</a:t>
            </a:r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768096" y="2286000"/>
            <a:ext cx="10652760" cy="86868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Google Shape;107;p14"/>
          <p:cNvSpPr txBox="1"/>
          <p:nvPr/>
        </p:nvSpPr>
        <p:spPr>
          <a:xfrm>
            <a:off x="1097280" y="2468880"/>
            <a:ext cx="9966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R es un orden parcial si es reflexiva, antisimétrica y transitiva.</a:t>
            </a:r>
            <a:endParaRPr/>
          </a:p>
        </p:txBody>
      </p:sp>
      <p:sp>
        <p:nvSpPr>
          <p:cNvPr id="109" name="Rounded Rectangle 108"/>
          <p:cNvSpPr/>
          <p:nvPr/>
        </p:nvSpPr>
        <p:spPr>
          <a:xfrm>
            <a:off x="768096" y="3337560"/>
            <a:ext cx="3337560" cy="182880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Google Shape;107;p14"/>
          <p:cNvSpPr txBox="1"/>
          <p:nvPr/>
        </p:nvSpPr>
        <p:spPr>
          <a:xfrm>
            <a:off x="996696" y="3483864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Ejemplos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996696" y="3904488"/>
            <a:ext cx="288036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7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«a ≤ b» sobre los enteros.</a:t>
            </a:r>
          </a:p>
          <a:p>
            <a:pPr>
              <a:spcAft>
                <a:spcPts val="7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«a divide a b» sobre los enteros positivos.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4425696" y="3337560"/>
            <a:ext cx="3337560" cy="182880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Google Shape;107;p14"/>
          <p:cNvSpPr txBox="1"/>
          <p:nvPr/>
        </p:nvSpPr>
        <p:spPr>
          <a:xfrm>
            <a:off x="4654296" y="3483864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Ejemplo numérico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4654296" y="3904488"/>
            <a:ext cx="288036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500"/>
              </a:spcAft>
            </a:pPr>
            <a:r>
              <a:rPr lang="en-US" sz="12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En A = { 1, 2, 3 }:</a:t>
            </a:r>
          </a:p>
          <a:p>
            <a:pPr>
              <a:spcAft>
                <a:spcPts val="500"/>
              </a:spcAft>
            </a:pPr>
            <a:r>
              <a:rPr lang="en-US" sz="12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R = { (a,b) : a ≤ b }</a:t>
            </a:r>
          </a:p>
          <a:p>
            <a:pPr>
              <a:spcAft>
                <a:spcPts val="500"/>
              </a:spcAft>
            </a:pPr>
            <a:r>
              <a:rPr lang="en-US" sz="12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= { (1,1),(1,2),(1,3),(2,2),(2,3),(3,3) }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8083296" y="3337560"/>
            <a:ext cx="3337560" cy="182880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Google Shape;107;p14"/>
          <p:cNvSpPr txBox="1"/>
          <p:nvPr/>
        </p:nvSpPr>
        <p:spPr>
          <a:xfrm>
            <a:off x="8311896" y="3483864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Ejemplo con conjuntos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311896" y="3904488"/>
            <a:ext cx="288036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7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«A ⊆ B» sobre los subconjuntos de un conjunto dado.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768096" y="5349240"/>
            <a:ext cx="10652760" cy="82296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Google Shape;107;p14"/>
          <p:cNvSpPr txBox="1"/>
          <p:nvPr/>
        </p:nvSpPr>
        <p:spPr>
          <a:xfrm>
            <a:off x="1051560" y="553212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La diferencia con la equivalencia está en la segunda propiedad: la equivalencia agrupa elementos que «cuentan como iguales», el orden parcial los jerarquiza. Se llama parcial porque puede haber pares no comparables: no siempre a ≤ b ni b ≤ a.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Ejemplo resuelto 3: clasifique la relación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Clasifique  R = { (1,1),(2,2),(3,3),(1,2),(2,3),(1,3) }  en A = { 1,2,3 }: ¿de equivalencia, orden parcial, o ninguna?</a:t>
            </a:r>
            <a:endParaRPr/>
          </a:p>
        </p:txBody>
      </p:sp>
      <p:graphicFrame>
        <p:nvGraphicFramePr>
          <p:cNvPr id="110" name="Table 109"/>
          <p:cNvGraphicFramePr>
            <a:graphicFrameLocks noGrp="1"/>
          </p:cNvGraphicFramePr>
          <p:nvPr/>
        </p:nvGraphicFramePr>
        <p:xfrm>
          <a:off x="768096" y="2514600"/>
          <a:ext cx="10652756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0551"/>
                <a:gridCol w="2130551"/>
                <a:gridCol w="6391654"/>
              </a:tblGrid>
              <a:tr h="5943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3A8A"/>
                          </a:solidFill>
                        </a:rPr>
                        <a:t>Propiedad</a:t>
                      </a:r>
                    </a:p>
                  </a:txBody>
                  <a:tcPr marL="91440" marR="91440" marT="27432" marB="27432"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3A8A"/>
                          </a:solidFill>
                        </a:rPr>
                        <a:t>¿Se cumple?</a:t>
                      </a:r>
                    </a:p>
                  </a:txBody>
                  <a:tcPr marL="91440" marR="91440" marT="27432" marB="27432"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3A8A"/>
                          </a:solidFill>
                        </a:rPr>
                        <a:t>Verificación</a:t>
                      </a:r>
                    </a:p>
                  </a:txBody>
                  <a:tcPr marL="91440" marR="91440" marT="27432" marB="27432" anchor="ctr">
                    <a:solidFill>
                      <a:srgbClr val="EFF3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Reflexiva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Sí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Están (1,1), (2,2) y (3,3): las tres parejas (a,a).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Simétrica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No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Está (1,2) pero no está (2,1).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Antisimétrica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Sí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No hay ninguna pareja (a,b) con a ≠ b cuya inversa (b,a) también esté.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Transitiva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Sí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</a:rPr>
                        <a:t>De (1,2) y (2,3) se sigue (1,3), que está. Se revisan los demás casos.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9" name="Rounded Rectangle 108"/>
          <p:cNvSpPr/>
          <p:nvPr/>
        </p:nvSpPr>
        <p:spPr>
          <a:xfrm>
            <a:off x="768096" y="5536400"/>
            <a:ext cx="10652760" cy="114300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Google Shape;107;p14"/>
          <p:cNvSpPr txBox="1"/>
          <p:nvPr/>
        </p:nvSpPr>
        <p:spPr>
          <a:xfrm>
            <a:off x="1051560" y="567356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Reflexiva, antisimétrica y transitiva: orden parcial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1051560" y="603932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No es simétrica, así que no es de equivalencia. Cumple el patrón de un orden parcial: de hecho es la relación ≤ sobre A = {1,2,3}.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Actividad 3: clasifique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Para cada relación, diga si es de equivalencia, orden parcial, o ninguna.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768096" y="2651760"/>
            <a:ext cx="1065276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2000"/>
              </a:spcAft>
            </a:pPr>
            <a:r>
              <a:rPr lang="en-US" sz="17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1)   R = { (a,b) : a y b tienen la misma paridad }  sobre A = { 1, 2, 3, 4 }</a:t>
            </a:r>
          </a:p>
          <a:p>
            <a:pPr>
              <a:spcAft>
                <a:spcPts val="2000"/>
              </a:spcAft>
            </a:pPr>
            <a:r>
              <a:rPr lang="en-US" sz="17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2)   R = { (a,b) : a divide a b }  sobre A = { 1, 2, 4 }</a:t>
            </a:r>
          </a:p>
          <a:p>
            <a:pPr>
              <a:spcAft>
                <a:spcPts val="2000"/>
              </a:spcAft>
            </a:pPr>
            <a:r>
              <a:rPr lang="en-US" sz="17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3)   R = { (1,2), (2,1), (2,3), (3,2) }  sobre A = { 1, 2, 3 }</a:t>
            </a:r>
          </a:p>
          <a:p>
            <a:pPr>
              <a:spcAft>
                <a:spcPts val="2000"/>
              </a:spcAft>
            </a:pPr>
            <a:r>
              <a:rPr lang="en-US" sz="17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4)   R = { (1,1), (2,2), (3,3), (1,2), (2,1), (2,3), (3,2) }  sobre A = { 1, 2, 3 }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768096" y="5440680"/>
            <a:ext cx="10652760" cy="73152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Google Shape;107;p14"/>
          <p:cNvSpPr txBox="1"/>
          <p:nvPr/>
        </p:nvSpPr>
        <p:spPr>
          <a:xfrm>
            <a:off x="1051560" y="5596128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No hace falta llenar una tabla completa: basta con identificar cuál propiedad falla para saber si es equivalencia, orden parcial o ninguna.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Actividad 3 — Solución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Clasificación de cada relación.</a:t>
            </a:r>
            <a:endParaRPr/>
          </a:p>
        </p:txBody>
      </p:sp>
      <p:graphicFrame>
        <p:nvGraphicFramePr>
          <p:cNvPr id="108" name="Table 107"/>
          <p:cNvGraphicFramePr>
            <a:graphicFrameLocks noGrp="1"/>
          </p:cNvGraphicFramePr>
          <p:nvPr/>
        </p:nvGraphicFramePr>
        <p:xfrm>
          <a:off x="768096" y="2514600"/>
          <a:ext cx="10652753" cy="26517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819442"/>
                <a:gridCol w="1638885"/>
                <a:gridCol w="1638885"/>
                <a:gridCol w="1638885"/>
                <a:gridCol w="1638885"/>
                <a:gridCol w="3277771"/>
              </a:tblGrid>
              <a:tr h="53035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3A8A"/>
                          </a:solidFill>
                        </a:rPr>
                        <a:t>#</a:t>
                      </a:r>
                    </a:p>
                  </a:txBody>
                  <a:tcPr marT="27432" marB="27432" marL="91440" marR="91440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3A8A"/>
                          </a:solidFill>
                        </a:rPr>
                        <a:t>Reflexiva</a:t>
                      </a:r>
                    </a:p>
                  </a:txBody>
                  <a:tcPr marT="27432" marB="27432" marL="91440" marR="91440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3A8A"/>
                          </a:solidFill>
                        </a:rPr>
                        <a:t>Simétrica</a:t>
                      </a:r>
                    </a:p>
                  </a:txBody>
                  <a:tcPr marT="27432" marB="27432" marL="91440" marR="91440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3A8A"/>
                          </a:solidFill>
                        </a:rPr>
                        <a:t>Antisimétrica</a:t>
                      </a:r>
                    </a:p>
                  </a:txBody>
                  <a:tcPr marT="27432" marB="27432" marL="91440" marR="91440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3A8A"/>
                          </a:solidFill>
                        </a:rPr>
                        <a:t>Transitiva</a:t>
                      </a:r>
                    </a:p>
                  </a:txBody>
                  <a:tcPr marT="27432" marB="27432" marL="91440" marR="91440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3A8A"/>
                          </a:solidFill>
                        </a:rPr>
                        <a:t>Clasificación</a:t>
                      </a:r>
                    </a:p>
                  </a:txBody>
                  <a:tcPr marT="27432" marB="27432" marL="91440" marR="91440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</a:rPr>
                        <a:t>1</a:t>
                      </a:r>
                    </a:p>
                  </a:txBody>
                  <a:tcPr marT="27432" marB="27432" marL="91440" marR="91440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</a:rPr>
                        <a:t>Sí</a:t>
                      </a:r>
                    </a:p>
                  </a:txBody>
                  <a:tcPr marT="27432" marB="27432" marL="91440" marR="91440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</a:rPr>
                        <a:t>Sí</a:t>
                      </a:r>
                    </a:p>
                  </a:txBody>
                  <a:tcPr marT="27432" marB="27432" marL="91440" marR="91440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</a:rPr>
                        <a:t>No</a:t>
                      </a:r>
                    </a:p>
                  </a:txBody>
                  <a:tcPr marT="27432" marB="27432" marL="91440" marR="91440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</a:rPr>
                        <a:t>Sí</a:t>
                      </a:r>
                    </a:p>
                  </a:txBody>
                  <a:tcPr marT="27432" marB="27432" marL="91440" marR="91440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</a:rPr>
                        <a:t>Equivalencia: agrupa por paridad.</a:t>
                      </a:r>
                    </a:p>
                  </a:txBody>
                  <a:tcPr marT="27432" marB="27432" marL="91440" marR="91440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</a:rPr>
                        <a:t>2</a:t>
                      </a:r>
                    </a:p>
                  </a:txBody>
                  <a:tcPr marT="27432" marB="27432" marL="91440" marR="91440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</a:rPr>
                        <a:t>Sí</a:t>
                      </a:r>
                    </a:p>
                  </a:txBody>
                  <a:tcPr marT="27432" marB="27432" marL="91440" marR="91440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</a:rPr>
                        <a:t>No</a:t>
                      </a:r>
                    </a:p>
                  </a:txBody>
                  <a:tcPr marT="27432" marB="27432" marL="91440" marR="91440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</a:rPr>
                        <a:t>Sí</a:t>
                      </a:r>
                    </a:p>
                  </a:txBody>
                  <a:tcPr marT="27432" marB="27432" marL="91440" marR="91440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</a:rPr>
                        <a:t>Sí</a:t>
                      </a:r>
                    </a:p>
                  </a:txBody>
                  <a:tcPr marT="27432" marB="27432" marL="91440" marR="91440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</a:rPr>
                        <a:t>Orden parcial: jerarquiza por divisibilidad.</a:t>
                      </a:r>
                    </a:p>
                  </a:txBody>
                  <a:tcPr marT="27432" marB="27432" marL="91440" marR="91440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</a:rPr>
                        <a:t>3</a:t>
                      </a:r>
                    </a:p>
                  </a:txBody>
                  <a:tcPr marT="27432" marB="27432" marL="91440" marR="91440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</a:rPr>
                        <a:t>No</a:t>
                      </a:r>
                    </a:p>
                  </a:txBody>
                  <a:tcPr marT="27432" marB="27432" marL="91440" marR="91440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</a:rPr>
                        <a:t>Sí</a:t>
                      </a:r>
                    </a:p>
                  </a:txBody>
                  <a:tcPr marT="27432" marB="27432" marL="91440" marR="91440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</a:rPr>
                        <a:t>No</a:t>
                      </a:r>
                    </a:p>
                  </a:txBody>
                  <a:tcPr marT="27432" marB="27432" marL="91440" marR="91440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</a:rPr>
                        <a:t>No</a:t>
                      </a:r>
                    </a:p>
                  </a:txBody>
                  <a:tcPr marT="27432" marB="27432" marL="91440" marR="91440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</a:rPr>
                        <a:t>Ninguna: falta (1,1), (2,2) y (3,3).</a:t>
                      </a:r>
                    </a:p>
                  </a:txBody>
                  <a:tcPr marT="27432" marB="27432" marL="91440" marR="91440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</a:rPr>
                        <a:t>4</a:t>
                      </a:r>
                    </a:p>
                  </a:txBody>
                  <a:tcPr marT="27432" marB="27432" marL="91440" marR="91440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</a:rPr>
                        <a:t>Sí</a:t>
                      </a:r>
                    </a:p>
                  </a:txBody>
                  <a:tcPr marT="27432" marB="27432" marL="91440" marR="91440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</a:rPr>
                        <a:t>Sí</a:t>
                      </a:r>
                    </a:p>
                  </a:txBody>
                  <a:tcPr marT="27432" marB="27432" marL="91440" marR="91440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</a:rPr>
                        <a:t>No</a:t>
                      </a:r>
                    </a:p>
                  </a:txBody>
                  <a:tcPr marT="27432" marB="27432" marL="91440" marR="91440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</a:rPr>
                        <a:t>No</a:t>
                      </a:r>
                    </a:p>
                  </a:txBody>
                  <a:tcPr marT="27432" marB="27432" marL="91440" marR="91440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</a:rPr>
                        <a:t>Ninguna: de (1,2) y (2,3) debería seguirse (1,3), que no está.</a:t>
                      </a:r>
                    </a:p>
                  </a:txBody>
                  <a:tcPr marT="27432" marB="27432" marL="91440" marR="91440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9" name="Rounded Rectangle 108"/>
          <p:cNvSpPr/>
          <p:nvPr/>
        </p:nvSpPr>
        <p:spPr>
          <a:xfrm>
            <a:off x="768096" y="5303520"/>
            <a:ext cx="10652760" cy="86868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Google Shape;107;p14"/>
          <p:cNvSpPr txBox="1"/>
          <p:nvPr/>
        </p:nvSpPr>
        <p:spPr>
          <a:xfrm>
            <a:off x="1051560" y="548640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El punto 1 reparte A en dos grupos ({1,3} y {2,4}); el punto 2 jerarquiza por divisibilidad; los puntos 3 y 4 no encajan en ninguno de los dos patrones.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Errores frecuentes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Los cuatro más comunes.</a:t>
            </a:r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768096" y="2377440"/>
            <a:ext cx="5212080" cy="169164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Google Shape;107;p14"/>
          <p:cNvSpPr txBox="1"/>
          <p:nvPr/>
        </p:nvSpPr>
        <p:spPr>
          <a:xfrm>
            <a:off x="996696" y="252374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Verificar solo algunos casos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996696" y="2944368"/>
            <a:ext cx="475488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Las cuatro propiedades son enunciados universales: hay que cubrir todos los elementos.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6208776" y="2377440"/>
            <a:ext cx="5212080" cy="169164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Google Shape;107;p14"/>
          <p:cNvSpPr txBox="1"/>
          <p:nvPr/>
        </p:nvSpPr>
        <p:spPr>
          <a:xfrm>
            <a:off x="6437376" y="252374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Olvidar la reflexividad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437376" y="2944368"/>
            <a:ext cx="475488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Es la que más se pasa por alto. Revise que (a,a) esté en R para todo a ∈ A.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768096" y="4206240"/>
            <a:ext cx="5212080" cy="169164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Google Shape;107;p14"/>
          <p:cNvSpPr txBox="1"/>
          <p:nvPr/>
        </p:nvSpPr>
        <p:spPr>
          <a:xfrm>
            <a:off x="996696" y="435254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Confundir simétrica con antisimétrica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996696" y="4773168"/>
            <a:ext cx="475488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Simétrica exige que (b,a) también esté en R; antisimétrica lo prohíbe, salvo cuando a = b.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6208776" y="4206240"/>
            <a:ext cx="5212080" cy="169164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Google Shape;107;p14"/>
          <p:cNvSpPr txBox="1"/>
          <p:nvPr/>
        </p:nvSpPr>
        <p:spPr>
          <a:xfrm>
            <a:off x="6437376" y="435254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Confundir equivalencia con orden parcial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437376" y="4773168"/>
            <a:ext cx="475488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Ambas piden reflexividad y transitividad; lo que cambia es la segunda propiedad: equivalencia pide simétrica, orden parcial pide antisimétrica.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Trabajo independiente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Para desarrollar fuera del horario de clase.</a:t>
            </a:r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768096" y="2377440"/>
            <a:ext cx="5212080" cy="283464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Google Shape;107;p14"/>
          <p:cNvSpPr txBox="1"/>
          <p:nvPr/>
        </p:nvSpPr>
        <p:spPr>
          <a:xfrm>
            <a:off x="996696" y="252374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Para entregar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996696" y="2944368"/>
            <a:ext cx="4754880" cy="210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2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1. Sea R = {(1,1),(1,3),(2,2),(3,1),(3,3)} en A = {1,2,3}. Liste sus pares e indique si (1,2) ∈ R.
2. Para la misma R, verifique cuáles de las cuatro propiedades cumple.
3. Sea R = «a y b tienen el mismo signo» sobre ℤ. Verifique cuáles de las cuatro propiedades cumple.
4. Sea R = «a divide a b» sobre los enteros positivos. Verifique cuáles de las cuatro propiedades cumple.
5. Para las relaciones de los puntos 2 y 4, diga si son de equivalencia, de orden parcial, o ninguna.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6208776" y="2377440"/>
            <a:ext cx="5212080" cy="283464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Google Shape;107;p14"/>
          <p:cNvSpPr txBox="1"/>
          <p:nvPr/>
        </p:nvSpPr>
        <p:spPr>
          <a:xfrm>
            <a:off x="6437376" y="252374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Cómo entregarlas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437376" y="2944368"/>
            <a:ext cx="4754880" cy="210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Verifique las cuatro propiedades por separado, y cuando alguna falle señale la pareja que falta.
Lectura: sección 3.1 de Johnsonbaugh.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768096" y="5349240"/>
            <a:ext cx="10652760" cy="82296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Google Shape;107;p14"/>
          <p:cNvSpPr txBox="1"/>
          <p:nvPr/>
        </p:nvSpPr>
        <p:spPr>
          <a:xfrm>
            <a:off x="1051560" y="553212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Próxima sesión: el parcial, que evalúa conjuntos, funciones y relaciones (sesiones 9 a 12).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Taller de práctica: relaciones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Ejercicios tipo parcial, para practicar antes del examen.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768096" y="2651760"/>
            <a:ext cx="1065276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2000"/>
              </a:spcAft>
            </a:pPr>
            <a:r>
              <a:rPr lang="en-US" sz="17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1)   Sea A = {1,2,3,4} y R = {(1,1),(2,2),(3,3),(4,4),(1,2)}. ¿Es reflexiva? ¿Es simétrica?
2)   Sea R = «a y b tienen la misma paridad» sobre {1,2,3,4,5,6}. ¿Es simétrica? ¿Es transitiva?
3)   Sea R = «a es divisor de b» sobre los enteros positivos. ¿Es antisimétrica? ¿Es reflexiva?
4)   Sea R = {(1,2),(2,3),(1,3),(3,1)} sobre A = {1,2,3}. ¿Es transitiva? Justifique.
5)   Sea R = {(1,1),(2,2)} sobre A = {1,2,3}. ¿Es reflexiva? Justifique con el elemento que falta.
6)   Sea R = «a y b tienen el mismo resto al dividir por 3» sobre {1,2,...,9}. ¿Es de equivalencia, de orden parcial, o ninguna?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768096" y="5440680"/>
            <a:ext cx="10652760" cy="73152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Google Shape;107;p14"/>
          <p:cNvSpPr txBox="1"/>
          <p:nvPr/>
        </p:nvSpPr>
        <p:spPr>
          <a:xfrm>
            <a:off x="1051560" y="5596128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Trabaje cada punto por separado: para verificar una propiedad revise todos los casos; para refutarla, un solo contraejemplo basta.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Taller de práctica — Solución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Propiedades de cada relación.</a:t>
            </a:r>
            <a:endParaRPr/>
          </a:p>
        </p:txBody>
      </p:sp>
      <p:sp>
        <p:nvSpPr>
          <p:cNvPr id="109" name="Rounded Rectangle 108"/>
          <p:cNvSpPr/>
          <p:nvPr/>
        </p:nvSpPr>
        <p:spPr>
          <a:xfrm>
            <a:off x="768096" y="5303520"/>
            <a:ext cx="10652760" cy="86868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Google Shape;107;p14"/>
          <p:cNvSpPr txBox="1"/>
          <p:nvPr/>
        </p:nvSpPr>
        <p:spPr>
          <a:xfrm>
            <a:off x="1051560" y="575000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Note que casi ninguna cumple las cuatro propiedades a la vez: eso es lo normal, no la excepción. El punto 6 sí las combina en el patrón de una equivalencia.</a:t>
            </a:r>
            <a:endParaRPr/>
          </a:p>
        </p:txBody>
      </p:sp>
      <p:graphicFrame>
        <p:nvGraphicFramePr>
          <p:cNvPr id="110" name="Table 109"/>
          <p:cNvGraphicFramePr>
            <a:graphicFrameLocks noGrp="1"/>
          </p:cNvGraphicFramePr>
          <p:nvPr/>
        </p:nvGraphicFramePr>
        <p:xfrm>
          <a:off x="768096" y="2400000"/>
          <a:ext cx="10652748" cy="31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0910"/>
                <a:gridCol w="1521821"/>
                <a:gridCol w="1521821"/>
                <a:gridCol w="1521821"/>
                <a:gridCol w="1521821"/>
                <a:gridCol w="3804554"/>
              </a:tblGrid>
              <a:tr h="45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E3A8A"/>
                          </a:solidFill>
                        </a:rPr>
                        <a:t>#</a:t>
                      </a:r>
                    </a:p>
                  </a:txBody>
                  <a:tcPr marL="91440" marR="91440" marT="27432" marB="27432"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E3A8A"/>
                          </a:solidFill>
                        </a:rPr>
                        <a:t>Reflexiva</a:t>
                      </a:r>
                    </a:p>
                  </a:txBody>
                  <a:tcPr marL="91440" marR="91440" marT="27432" marB="27432"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E3A8A"/>
                          </a:solidFill>
                        </a:rPr>
                        <a:t>Simétrica</a:t>
                      </a:r>
                    </a:p>
                  </a:txBody>
                  <a:tcPr marL="91440" marR="91440" marT="27432" marB="27432"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E3A8A"/>
                          </a:solidFill>
                        </a:rPr>
                        <a:t>Antisimétrica</a:t>
                      </a:r>
                    </a:p>
                  </a:txBody>
                  <a:tcPr marL="91440" marR="91440" marT="27432" marB="27432"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E3A8A"/>
                          </a:solidFill>
                        </a:rPr>
                        <a:t>Transitiva</a:t>
                      </a:r>
                    </a:p>
                  </a:txBody>
                  <a:tcPr marL="91440" marR="91440" marT="27432" marB="27432"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E3A8A"/>
                          </a:solidFill>
                        </a:rPr>
                        <a:t>Observación</a:t>
                      </a:r>
                    </a:p>
                  </a:txBody>
                  <a:tcPr marL="91440" marR="91440" marT="27432" marB="27432" anchor="ctr">
                    <a:solidFill>
                      <a:srgbClr val="EFF3FA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93B"/>
                          </a:solidFill>
                        </a:rPr>
                        <a:t>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93B"/>
                          </a:solidFill>
                        </a:rPr>
                        <a:t>Sí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93B"/>
                          </a:solidFill>
                        </a:rPr>
                        <a:t>No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93B"/>
                          </a:solidFill>
                        </a:rPr>
                        <a:t>Sí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93B"/>
                          </a:solidFill>
                        </a:rPr>
                        <a:t>Sí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93B"/>
                          </a:solidFill>
                        </a:rPr>
                        <a:t>Reflexiva: están las cuatro (a,a). No simétrica: falta (2,1).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93B"/>
                          </a:solidFill>
                        </a:rPr>
                        <a:t>2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93B"/>
                          </a:solidFill>
                        </a:rPr>
                        <a:t>Sí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93B"/>
                          </a:solidFill>
                        </a:rPr>
                        <a:t>Sí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93B"/>
                          </a:solidFill>
                        </a:rPr>
                        <a:t>No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93B"/>
                          </a:solidFill>
                        </a:rPr>
                        <a:t>Sí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93B"/>
                          </a:solidFill>
                        </a:rPr>
                        <a:t>Simétrica y transitiva; no antisimétrica: hay pares como (1,3) y (3,1).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93B"/>
                          </a:solidFill>
                        </a:rPr>
                        <a:t>3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93B"/>
                          </a:solidFill>
                        </a:rPr>
                        <a:t>Sí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93B"/>
                          </a:solidFill>
                        </a:rPr>
                        <a:t>No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93B"/>
                          </a:solidFill>
                        </a:rPr>
                        <a:t>Sí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93B"/>
                          </a:solidFill>
                        </a:rPr>
                        <a:t>Sí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93B"/>
                          </a:solidFill>
                        </a:rPr>
                        <a:t>a divide a a, así que es reflexiva. Antisimétrica: a|b y b|a con positivos obliga a = b.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93B"/>
                          </a:solidFill>
                        </a:rPr>
                        <a:t>4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93B"/>
                          </a:solidFill>
                        </a:rPr>
                        <a:t>No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93B"/>
                          </a:solidFill>
                        </a:rPr>
                        <a:t>No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93B"/>
                          </a:solidFill>
                        </a:rPr>
                        <a:t>No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93B"/>
                          </a:solidFill>
                        </a:rPr>
                        <a:t>No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93B"/>
                          </a:solidFill>
                        </a:rPr>
                        <a:t>No transitiva: de (2,3) y (3,1) debería seguirse (2,1), que no está. Tampoco antisimétrica: están (1,3) y (3,1).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93B"/>
                          </a:solidFill>
                        </a:rPr>
                        <a:t>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93B"/>
                          </a:solidFill>
                        </a:rPr>
                        <a:t>No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93B"/>
                          </a:solidFill>
                        </a:rPr>
                        <a:t>Sí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93B"/>
                          </a:solidFill>
                        </a:rPr>
                        <a:t>Sí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93B"/>
                          </a:solidFill>
                        </a:rPr>
                        <a:t>Sí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93B"/>
                          </a:solidFill>
                        </a:rPr>
                        <a:t>No reflexiva: falta (3,3). Las demás se cumplen porque no hay pares cruzados que las rompan.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93B"/>
                          </a:solidFill>
                        </a:rPr>
                        <a:t>6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93B"/>
                          </a:solidFill>
                        </a:rPr>
                        <a:t>Sí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93B"/>
                          </a:solidFill>
                        </a:rPr>
                        <a:t>Sí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93B"/>
                          </a:solidFill>
                        </a:rPr>
                        <a:t>No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93B"/>
                          </a:solidFill>
                        </a:rPr>
                        <a:t>Sí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E293B"/>
                          </a:solidFill>
                        </a:rPr>
                        <a:t>Es de equivalencia: agrupa por resto módulo 3 (tres grupos de tres elementos).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60B8AF-6022-4E5B-06B9-24B4B78C8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1AB1FB-E3DC-2D26-6B2C-08A25A3B7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40326D8-E30C-AD24-3EAA-BCE96D5C0A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8B8AA84-A5E1-21DE-2EAE-BD6F0C302D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85BB1BB9-F4AA-2D61-3C1B-74A58B29D078}"/>
              </a:ext>
            </a:extLst>
          </p:cNvPr>
          <p:cNvSpPr/>
          <p:nvPr/>
        </p:nvSpPr>
        <p:spPr>
          <a:xfrm>
            <a:off x="1330467" y="3166712"/>
            <a:ext cx="953106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chemeClr val="lt1"/>
              </a:buClr>
              <a:buSzPts val="5400"/>
            </a:pPr>
            <a:r>
              <a:rPr lang="es-MX" sz="5400" b="1">
                <a:solidFill>
                  <a:schemeClr val="bg1"/>
                </a:solidFill>
                <a:latin typeface="Montserrat" panose="00000500000000000000" pitchFamily="50" charset="0"/>
                <a:ea typeface="Roboto" panose="02000000000000000000" pitchFamily="2" charset="0"/>
                <a:cs typeface="Myanmar Text" panose="020B0502040204020203" pitchFamily="34" charset="0"/>
              </a:rPr>
              <a:t>¡MUCHAS GRACIAS!</a:t>
            </a:r>
            <a:endParaRPr lang="es-MX" sz="5400" b="1">
              <a:latin typeface="Montserrat" panose="00000500000000000000" pitchFamily="50" charset="0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426931EB-0942-B142-0FC7-C81642E72BA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410236" y="1629116"/>
            <a:ext cx="913016" cy="4744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053338"/>
      </p:ext>
    </p:extLst>
  </p:cSld>
  <p:clrMapOvr>
    <a:masterClrMapping/>
  </p:clrMapOvr>
</p:sld>
</file>

<file path=ppt/theme/theme1.xml><?xml version="1.0" encoding="utf-8"?>
<a:theme xmlns:a="http://schemas.openxmlformats.org/drawingml/2006/main" name="3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0F1A998DF485741973047B0282D7461" ma:contentTypeVersion="4" ma:contentTypeDescription="Crear nuevo documento." ma:contentTypeScope="" ma:versionID="1b70b2faf0ee7eb4a2a5c078e35f5067">
  <xsd:schema xmlns:xsd="http://www.w3.org/2001/XMLSchema" xmlns:xs="http://www.w3.org/2001/XMLSchema" xmlns:p="http://schemas.microsoft.com/office/2006/metadata/properties" xmlns:ns2="539bfd63-48c4-4ceb-ad51-e3b6b1d74c20" targetNamespace="http://schemas.microsoft.com/office/2006/metadata/properties" ma:root="true" ma:fieldsID="935c1bb362677d2a5e464ee38cef8249" ns2:_="">
    <xsd:import namespace="539bfd63-48c4-4ceb-ad51-e3b6b1d74c2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9bfd63-48c4-4ceb-ad51-e3b6b1d74c2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188521E-61ED-4F45-B1B4-1DD77D94DB22}">
  <ds:schemaRefs>
    <ds:schemaRef ds:uri="539bfd63-48c4-4ceb-ad51-e3b6b1d74c20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5C2A1A5F-7253-4080-B5DF-B5BC64A6EAC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39bfd63-48c4-4ceb-ad51-e3b6b1d74c2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4B2C89B-F763-4A7D-B5C0-BB607F12021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2785</TotalTime>
  <Words>2297</Words>
  <Application>Microsoft Office PowerPoint</Application>
  <PresentationFormat>Panorámica</PresentationFormat>
  <Paragraphs>292</Paragraphs>
  <Slides>23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23</vt:i4>
      </vt:variant>
    </vt:vector>
  </HeadingPairs>
  <TitlesOfParts>
    <vt:vector size="32" baseType="lpstr">
      <vt:lpstr>Arial</vt:lpstr>
      <vt:lpstr>Calibri</vt:lpstr>
      <vt:lpstr>Calibri Light</vt:lpstr>
      <vt:lpstr>Inter</vt:lpstr>
      <vt:lpstr>Inter SemiBold</vt:lpstr>
      <vt:lpstr>Montserrat</vt:lpstr>
      <vt:lpstr>Roboto</vt:lpstr>
      <vt:lpstr>3_Tema de Office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Paula Andrea Yepes Gómez</dc:creator>
  <cp:lastModifiedBy>SEBASTIAN MONTOYA VILLADA</cp:lastModifiedBy>
  <cp:revision>94</cp:revision>
  <dcterms:created xsi:type="dcterms:W3CDTF">2022-07-12T20:27:57Z</dcterms:created>
  <dcterms:modified xsi:type="dcterms:W3CDTF">2026-08-19T20:51:19Z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0x010100E0F1A998DF485741973047B0282D7461</vt:lpwstr>
  </property>
</Properties>
</file>