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0"/>
  </p:notesMasterIdLst>
  <p:sldIdLst>
    <p:sldId id="259" r:id="rId6"/>
    <p:sldId id="435" r:id="rId7"/>
    <p:sldId id="551" r:id="rId8"/>
    <p:sldId id="552" r:id="rId9"/>
    <p:sldId id="553" r:id="rId10"/>
    <p:sldId id="554" r:id="rId11"/>
    <p:sldId id="555" r:id="rId12"/>
    <p:sldId id="556" r:id="rId13"/>
    <p:sldId id="557" r:id="rId14"/>
    <p:sldId id="558" r:id="rId15"/>
    <p:sldId id="559" r:id="rId16"/>
    <p:sldId id="560" r:id="rId17"/>
    <p:sldId id="561" r:id="rId18"/>
    <p:sldId id="562" r:id="rId19"/>
    <p:sldId id="563" r:id="rId20"/>
    <p:sldId id="564" r:id="rId21"/>
    <p:sldId id="565" r:id="rId22"/>
    <p:sldId id="566" r:id="rId23"/>
    <p:sldId id="567" r:id="rId24"/>
    <p:sldId id="568" r:id="rId25"/>
    <p:sldId id="569" r:id="rId26"/>
    <p:sldId id="570" r:id="rId27"/>
    <p:sldId id="571" r:id="rId28"/>
    <p:sldId id="358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13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13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Funciones inyectivas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Funciones sobreyectivas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Funciones biyectivas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Composición de funciones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Función inversa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clasificar una función según su inyectividad y sobreyectividad, componer funciones y hallar la inversa cuando exista.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La pregunta que quedó abierta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Retomamos las funciones después del parcial: ya vimos que volver de B hacia A puede fallar. Hoy le ponemos nombre a cada caso.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Ir de A hacia B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Siempre funciona y da un único resultado.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definición misma de función.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Volver de B hacia 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preimagen de un elemento puede tener varios elementos, uno solo, o ninguno.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 ahí salen los tres conceptos de hoy.</a:t>
            </a:r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2194560" y="4526280"/>
          <a:ext cx="7772400" cy="169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Si la preimagen de cada b tiene…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La función es…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lo sumo un elemento (nunca dos)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Inyectiva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Al menos un elemento (nunca ninguno)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Sobreyectiva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Exactamente un elemento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Biyectiva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Función inyectiva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Elementos distintos del dominio tienen imágenes distintas.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f es inyectiva  si   f(a₁) = f(a₂)  implica  a₁ = a₂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88720" y="3429000"/>
            <a:ext cx="1051560" cy="1600200"/>
          </a:xfrm>
          <a:prstGeom prst="ellipse">
            <a:avLst/>
          </a:prstGeom>
          <a:solidFill>
            <a:srgbClr val="2563EB">
              <a:alpha val="10000"/>
            </a:srgbClr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88720" y="309981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1" name="Oval 110"/>
          <p:cNvSpPr/>
          <p:nvPr/>
        </p:nvSpPr>
        <p:spPr>
          <a:xfrm>
            <a:off x="3017520" y="3429000"/>
            <a:ext cx="1051560" cy="1600200"/>
          </a:xfrm>
          <a:prstGeom prst="ellipse">
            <a:avLst/>
          </a:prstGeom>
          <a:solidFill>
            <a:srgbClr val="0E9488">
              <a:alpha val="10000"/>
            </a:srgbClr>
          </a:solidFill>
          <a:ln w="1651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017520" y="309981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113" name="Oval 112"/>
          <p:cNvSpPr/>
          <p:nvPr/>
        </p:nvSpPr>
        <p:spPr>
          <a:xfrm>
            <a:off x="1668780" y="378333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330452" y="37101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1</a:t>
            </a:r>
          </a:p>
        </p:txBody>
      </p:sp>
      <p:sp>
        <p:nvSpPr>
          <p:cNvPr id="115" name="Oval 114"/>
          <p:cNvSpPr/>
          <p:nvPr/>
        </p:nvSpPr>
        <p:spPr>
          <a:xfrm>
            <a:off x="1668780" y="41833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330452" y="411022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2</a:t>
            </a:r>
          </a:p>
        </p:txBody>
      </p:sp>
      <p:sp>
        <p:nvSpPr>
          <p:cNvPr id="117" name="Oval 116"/>
          <p:cNvSpPr/>
          <p:nvPr/>
        </p:nvSpPr>
        <p:spPr>
          <a:xfrm>
            <a:off x="1668780" y="458343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330452" y="45102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3</a:t>
            </a:r>
          </a:p>
        </p:txBody>
      </p:sp>
      <p:sp>
        <p:nvSpPr>
          <p:cNvPr id="119" name="Oval 118"/>
          <p:cNvSpPr/>
          <p:nvPr/>
        </p:nvSpPr>
        <p:spPr>
          <a:xfrm>
            <a:off x="3497580" y="370332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634740" y="363016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x</a:t>
            </a:r>
          </a:p>
        </p:txBody>
      </p:sp>
      <p:sp>
        <p:nvSpPr>
          <p:cNvPr id="121" name="Oval 120"/>
          <p:cNvSpPr/>
          <p:nvPr/>
        </p:nvSpPr>
        <p:spPr>
          <a:xfrm>
            <a:off x="3497580" y="402336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634740" y="395020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y</a:t>
            </a:r>
          </a:p>
        </p:txBody>
      </p:sp>
      <p:sp>
        <p:nvSpPr>
          <p:cNvPr id="123" name="Oval 122"/>
          <p:cNvSpPr/>
          <p:nvPr/>
        </p:nvSpPr>
        <p:spPr>
          <a:xfrm>
            <a:off x="3497580" y="434340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634740" y="427024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z</a:t>
            </a:r>
          </a:p>
        </p:txBody>
      </p:sp>
      <p:sp>
        <p:nvSpPr>
          <p:cNvPr id="125" name="Oval 124"/>
          <p:cNvSpPr/>
          <p:nvPr/>
        </p:nvSpPr>
        <p:spPr>
          <a:xfrm>
            <a:off x="3497580" y="466344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34740" y="459028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w</a:t>
            </a:r>
          </a:p>
        </p:txBody>
      </p:sp>
      <p:cxnSp>
        <p:nvCxnSpPr>
          <p:cNvPr id="127" name="Connector 126"/>
          <p:cNvCxnSpPr/>
          <p:nvPr/>
        </p:nvCxnSpPr>
        <p:spPr>
          <a:xfrm flipV="1">
            <a:off x="1796796" y="3749039"/>
            <a:ext cx="1664208" cy="80011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796796" y="4069080"/>
            <a:ext cx="1664208" cy="16002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796796" y="4389120"/>
            <a:ext cx="1664208" cy="24003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Google Shape;107;p14"/>
          <p:cNvSpPr txBox="1"/>
          <p:nvPr/>
        </p:nvSpPr>
        <p:spPr>
          <a:xfrm>
            <a:off x="548640" y="53492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Ninguna flecha llega dos veces al mismo punto.</a:t>
            </a:r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5852160" y="3383280"/>
            <a:ext cx="5577840" cy="1234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080760" y="352958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se ve en el diagrama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080760" y="395020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cada elemento de B llega, como máximo, una flecha. Puede sobrar espacio en B.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52160" y="4754880"/>
            <a:ext cx="557784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080760" y="490118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 y contraejemplo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080760" y="532180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 : ℤ → ℤ, f(n) = 2n  es inyectiva.   g : ℤ → ℤ, g(n) = n²  no lo es: g(2) = g(−2).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Función sobreyectiva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Todo elemento del codominio es imagen de alguien.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f es sobreyectiva  si   para todo b ∈ B existe a ∈ A con  f(a) = b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88720" y="3429000"/>
            <a:ext cx="1051560" cy="1600200"/>
          </a:xfrm>
          <a:prstGeom prst="ellipse">
            <a:avLst/>
          </a:prstGeom>
          <a:solidFill>
            <a:srgbClr val="2563EB">
              <a:alpha val="10000"/>
            </a:srgbClr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88720" y="309981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1" name="Oval 110"/>
          <p:cNvSpPr/>
          <p:nvPr/>
        </p:nvSpPr>
        <p:spPr>
          <a:xfrm>
            <a:off x="3017520" y="3429000"/>
            <a:ext cx="1051560" cy="1600200"/>
          </a:xfrm>
          <a:prstGeom prst="ellipse">
            <a:avLst/>
          </a:prstGeom>
          <a:solidFill>
            <a:srgbClr val="0E9488">
              <a:alpha val="10000"/>
            </a:srgbClr>
          </a:solidFill>
          <a:ln w="1651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017520" y="309981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113" name="Oval 112"/>
          <p:cNvSpPr/>
          <p:nvPr/>
        </p:nvSpPr>
        <p:spPr>
          <a:xfrm>
            <a:off x="1668780" y="378333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330452" y="37101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1</a:t>
            </a:r>
          </a:p>
        </p:txBody>
      </p:sp>
      <p:sp>
        <p:nvSpPr>
          <p:cNvPr id="115" name="Oval 114"/>
          <p:cNvSpPr/>
          <p:nvPr/>
        </p:nvSpPr>
        <p:spPr>
          <a:xfrm>
            <a:off x="1668780" y="41833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330452" y="411022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2</a:t>
            </a:r>
          </a:p>
        </p:txBody>
      </p:sp>
      <p:sp>
        <p:nvSpPr>
          <p:cNvPr id="117" name="Oval 116"/>
          <p:cNvSpPr/>
          <p:nvPr/>
        </p:nvSpPr>
        <p:spPr>
          <a:xfrm>
            <a:off x="1668780" y="458343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330452" y="45102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3</a:t>
            </a:r>
          </a:p>
        </p:txBody>
      </p:sp>
      <p:sp>
        <p:nvSpPr>
          <p:cNvPr id="119" name="Oval 118"/>
          <p:cNvSpPr/>
          <p:nvPr/>
        </p:nvSpPr>
        <p:spPr>
          <a:xfrm>
            <a:off x="3497580" y="391668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634740" y="384352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x</a:t>
            </a:r>
          </a:p>
        </p:txBody>
      </p:sp>
      <p:sp>
        <p:nvSpPr>
          <p:cNvPr id="121" name="Oval 120"/>
          <p:cNvSpPr/>
          <p:nvPr/>
        </p:nvSpPr>
        <p:spPr>
          <a:xfrm>
            <a:off x="3497580" y="445008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634740" y="437692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y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796796" y="3829050"/>
            <a:ext cx="1664208" cy="133349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796796" y="3962399"/>
            <a:ext cx="1664208" cy="266701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796796" y="4495800"/>
            <a:ext cx="1664208" cy="13335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Google Shape;107;p14"/>
          <p:cNvSpPr txBox="1"/>
          <p:nvPr/>
        </p:nvSpPr>
        <p:spPr>
          <a:xfrm>
            <a:off x="548640" y="53492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todo punto de B llega al menos una flecha.</a:t>
            </a:r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5852160" y="3383280"/>
            <a:ext cx="5577840" cy="1234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080760" y="352958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se ve en el diagrama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080760" y="395020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sobra ningún elemento en B. El rango coincide con el codominio.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852160" y="4754880"/>
            <a:ext cx="557784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080760" y="490118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 y contraejemplo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080760" y="532180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 : ℤ → ℤ, f(n) = n + 1  es sobreyectiva.   g : ℤ → ℤ, g(n) = 2n  no lo es: nadie llega al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Función biyectiva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Inyectiva y sobreyectiva a la vez.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f es biyectiva  si  es inyectiva y sobreyectiva:  cada b tiene exactamente una preimagen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88720" y="3429000"/>
            <a:ext cx="1051560" cy="1600200"/>
          </a:xfrm>
          <a:prstGeom prst="ellipse">
            <a:avLst/>
          </a:prstGeom>
          <a:solidFill>
            <a:srgbClr val="2563EB">
              <a:alpha val="10000"/>
            </a:srgbClr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88720" y="309981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1" name="Oval 110"/>
          <p:cNvSpPr/>
          <p:nvPr/>
        </p:nvSpPr>
        <p:spPr>
          <a:xfrm>
            <a:off x="3017520" y="3429000"/>
            <a:ext cx="1051560" cy="1600200"/>
          </a:xfrm>
          <a:prstGeom prst="ellipse">
            <a:avLst/>
          </a:prstGeom>
          <a:solidFill>
            <a:srgbClr val="0E9488">
              <a:alpha val="10000"/>
            </a:srgbClr>
          </a:solidFill>
          <a:ln w="1651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017520" y="309981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113" name="Oval 112"/>
          <p:cNvSpPr/>
          <p:nvPr/>
        </p:nvSpPr>
        <p:spPr>
          <a:xfrm>
            <a:off x="1668780" y="378333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330452" y="37101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1</a:t>
            </a:r>
          </a:p>
        </p:txBody>
      </p:sp>
      <p:sp>
        <p:nvSpPr>
          <p:cNvPr id="115" name="Oval 114"/>
          <p:cNvSpPr/>
          <p:nvPr/>
        </p:nvSpPr>
        <p:spPr>
          <a:xfrm>
            <a:off x="1668780" y="41833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330452" y="411022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2</a:t>
            </a:r>
          </a:p>
        </p:txBody>
      </p:sp>
      <p:sp>
        <p:nvSpPr>
          <p:cNvPr id="117" name="Oval 116"/>
          <p:cNvSpPr/>
          <p:nvPr/>
        </p:nvSpPr>
        <p:spPr>
          <a:xfrm>
            <a:off x="1668780" y="458343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330452" y="45102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3</a:t>
            </a:r>
          </a:p>
        </p:txBody>
      </p:sp>
      <p:sp>
        <p:nvSpPr>
          <p:cNvPr id="119" name="Oval 118"/>
          <p:cNvSpPr/>
          <p:nvPr/>
        </p:nvSpPr>
        <p:spPr>
          <a:xfrm>
            <a:off x="3497580" y="378333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634740" y="37101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x</a:t>
            </a:r>
          </a:p>
        </p:txBody>
      </p:sp>
      <p:sp>
        <p:nvSpPr>
          <p:cNvPr id="121" name="Oval 120"/>
          <p:cNvSpPr/>
          <p:nvPr/>
        </p:nvSpPr>
        <p:spPr>
          <a:xfrm>
            <a:off x="3497580" y="418338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634740" y="411022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y</a:t>
            </a:r>
          </a:p>
        </p:txBody>
      </p:sp>
      <p:sp>
        <p:nvSpPr>
          <p:cNvPr id="123" name="Oval 122"/>
          <p:cNvSpPr/>
          <p:nvPr/>
        </p:nvSpPr>
        <p:spPr>
          <a:xfrm>
            <a:off x="3497580" y="458343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634740" y="451027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z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796796" y="3829050"/>
            <a:ext cx="1664208" cy="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796796" y="4229100"/>
            <a:ext cx="1664208" cy="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796796" y="4629150"/>
            <a:ext cx="1664208" cy="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Google Shape;107;p14"/>
          <p:cNvSpPr txBox="1"/>
          <p:nvPr/>
        </p:nvSpPr>
        <p:spPr>
          <a:xfrm>
            <a:off x="457200" y="53492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Emparejamiento perfecto: nada sobra y nada se repite.</a:t>
            </a: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5852160" y="3383280"/>
            <a:ext cx="5577840" cy="1234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080760" y="352958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consecuencia importante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080760" y="395020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Solo las funciones biyectivas tienen inversa. Es el tema del final de la sesión.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852160" y="4754880"/>
            <a:ext cx="557784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080760" y="490118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En conjuntos finitos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080760" y="532180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f : A → B es biyectiva, entonces |A| = |B|. Una biyección es un conteo.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Los tres tipos, uno al lado del otro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Cada propiedad controla un aspecto distinto.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468880"/>
          <a:ext cx="10652758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1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8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9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Tipo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Condición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En el diagrama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Sobre el rango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Inyectiva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f(a₁) = f(a₂) → a₁ = a₂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cada b llega a lo sumo una flecha.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Puede ser más pequeño que B.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Sobreyectiva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∀b ∈ B ∃a ∈ A con f(a) = b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cada b llega al menos una flecha.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Rango = codominio.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Biyectiva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Ambas a la vez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cada b llega exactamente una flecha.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Rango = codominio y sin repeticiones.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035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486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truco para no confundirlas: inyectiva controla que no se repitan las llegadas; sobreyectiva controla que no falte ninguna llegada.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clasifique cada función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función, diga si es inyectiva, sobreyectiva, biyectiva o ninguna. No todas son fórmulas.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5176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A = {1,2,3,4}, B = {x,y,z},  f = {(1,x),(2,y),(3,y),(4,z)}
2)   f : ℤ → ℤ,  f(n) = |n|
3)   f : ℕ → ℤ,  f(n) = n
4)   A = {1,2,3}, B = {4,5,6},  f = {(1,5),(2,4),(3,6)}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1 fíjese en los tamaños de A y B antes de calcular nada: ¿puede ser inyectiva?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Clasificación y razón.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6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1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#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Clasificación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Razón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Sobreyectiva, no inyectiva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El elemento y tiene dos preimágenes (2 y 3): no inyectiva. Pero x, y, z se alcanzan: sí sobreyectiva. De hecho no podía ser inyectiva: A tiene 4 elementos y B solo 3.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Ninguna de las dos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f(2) = f(−2) = 2: no inyectiva. Y −1 no es imagen de ningún entero: no sobreyectiva.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Inyectiva, no sobreyectiva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n₁ = n₂ se sigue de f(n₁) = f(n₂): es la identidad, inyectiva. Pero ningún natural da −1: no sobreyectiva.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Biyectiva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Cada elemento de B tiene exactamente una preimagen.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3 muestra algo clave: cambiar el dominio de ℤ a ℕ puede volver sobreyectiva una función que no lo era, o quitarle la sobreyectividad a una que sí la tenía, como la identidad aquí.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Cómo verificar la inyectividad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esquema corto para comprobarla cuando f tiene fórmula.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8096" y="251460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280160" y="2532888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Suponga que f(a₁) = f(a₂), con a₁ y a₂ del dominio.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13639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280160" y="3154680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Reemplace con la fórmula de la función.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75818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1280160" y="3776472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Simplifique hasta obtener a₁ = a₂ (o vea que no se puede).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37997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5" name="Google Shape;107;p14"/>
          <p:cNvSpPr txBox="1"/>
          <p:nvPr/>
        </p:nvSpPr>
        <p:spPr>
          <a:xfrm>
            <a:off x="1280160" y="4398264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obtuvo a₁ = a₂, es inyectiva; si no, busque un contraejemplo.</a:t>
            </a:r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680960" y="256032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7909560" y="2706624"/>
            <a:ext cx="329183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descartarla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7909560" y="3127248"/>
            <a:ext cx="3291839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Basta exhibir dos elementos distintos con la misma imagen. Con funciones no lineales, a veces hay que factorizar f(a₁) − f(a₂) para encontrarlos.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1051560" y="5321808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También puede leerse al revés: si a₁ ≠ a₂, entonces f(a₁) ≠ f(a₂). Es la misma idea, expresada de otra forma; use la que le resulte más cómoda.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Verifique si  f : ℤ → ℤ,  f(n) = n² − 4n + 3  es inyectiva.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84124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Planteamiento</a:t>
                      </a:r>
                    </a:p>
                  </a:txBody>
                  <a:tcPr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f(n₁) = f(n₂)  ⟹  n₁² − 4n₁ + 3 = n₂² − 4n₂ + 3</a:t>
                      </a:r>
                    </a:p>
                  </a:txBody>
                  <a:tcPr marT="27432" marB="27432" anchor="ctr"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Factorización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(n₁ − n₂)(n₁ + n₂) = 4(n₁ − n₂)  ⟹  (n₁ − n₂)(n₁ + n₂ − 4) = 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Conclusión</a:t>
                      </a:r>
                    </a:p>
                  </a:txBody>
                  <a:tcPr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Se cumple si n₁ = n₂, pero también si n₁ + n₂ = 4 con n₁ ≠ n₂ (por ejemplo, 0 y 4): f no es inyectiva.</a:t>
                      </a:r>
                    </a:p>
                  </a:txBody>
                  <a:tcPr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Alerta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738360" y="3218688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factor extra como (n₁ + n₂ − 4) que puede anularse sin que n₁ = n₂ ya es un contraejemplo: f(0) = f(4) =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Cómo verificar la sobreyectividad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Aquí hay que construir la preimagen.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8096" y="251460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280160" y="2532888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Tome un elemento b arbitrario del codominio.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13639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280160" y="3154680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Plantee f(a) = b y despeje a en términos de b.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75818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1280160" y="3776472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Verifique que ese a pertenece al dominio.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37997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5" name="Google Shape;107;p14"/>
          <p:cNvSpPr txBox="1"/>
          <p:nvPr/>
        </p:nvSpPr>
        <p:spPr>
          <a:xfrm>
            <a:off x="1280160" y="4398264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todo b tiene preimagen, f es sobreyectiva.</a:t>
            </a:r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680960" y="256032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7909560" y="2706624"/>
            <a:ext cx="329183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paso que se olvida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7909560" y="3127248"/>
            <a:ext cx="3291839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Verificar que el a despejado está en el dominio.
Si el dominio es ℤ y a resulta fraccionario, la función no es sobreyectiva.
Si f no es monótona (por ejemplo, tiene un mínimo o está definida por casos), a veces es más fácil acotar el rango directamente que despejar.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1051560" y="5321808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estructura ∀b ∃a que ya vimos con cuantificadores: el a puede depender de b.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¿Es  f : ℤ → ℤ,  f(n) = n² − 4n + 3  sobreyectiva?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84124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Forma útil</a:t>
                      </a:r>
                    </a:p>
                  </a:txBody>
                  <a:tcPr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f(n) = n² − 4n + 3 = (n − 2)² − 1</a:t>
                      </a:r>
                    </a:p>
                  </a:txBody>
                  <a:tcPr marT="27432" marB="27432" anchor="ctr"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Observación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Como (n − 2)² ≥ 0 siempre, se tiene f(n) ≥ −1 para todo n ∈ ℤ. El mínimo, −1, se alcanza en n = 2.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Conclusión</a:t>
                      </a:r>
                    </a:p>
                  </a:txBody>
                  <a:tcPr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Ningún entero menor que −1 (por ejemplo, −2) tiene preimagen: f no es sobreyectiva.</a:t>
                      </a:r>
                    </a:p>
                  </a:txBody>
                  <a:tcPr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738360" y="3218688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función del ejemplo anterior: tampoco es inyectiva. Con cuadráticas conviene completar el cuadrado antes de despejar.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inyectiva y sobreyectiva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función, determine si es inyectiva y si es sobreyectiva, y justifique en una línea.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f : ℤ → ℤ,  f(n) = n² + 1
2)   f : ℤ → ℤ,  f(n) = −n
3)   f : ℕ → ℤ,  f(n) = −n
4)   f : ℤ → ℤ,  f(n) = n + 1 si n es par,  f(n) = n − 1 si n es impar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4 calcule varios valores antes de concluir algo: f(0), f(1), f(2), f(3)... ¿qué patrón ve?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Resultado y justificación.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7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#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Inyectiva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Sobreyectiva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Justificación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f(1) = f(−1) = 2: no inyectiva. El mínimo de f es 1 (en n = 0): nada menor que 1 tiene preimagen.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−n₁ = −n₂ da n₁ = n₂. Y todo entero b es imagen de −b. Es biyectiva.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−n₁ = −n₂ da n₁ = n₂: sigue siendo inyectiva. Pero ningún natural da un entero positivo: no sobreyectiva.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f(0)=1, f(1)=0, f(2)=3, f(3)=2… intercambia cada par (par, impar siguiente). Es su propia inversa: biyectiva.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166360"/>
            <a:ext cx="10652760" cy="10058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Compare 2 y 3: la misma fórmula −n es biyectiva sobre ℤ pero deja de ser sobreyectiva al restringir el dominio a ℕ. El punto 4 muestra que una función puede verse complicada y aun así ser una biyección simple.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Composición de funciones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Aplicar una función y después otra.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(g ∘ f)(x)  =  g( f(x) )        con  f : A → B  y  g : B → C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914400" y="3520440"/>
            <a:ext cx="1005840" cy="1554480"/>
          </a:xfrm>
          <a:prstGeom prst="ellipse">
            <a:avLst/>
          </a:prstGeom>
          <a:solidFill>
            <a:srgbClr val="2563EB">
              <a:alpha val="10000"/>
            </a:srgbClr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14400" y="319125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ontserrat"/>
              </a:rPr>
              <a:t>A</a:t>
            </a:r>
          </a:p>
        </p:txBody>
      </p:sp>
      <p:sp>
        <p:nvSpPr>
          <p:cNvPr id="111" name="Oval 110"/>
          <p:cNvSpPr/>
          <p:nvPr/>
        </p:nvSpPr>
        <p:spPr>
          <a:xfrm>
            <a:off x="2926080" y="3520440"/>
            <a:ext cx="1005840" cy="1554480"/>
          </a:xfrm>
          <a:prstGeom prst="ellipse">
            <a:avLst/>
          </a:prstGeom>
          <a:solidFill>
            <a:srgbClr val="0E9488">
              <a:alpha val="10000"/>
            </a:srgbClr>
          </a:solidFill>
          <a:ln w="1651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926080" y="319125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113" name="Oval 112"/>
          <p:cNvSpPr/>
          <p:nvPr/>
        </p:nvSpPr>
        <p:spPr>
          <a:xfrm>
            <a:off x="4937760" y="3520440"/>
            <a:ext cx="1005840" cy="1554480"/>
          </a:xfrm>
          <a:prstGeom prst="ellipse">
            <a:avLst/>
          </a:prstGeom>
          <a:solidFill>
            <a:srgbClr val="D97706">
              <a:alpha val="10000"/>
            </a:srgbClr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937760" y="3191256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Montserrat"/>
              </a:rPr>
              <a:t>C</a:t>
            </a:r>
          </a:p>
        </p:txBody>
      </p:sp>
      <p:sp>
        <p:nvSpPr>
          <p:cNvPr id="115" name="Oval 114"/>
          <p:cNvSpPr/>
          <p:nvPr/>
        </p:nvSpPr>
        <p:spPr>
          <a:xfrm>
            <a:off x="1371600" y="425196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33272" y="417880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2563EB"/>
                </a:solidFill>
                <a:latin typeface="Roboto"/>
              </a:rPr>
              <a:t>x</a:t>
            </a:r>
          </a:p>
        </p:txBody>
      </p:sp>
      <p:sp>
        <p:nvSpPr>
          <p:cNvPr id="117" name="Oval 116"/>
          <p:cNvSpPr/>
          <p:nvPr/>
        </p:nvSpPr>
        <p:spPr>
          <a:xfrm>
            <a:off x="3383280" y="4251960"/>
            <a:ext cx="91440" cy="9144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520440" y="417880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0E9488"/>
                </a:solidFill>
                <a:latin typeface="Roboto"/>
              </a:rPr>
              <a:t>f(x)</a:t>
            </a:r>
          </a:p>
        </p:txBody>
      </p:sp>
      <p:sp>
        <p:nvSpPr>
          <p:cNvPr id="119" name="Oval 118"/>
          <p:cNvSpPr/>
          <p:nvPr/>
        </p:nvSpPr>
        <p:spPr>
          <a:xfrm>
            <a:off x="5394960" y="4251960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532120" y="4178808"/>
            <a:ext cx="29260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D97706"/>
                </a:solidFill>
                <a:latin typeface="Roboto"/>
              </a:rPr>
              <a:t>g(f(x))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499616" y="4297680"/>
            <a:ext cx="1847088" cy="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511296" y="4297680"/>
            <a:ext cx="1847088" cy="0"/>
          </a:xfrm>
          <a:prstGeom prst="line">
            <a:avLst/>
          </a:prstGeom>
          <a:ln w="13970">
            <a:solidFill>
              <a:srgbClr val="94A3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2011680" y="3977639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Montserrat"/>
              </a:rPr>
              <a:t>f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3360" y="3977639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Montserrat"/>
              </a:rPr>
              <a:t>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949440" y="3520440"/>
            <a:ext cx="4480560" cy="12344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178040" y="3666744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orden importa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7178040" y="4087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 ∘ f  se lee «g después de f». Primero actúa la de la derecha.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949440" y="4892040"/>
            <a:ext cx="4480560" cy="1234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7178040" y="5038344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Condición para poder componer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7178040" y="54589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codominio de f debe ser el dominio de g.</a:t>
            </a:r>
          </a:p>
        </p:txBody>
      </p:sp>
      <p:sp>
        <p:nvSpPr>
          <p:cNvPr id="7" name="Google Shape;107;p14"/>
          <p:cNvSpPr txBox="1"/>
          <p:nvPr/>
        </p:nvSpPr>
        <p:spPr>
          <a:xfrm>
            <a:off x="1325880" y="5257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composición va de A directamente hasta C.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3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 f : ℤ → ℤ, f(n) = n + 1   y   g : ℤ → ℤ, g(n) = n².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8412479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Pregunta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Desarrollo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Resultado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(g ∘ f)(n)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g(f(n)) = g(n + 1) = (n + 1)²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n² + 2n + 1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(f ∘ g)(n)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f(g(n)) = f(n²) = n² + 1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n² + 1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(g ∘ f)(2)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(2 + 1)²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(f ∘ g)(2)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2² + 1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1031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738360" y="3218688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solo cambia el resultado numérico: g ∘ f y f ∘ g ni siquiera tienen la misma forma (una suma 2n extra). Componer no es conmutativo.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Función inversa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Deshacer lo que hizo la función.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f⁻¹ existe  si y solo si  f es biyectiva.     Y entonces  f⁻¹(b) = a  cuando  f(a) = b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3756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4838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Por qué hace falta la biyectividad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390448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no es inyectiva, un b tendría dos preimágenes y f⁻¹(b) no sería único.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no es sobreyectiva, algún b no tendría preimagen y f⁻¹ no estaría definida allí.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333756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34838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se halla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37376" y="390448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escribe y = f(x) y se despeja x en términos de y.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expresión obtenida es f⁻¹(y).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440680"/>
            <a:ext cx="10652760" cy="11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596128"/>
            <a:ext cx="10058400" cy="8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Propiedad que conviene recordar:  (f⁻¹ ∘ f)(x) = x  y  (f ∘ f⁻¹)(y) = y. Componer una función con su inversa deja todo como estaba.
Dato útil para afines: en f(n) = an + b sobre ℤ, la inversa solo tiene fórmula entera cuando a = 1 o a = −1. Cualquier otro valor de a deja huecos en el codominio.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4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Halle la inversa de  f : ℤ → ℤ,  f(n) = 8 − n.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8412477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Paso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Desarrollo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Justificación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f es biyectiva: 8−n₁=8−n₂ ⟹ n₁=n₂, y todo entero y es imagen de 8−y.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Condición para que exista la inversa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Se escribe  y = 8 − n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Se iguala a la variable de llegada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n = 8 − y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Se despeja n (coeficiente −1: siempre da entero)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f⁻¹(y) = 8 − y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Definición de la inversa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Verificación: f⁻¹(f(n)) = 8 − (8 − n) = n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Se comprueba la propiedad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738360" y="27980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Curiosidad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738360" y="3383280"/>
            <a:ext cx="146304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 es su propia inversa: f⁻¹ = f. Compruébelo con cualquier valor: f(f(3)) = f(5) = 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composición e inversa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 f : ℤ → ℤ, f(n) = 3n + 2   y   g : ℤ → ℤ, g(n) = n − 5.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Halle (g ∘ f)(n)  y  (f ∘ g)(n).
2)   Calcule (g ∘ f)(3)  y  (f ∘ g)(3).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6217920" y="269748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¿Existe g⁻¹? Si existe, hállela.
4)   ¿Existe f⁻¹ en ℤ? Justifique.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4754880"/>
            <a:ext cx="10652760" cy="14173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4892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Antes de despejar en los puntos 3 y 4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Compruebe primero si la función es biyectiva. En el punto 4, pregúntese si todo entero se puede escribir como 3n + 2 para algún entero 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Desarrollo.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9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#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Respuesta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Justificación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(g ∘ f)(n) = 3n − 3   ·   (f ∘ g)(n) = 3n − 13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g(3n+2) = 3n+2−5 y f(n−5) = 3(n−5)+2.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(g ∘ f)(3) = 6   ·   (f ∘ g)(3) = −4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Se reemplaza n = 3 en cada expresión.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g⁻¹(y) = y + 5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g es biyectiva en ℤ (coeficiente 1): se despeja n de y = n − 5.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No existe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f no es sobreyectiva: 3n+2 nunca da 0, por ejemplo, porque n = −2/3 no es entero.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12080"/>
            <a:ext cx="10652760" cy="9601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4 es la lección de la sesión: f es inyectiva pero no sobreyectiva, porque su coeficiente (3) no es 1 ni −1. Compare con g, que sí es biyectiva.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Errores frecuentes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más comunes del tema.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Confundir las dos propiedades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Inyectiva controla que no se repitan las llegadas; sobreyectiva, que no falte ninguna.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Invertir el orden de la composición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g ∘ f actúa primero f. No es lo mismo que f ∘ g.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99669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Despejar la inversa sin verificar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99669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la función no es biyectiva, la expresión despejada no es una función inversa.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0877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643737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Olvidar el dominio al despejar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643737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a despejado que no pertenece al dominio no sirve como preimagen.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entregar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Determine si f : ℤ → ℤ, f(n) = 2n² − 3 es inyectiva y si es sobreyectiva; justifique.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Sea f : ℤ → {0,1}, f(n) = resto de dividir n entre 2. ¿Es inyectiva? ¿Es sobreyectiva?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Con f(n) = n − 2 y g(n) = n² sobre ℤ, halle (g ∘ f)(n), (f ∘ g)(n) y evalúelas en n = 5.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4. ¿Tiene inversa f : ℤ → ℤ, f(n) = 4n − 9? Justifique sin despejar primero.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5. Reto: f : ℤ → ℤ, f(n) = n + 2 si n es par, f(n) = n − 2 si n es impar. ¿Es biyectiva?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entregarlas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cada clasificación, verifique la propiedad que se cumple y dé contraejemplo de la que falla.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Antes de hallar una inversa, justifique que la función es biyectiva.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Lectura: sección 2.2 de Johnsonbaugh.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grafos. Dejamos las funciones y relaciones para modelar situaciones con vértices y aristas.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2821</TotalTime>
  <Words>3130</Words>
  <Application>Microsoft Office PowerPoint</Application>
  <PresentationFormat>Panorámica</PresentationFormat>
  <Paragraphs>307</Paragraphs>
  <Slides>24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94</cp:revision>
  <dcterms:created xsi:type="dcterms:W3CDTF">2022-07-12T20:27:57Z</dcterms:created>
  <dcterms:modified xsi:type="dcterms:W3CDTF">2026-10-01T14:58:16Z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