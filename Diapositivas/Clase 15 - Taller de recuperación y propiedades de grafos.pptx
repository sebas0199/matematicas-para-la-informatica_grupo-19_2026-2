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Respuestas. 1) Es simétrica: se dibuja como grafo, con un lazo en cada vértice. Reflexiva, simétrica, no antisimétrica ((1,2) y (2,1)), transitiva: es de equivalencia. El dibujo queda en dos piezas, {1,2,3} y {4,5}: son exactamente los grupos de la equivalencia. La diagonal es toda de unos (reflexiva) y la matriz es simétrica porque la relación lo es. 2) 2,2,2,1 suma 7, impar: no existe. 4,3,3,2,2 suma 14, par: sí existe (A unido a todos, B–C, B–D, C–E). 3) K5: 10 aristas, grado 4; K6: 15 aristas, grado 5. 4) n(n−1)/2 = 21 → n =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NTENIDO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14884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para la informática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31546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 · Taller de recuperación y propiedades de grafos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Montoya Villada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partes hoy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5212080" cy="2926080"/>
          </a:xfrm>
          <a:prstGeom prst="roundRect">
            <a:avLst>
              <a:gd name="adj" fmla="val 4688"/>
            </a:avLst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228600" tIns="279400" rIns="279400" bIns="2286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60 min</a:t>
            </a:r>
            <a:endParaRPr lang="en-US" sz="15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recuperación en parejas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ejercicios: principio de inclusión-exclusión, funciones y propiedades de las relaciones. Una hoja de respuestas por pareja.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0" y="1645920"/>
            <a:ext cx="5212080" cy="2926080"/>
          </a:xfrm>
          <a:prstGeom prst="roundRect">
            <a:avLst>
              <a:gd name="adj" fmla="val 4688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228600" tIns="279400" rIns="279400" bIns="2286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45 min</a:t>
            </a:r>
            <a:endParaRPr lang="en-US" sz="15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de grafos y digrafos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 de entrada y salida, grados impares, el grafo completo, y cómo se ven en el digrafo las propiedades de una relación.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937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nota del taller se suma a la recuperación del parcial (sesiones 9 a 12).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TALLER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el taller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8249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45920"/>
            <a:ext cx="5029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Trabajen en parejas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Escriban los dos nombres en la hoja de respuestas.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64261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606040"/>
            <a:ext cx="5029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hoja por pareja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único que se entrega.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60273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566160"/>
            <a:ext cx="5029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en el recuadro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Hagan el procedimiento corto y escriban el resultado final donde dice «Respuesta».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456285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526280"/>
            <a:ext cx="5029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60 minutos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sugiero el tiempo de la tabla para no quedarse en un solo punto.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91640"/>
          <a:ext cx="46634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783080"/>
                <a:gridCol w="914400"/>
                <a:gridCol w="914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Ejercicio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Inclusión-exclusión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· INCLUSIÓN-EXCLUSIÓN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 en el ITM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692640" y="27432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FFEDD5"/>
          </a:solidFill>
          <a:ln>
            <a:solidFill>
              <a:srgbClr val="FFEDD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puntos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544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A.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40 estudiantes, 25 programan en Python, 18 en Java y 8 en los dos lenguajes.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6829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3172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programan en al menos uno de los dos?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7121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3464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no programan en ninguno?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37413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33756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programan solo en Python?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87705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84048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Dibuje el diagrama de Venn con los números en cada región.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4348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B.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50 estudiantes: 20 ven Cálculo, 25 Física y 15 Programación. 8 ven Cálculo y Física, 5 Cálculo y Programación, 7 Física y Programación, y 3 ven las tres.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538581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534924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ven al menos una? ¿Cuántos no ven ninguna?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43800" y="1600200"/>
            <a:ext cx="3886200" cy="4206240"/>
          </a:xfrm>
          <a:prstGeom prst="roundRect">
            <a:avLst>
              <a:gd name="adj" fmla="val 2824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203200" tIns="228600" rIns="228600" bIns="2032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Recuerde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conjuntos: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 ∪ B| = |A| + |B| − |A ∩ B|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conjuntos: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 ∪ B ∪ C| = |A| + |B| + |C|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|A∩B| − |A∩C| − |B∩C|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|A∩B∩C|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«Ninguno» = total − «al menos uno».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· FUNCIONES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Funciones: definición, imagen y rango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692640" y="27432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FFEDD5"/>
          </a:solidFill>
          <a:ln>
            <a:solidFill>
              <a:srgbClr val="FFEDD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puntos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54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 = {1, 2, 3} y B = {x, y}, ¿cuáles son funciones de A en B? Si no lo es, diga qué condición falla.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2103120"/>
          <a:ext cx="101498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383280"/>
                <a:gridCol w="33832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F₁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F₂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F₃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(1,x), (2,y), (3,x) }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(1,x), (1,y), (2,x), (3,y) }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(1,y), (2,y) }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3246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f : ℤ → ℤ,  f(n) = 2n − 3.  Halle f(0) y f(5). ¿Cuál es la preimagen de 7? ¿Y la de 4?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9319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g : {1, 2, 3, 4} → {a, b, c, d},  g = { (1,a), (2,c), (3,a), (4,c) }.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Escriba el dominio, el codominio y el rango de g.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4892040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101600" tIns="203200" rIns="203200" bIns="101600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Recuerde</a:t>
            </a:r>
            <a:endParaRPr lang="en-US" sz="16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Función: de cada elemento del dominio sale exactamente una flecha. El rango son los elementos del codominio a los que sí llega alguna flecha.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 · RELACIONES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y clasificación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692640" y="27432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FFEDD5"/>
          </a:solidFill>
          <a:ln>
            <a:solidFill>
              <a:srgbClr val="FFEDD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puntos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54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relación, diga si es reflexiva, simétrica, antisimétrica y transitiva. Cuando una propiedad falle, escriba la pareja que la rompe. Luego clasifíquela.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lIns="177800" tIns="228600" rIns="228600" bIns="1778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R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= {1, 2, 3, 4}</a:t>
            </a:r>
            <a:endParaRPr lang="en-US" sz="1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{ (1,1), (2,2), (3,3), (4,4),</a:t>
            </a:r>
            <a:endParaRPr lang="en-US" sz="19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(1,2), (2,1), (3,4), (4,3) }</a:t>
            </a:r>
            <a:endParaRPr lang="en-US" sz="1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de equivalencia, escriba sus grupos.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217920" y="242316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lIns="177800" tIns="228600" rIns="228600" bIns="1778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S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= {1, 2, 3}</a:t>
            </a:r>
            <a:endParaRPr lang="en-US" sz="1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{ (1,1), (2,2), (3,3), (1,2), (2,3) }</a:t>
            </a:r>
            <a:endParaRPr lang="en-US" sz="1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pareja habría que agregar para que S fuera un orden parcial?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4846320"/>
            <a:ext cx="10652760" cy="868680"/>
          </a:xfrm>
          <a:prstGeom prst="roundRect">
            <a:avLst>
              <a:gd name="adj" fmla="val 12632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01600" tIns="203200" rIns="203200" bIns="101600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Recuerde</a:t>
            </a:r>
            <a:endParaRPr lang="en-US" sz="16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Equivalencia = reflexiva + simétrica + transitiva.   Orden parcial = reflexiva + antisimétrica + transitiva.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PROPIEDADES DE GRAFOS Y DIGRAFOS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digrafo, cada vértice tiene dos grados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5448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Clase 14 el grado era cuántas líneas tocan al vértice. Con flechas hay que distinguir el sentido: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de salida: cuántas flechas salen del vértice.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de entrada: cuántas flechas llegan al vértice.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Ana, en el digrafo de «seguir» de la Clase 14: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1 flecha (hacia Beto)  →  salida = 1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llegan 2 (desde Beto y Carla)  →  entrada = 2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88352" y="3008376"/>
            <a:ext cx="914" cy="1389888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7607808" y="3008376"/>
            <a:ext cx="914" cy="1389888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866100" y="2815889"/>
            <a:ext cx="909881" cy="63186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 flipV="1">
            <a:off x="9592056" y="3703320"/>
            <a:ext cx="566928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headEnd type="triangle"/>
          </a:ln>
        </p:spPr>
      </p:sp>
      <p:sp>
        <p:nvSpPr>
          <p:cNvPr id="10" name="Text 8"/>
          <p:cNvSpPr/>
          <p:nvPr/>
        </p:nvSpPr>
        <p:spPr>
          <a:xfrm>
            <a:off x="7077456" y="2139696"/>
            <a:ext cx="841248" cy="841248"/>
          </a:xfrm>
          <a:prstGeom prst="ellipse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77456" y="4425696"/>
            <a:ext cx="841248" cy="841248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23376" y="3282696"/>
            <a:ext cx="841248" cy="841248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186416" y="3282696"/>
            <a:ext cx="841248" cy="841248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Naranja: sale de Ana  ·  Azul: llega a Ana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salidas = suma de entradas = |E|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5276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737360"/>
                <a:gridCol w="1737360"/>
                <a:gridCol w="173736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Vértice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338328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152400" tIns="228600" rIns="228600" bIns="1524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digrafo</a:t>
            </a:r>
            <a:endParaRPr lang="en-US" sz="18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salidas = suma de entradas = |E|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flecha sale de un vértice y llega a otro: cuenta 1 en cada suma. Aquí hay 4 flechas.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17920" y="338328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52400" tIns="228600" rIns="228600" bIns="1524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grafo (Clase 14)</a:t>
            </a:r>
            <a:endParaRPr lang="en-US" sz="18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grados = 2 × |E|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línea toca dos vértices: cuenta 2 en la misma suma.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6235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matriz del digrafo: la suma de cada fila es la salida y la suma de cada columna es la entrada.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vértices de grado impar vienen en número par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5448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la suma de grados es 2 × |E|, siempre es un número par.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grados pares no cambian eso. Los impares sí: tienen que aparecer de a dos para que la suma siga siendo par.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grafo G de la Clase 14: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 2, 2, 3, 1  →  impares: el 3 y el 4  →  dos vértices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44348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01600" tIns="203200" rIns="203200" bIns="101600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de la clase pasada</a:t>
            </a:r>
            <a:endParaRPr lang="en-US" sz="16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un grafo con grados 3, 3, 2, 1? No: la suma da 9, que es impar. Hay tres vértices de grado impar, y eso nunca puede pasar.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2560320"/>
            <a:ext cx="914" cy="22860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2560320"/>
            <a:ext cx="1645920" cy="11430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7498080" y="3703320"/>
            <a:ext cx="1645920" cy="11430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3703320"/>
            <a:ext cx="1463040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5472" y="2267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05472" y="4553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851392" y="3410712"/>
            <a:ext cx="585216" cy="585216"/>
          </a:xfrm>
          <a:prstGeom prst="ellipse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314432" y="3410712"/>
            <a:ext cx="585216" cy="585216"/>
          </a:xfrm>
          <a:prstGeom prst="ellipse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naranja, los dos vértices de grado impar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grado más alto posible y el grafo completo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5448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grafo simple con n vértices, un vértice puede estar unido como máximo con los otros n − 1. Entonces: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grad(v) ≤ n − 1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todos llegan a ese máximo, cada vértice está unido con todos los demás: es el grafo completo, que se escribe K</a:t>
            </a:r>
            <a:pPr indent="0" marL="0">
              <a:spcAft>
                <a:spcPts val="800"/>
              </a:spcAft>
              <a:buNone/>
            </a:pPr>
            <a:r>
              <a:rPr lang="en-US" sz="17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434340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FFEDD5"/>
          </a:solidFill>
          <a:ln>
            <a:solidFill>
              <a:srgbClr val="FFEDD5"/>
            </a:solidFill>
          </a:ln>
        </p:spPr>
        <p:txBody>
          <a:bodyPr wrap="square" lIns="127000" tIns="228600" rIns="228600" bIns="1270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aristas tiene?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grados = n(n − 1) = 2 × |E|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|E| = n(n − 1) / 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2514600"/>
            <a:ext cx="1143000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7703820" y="2514600"/>
            <a:ext cx="571500" cy="146304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2514600"/>
            <a:ext cx="571500" cy="146304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9712" y="222199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982712" y="222199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11212" y="368503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89720" y="2514600"/>
            <a:ext cx="1554480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44200" y="2514600"/>
            <a:ext cx="914" cy="169164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189720" y="4206240"/>
            <a:ext cx="1554480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9189720" y="2514600"/>
            <a:ext cx="914" cy="169164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89720" y="2514600"/>
            <a:ext cx="1554480" cy="169164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9189720" y="2514600"/>
            <a:ext cx="1554480" cy="169164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97112" y="222199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451592" y="222199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451592" y="391363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897112" y="391363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4617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algn="ctr" indent="0" marL="0">
              <a:buNone/>
            </a:pPr>
            <a:r>
              <a:rPr lang="en-US" sz="16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3 aristas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4617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algn="ctr" indent="0" marL="0">
              <a:buNone/>
            </a:pPr>
            <a:r>
              <a:rPr lang="en-US" sz="16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6 aristas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Comprobación: 3·2/2 = 3  y  4·3/2 = 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propiedades de una relación se ven en su digrafo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08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propiedades de la Clase 12 se pueden reconocer sin hacer cuentas, solo mirando el dibujo y la matriz: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94560"/>
          <a:ext cx="106527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397764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relación es…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el digrafo se ve que…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la matriz se ve que…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vértice tiene su lazo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diagonal es toda de unos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Simétrica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 flecha tiene su vuelta (por eso se dibuja como grafo)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matriz es simétrica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Antisimétrica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 dos vértices distintos nunca hay ida y vuelta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una casilla fuera de la diagonal vale 1, su reflejo vale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hay a → b → c, también está el atajo a → 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transitividad es la más difícil de ver en la matriz: en el dibujo basta buscar caminos de dos flechas y revisar el atajo.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4 · EJEMPLO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digrafo de la relación «≤» en {1, 2, 3}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5448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{ (1,1), (2,2), (3,3), (1,2), (2,3), (1,3) }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Reflexiva: los tres vértices tienen lazo.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simétrica: está 1 → 2, pero no 2 → 1.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Antisimétrica: nunca hay ida y vuelta entre distintos.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Transitiva: el camino 1 → 2 → 3 tiene su atajo 1 → 3.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461772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01600" tIns="203200" rIns="203200" bIns="101600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6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Reflexiva, antisimétrica y transitiva: es un orden parcial, como vimos en la Clase 12. Ahora además lo podemos ver.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95744" y="4087368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14232" y="2441448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41864" y="4087368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7539593" y="3291436"/>
            <a:ext cx="1169702" cy="1189528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58723" y="3290803"/>
            <a:ext cx="1177563" cy="119079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635240" y="4709160"/>
            <a:ext cx="2606040" cy="914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022592" y="441655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41080" y="277063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268712" y="441655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naranja, el atajo 1 → 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EN PAREJAS · 15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usted: la relación «a divide a b»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544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A = {1, 2, 3, 4, 6} y la relación R: (a, b) ∈ R si a divide a b (b ÷ a da un número entero).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(2, 6) ∈ R porque 6 ÷ 2 = 3.  (4, 2) ∉ R porque 2 ÷ 4 no es entero.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64261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606040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parejas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 todas las parejas de R. Pista: son 12; no olvide (a, a), porque todo número se divide a sí mismo.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392424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355848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digrafo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Dibújelo. Cada (a, a) es un lazo.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142232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4105656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grados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Haga la tabla de salida y entrada de cada vértice. Verifique que las dos sumas dan |E| = 12. Un lazo cuenta 1 en cada suma.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892040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855464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 la matriz 5 × 5 en el orden 1, 2, 3, 4, 6. Compruebe que cada fila suma la salida y cada columna la entrada.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5641848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5605272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propiedades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Mirando el dibujo: ¿es reflexiva, simétrica, antisimétrica, transitiva? ¿Es de equivalencia, orden parcial o ninguna?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· SOLUCIÓN (1 DE 2)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Parejas, digrafo y grados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544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{ (1,1), (1,2), (1,3), (1,4), (1,6), (2,2),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(2,4), (2,6), (3,3), (3,6), (4,4), (6,6) }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parejas: 5 lazos y 7 flechas entre vértices distintos.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017520"/>
          <a:ext cx="56692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85800"/>
                <a:gridCol w="685800"/>
                <a:gridCol w="685800"/>
                <a:gridCol w="685800"/>
                <a:gridCol w="685800"/>
                <a:gridCol w="1051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Vértice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572000"/>
            <a:ext cx="5669280" cy="1188720"/>
          </a:xfrm>
          <a:prstGeom prst="roundRect">
            <a:avLst>
              <a:gd name="adj" fmla="val 9231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01600" tIns="203200" rIns="203200" bIns="101600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6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1 divide a todos: de él salen 5 flechas (contando su lazo). Al 6 lo dividen 1, 2, 3 y él mismo: le llegan 4.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675120" y="1600200"/>
            <a:ext cx="4754880" cy="4480560"/>
          </a:xfrm>
          <a:prstGeom prst="roundRect">
            <a:avLst>
              <a:gd name="adj" fmla="val 3061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42832" y="4983480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94A3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87768" y="3621024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94A3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607040" y="3621024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90104" y="1892808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94A3B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04704" y="1892808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63576" y="4035164"/>
            <a:ext cx="744697" cy="570753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headEnd type="triangle"/>
          </a:ln>
        </p:spPr>
      </p:sp>
      <p:sp>
        <p:nvSpPr>
          <p:cNvPr id="14" name="Shape 11"/>
          <p:cNvSpPr/>
          <p:nvPr/>
        </p:nvSpPr>
        <p:spPr>
          <a:xfrm flipV="1">
            <a:off x="9416985" y="4034271"/>
            <a:ext cx="752478" cy="572538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063362" y="2795261"/>
            <a:ext cx="945124" cy="1724678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headEnd type="triangle"/>
          </a:ln>
        </p:spPr>
      </p:sp>
      <p:sp>
        <p:nvSpPr>
          <p:cNvPr id="16" name="Shape 13"/>
          <p:cNvSpPr/>
          <p:nvPr/>
        </p:nvSpPr>
        <p:spPr>
          <a:xfrm flipV="1">
            <a:off x="9316951" y="2794787"/>
            <a:ext cx="952545" cy="1725626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 flipV="1">
            <a:off x="7909560" y="2834640"/>
            <a:ext cx="914" cy="6858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 flipV="1">
            <a:off x="8192657" y="2663870"/>
            <a:ext cx="1948405" cy="1027341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 flipV="1">
            <a:off x="10424160" y="2834640"/>
            <a:ext cx="914" cy="6858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8869680" y="450799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616952" y="354787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0131552" y="354787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616952" y="222199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0131552" y="222199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5532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 a → b: a divide a 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· SOLUCIÓN (2 DE 2)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y propiedades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51206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640080"/>
                <a:gridCol w="640080"/>
                <a:gridCol w="640080"/>
                <a:gridCol w="640080"/>
                <a:gridCol w="640080"/>
                <a:gridCol w="9144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" y="4846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diagonal toda de unos es la marca de una relación reflexiva.</a:t>
            </a:r>
            <a:endParaRPr lang="en-US" sz="15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645920"/>
          <a:ext cx="52578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6576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Propiedad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 mirando el dibujo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Sí: los cinco vértices tienen lazo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Simétrica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está 2 → 4 pero no 4 →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Antisimétrica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Sí: nunca hay ida y vuelta entre distintos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Sí: cada camino de dos flechas tiene su atajo, por ejemplo 1 → 2 → 4 y 1 → 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172200" y="4709160"/>
            <a:ext cx="5257800" cy="1051560"/>
          </a:xfrm>
          <a:prstGeom prst="roundRect">
            <a:avLst>
              <a:gd name="adj" fmla="val 10435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01600" tIns="203200" rIns="203200" bIns="101600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6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Reflexiva, antisimétrica y transitiva: «divide a» es un orden parcial, como vimos en la Clase 12.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DUDAS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que siempre se cumplen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52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114800"/>
                <a:gridCol w="43434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Digrafo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Líneas que tocan al vértice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 (flechas que salen) y entrada (que llegan)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 de grados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|E|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 de salidas = suma de entradas = |E|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Grados impares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Siempre hay una cantidad par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grad(v) ≤ n − 1;  completo: n(n − 1)/2 aristas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Viene de una relación simétrica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Reflexiva = lazos; transitiva = atajos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5257800"/>
            <a:ext cx="10652760" cy="73152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01600" tIns="203200" rIns="203200" bIns="101600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</a:t>
            </a:r>
            <a:endParaRPr lang="en-US" sz="16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 sucesiones. ¿Alguna duda de grafos antes de cerrar el tema?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INDEPENDIENTE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sesión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6126480" cy="4297680"/>
          </a:xfrm>
          <a:prstGeom prst="roundRect">
            <a:avLst>
              <a:gd name="adj" fmla="val 2553"/>
            </a:avLst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lIns="177800" tIns="228600" rIns="2286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Una relación de 13 parejas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{1, 2, 3, 4, 5}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{ (1,1), (2,2), (3,3), (4,4), (5,5), (1,2), (2,1),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(1,3), (3,1), (2,3), (3,2), (4,5), (5,4) }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¿R es simétrica? Entonces, ¿grafo o digrafo?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Dibújela, con sus lazos.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Mirando el dibujo, diga sus propiedades y clasifíquela.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¿En cuántas piezas queda el dibujo? Compárelas con los grupos de la equivalencia.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Escriba la matriz. ¿Qué tiene la diagonal? ¿Por qué la matriz es simétrica?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78040" y="163677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600200"/>
            <a:ext cx="36118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existir un grafo con grados 2, 2, 2, 1? ¿Y con grados 4, 3, 3, 2, 2? Use la suma de grados; si puede existir, intente dibujarlo.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78040" y="309981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3063240"/>
            <a:ext cx="36118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completo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aristas tienen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¿Qué grado tiene cada vértice?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78040" y="456285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4526280"/>
            <a:ext cx="36118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grafo completo tiene 21 aristas. ¿Cuántos vértices tiene?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¡MUCHAS GRACIAS!</a:t>
            </a:r>
            <a:endParaRPr lang="en-US" sz="4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APÉNDICE DEL DOCENTE · NO PROYECTAR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y puntaje del Ejercicio 1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52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566160"/>
                <a:gridCol w="39776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+ 18 − 8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40 − 35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25 − 8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Venn: 17 | 8 | 10, afuera 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Java: 18 − 8 = 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(unión)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20+25+15 − 8−5−7 + 3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(ninguna)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50 − 43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sugerido: respuesta correcta con procedimiento = puntaje completo; procedimiento bien planteado con error de cuenta = mitad.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APÉNDICE DEL DOCENTE · NO PROYECTAR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y puntaje del Ejercicio 2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527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7086600"/>
                <a:gridCol w="14630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F₁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es función: cada elemento tiene exactamente una imagen.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F₂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el 1 tiene dos imágenes (x y y).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F₃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el 3 no tiene imagen.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imágenes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f(0) = −3,  f(5) = 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preimágenes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7: n = 5.  De 4: no existe (2n − 3 = 4 da n = 3.5, que no es entero).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Dominio {1,2,3,4}.  Codominio {a,b,c,d}.  Rango {a, c}.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" y="5486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c, el error esperado es dar como rango el codominio completo. Si escriben el rango {a, c} sin dominio ni codominio: 0.15.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APÉNDICE DEL DOCENTE · NO PROYECTAR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y puntaje del Ejercicio 3</a:t>
            </a:r>
            <a:endParaRPr lang="en-US" sz="3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5276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371600"/>
                <a:gridCol w="1691640"/>
                <a:gridCol w="1828800"/>
                <a:gridCol w="2148840"/>
                <a:gridCol w="292608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Simétrica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Antisimétrica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(1,2) y (2,1)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Equivalencia. Grupos {1,2} y {3,4}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falta (2,1)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(1,2),(2,3) sin (1,3)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Ninguna. Agregando (1,3) es orden parcial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977640"/>
          <a:ext cx="731520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cada relación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4 propiedades (0.15 cada una, con su contraejemplo si falla)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 correcta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Grupos de R  /  pareja (1,3) para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por relación  ·  dos relaciones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· 2.0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15 - Taller de recuperación y propiedades de grafos</dc:title>
  <dc:subject>PptxGenJS Presentation</dc:subject>
  <dc:creator>Sebastian Montoya Villada</dc:creator>
  <cp:lastModifiedBy>Sebastian Montoya Villada</cp:lastModifiedBy>
  <cp:revision>1</cp:revision>
  <dcterms:created xsi:type="dcterms:W3CDTF">2026-10-09T00:05:31Z</dcterms:created>
  <dcterms:modified xsi:type="dcterms:W3CDTF">2026-10-09T00:05:31Z</dcterms:modified>
</cp:coreProperties>
</file>