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de hoy entra en el parcial del 23 de octubre. Cada bloque cierra con un ejercicio corto.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10, 48 y 8. La tercera es Fibonacci: cada número es la suma de los dos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clave: la tabla convence, pero solo el reemplazo algebraico demuestra que funciona para todo n. Insistir en el paso 2: cambiar n por n − 1 en toda la fórmula, con paréntesis.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mismo tipo de verificación de la presentación original (s_n = 2^n + 4·3^n), con números más pequeños. Las condiciones iniciales: s_0 = 2^0 + 3^0 = 2 y s_1 = 2 + 3 =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11 y 18; suma 3+6+11+18 = 38; producto 3·6·11 = 198; creciente. 2) 3, 6, 12, 24; r = 2; suma 45. 3) 4, 9, 19, 39 en ambas; a_0 = 5·1 − 1 = 4; 2(5·2^(n−1) − 1) + 1 = 5·2^n − 2 + 1 = 5·2^n − 1. 4) 2, 1.5, 1.33, 1.25: decreciente. 5) La recurrencia da 1, 3, 5, 7 (impares) y la fórmula 1, 4, 9: falla en n = 2. Con letras: (n − 1)^2 + 2 = n^2 − 2n + 3 ≠ n^2.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IDO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14884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para la informática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31546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· Sucesiones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Montoya Villada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 hoy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512064" cy="512064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52704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una sucesión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Notación, término general y relación con funciones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966960" y="160020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12064" cy="512064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585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Aritméticas y geométricas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familias más usadas y sus fórmulas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966960" y="23317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512064" cy="512064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recursiva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Recurrencias, factorial y Fibonacci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966960" y="306324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512064" cy="512064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72160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una recurrencia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fórmula explícita y la recurrencia dan la misma sucesión?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966960" y="379476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526280"/>
            <a:ext cx="512064" cy="512064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4531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Creciente, decreciente, alternante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966960" y="452628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512064" cy="512064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8464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Sumas y productos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Σ y Π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966960" y="525780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EMPEZAR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número sigue?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fórmulas, solo mirando: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93392" y="233172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9544" y="233172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425696" y="233172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41848" y="233172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FFEDD5"/>
          </a:solidFill>
          <a:ln w="25400">
            <a:solidFill>
              <a:srgbClr val="EA580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93392" y="338328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9544" y="338328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25696" y="338328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41848" y="338328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FFEDD5"/>
          </a:solidFill>
          <a:ln w="25400">
            <a:solidFill>
              <a:srgbClr val="EA580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93392" y="443484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09544" y="443484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25696" y="443484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41848" y="443484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0" y="4434840"/>
            <a:ext cx="868680" cy="713232"/>
          </a:xfrm>
          <a:prstGeom prst="roundRect">
            <a:avLst>
              <a:gd name="adj" fmla="val 12821"/>
            </a:avLst>
          </a:prstGeom>
          <a:solidFill>
            <a:srgbClr val="FFEDD5"/>
          </a:solidFill>
          <a:ln w="25400">
            <a:solidFill>
              <a:srgbClr val="EA580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680960" y="2331720"/>
            <a:ext cx="3749040" cy="2834640"/>
          </a:xfrm>
          <a:prstGeom prst="roundRect">
            <a:avLst>
              <a:gd name="adj" fmla="val 3871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reglas distintas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2, multiplicar por 2, y sumar los dos anteriores. Hoy le ponemos nombre y fórmula a cada una.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QUÉ ES UNA SUCESIÓN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lista ordenada de números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sucesión es una lista ordenada. Cada elemento se llama término y ocupa una posición.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Escribimos a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el término de la posición n. Se lee «a sub n».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5478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20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423160" y="260604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35478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20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69080" y="260604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35478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20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715000" y="260604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35478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20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60920" y="2606040"/>
            <a:ext cx="1143000" cy="86868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5478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20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60604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77240" y="425196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un conjunto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sucesión el orden importa y los valores se pueden repetir: 1, 1, 2, 3 es válida.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425196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posición ≠ valor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</a:t>
            </a:r>
            <a:pPr indent="0" marL="0">
              <a:buNone/>
            </a:pPr>
            <a:r>
              <a:rPr lang="en-US" sz="15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6, la posición es 3 y el valor es 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QUÉ ES UNA SUCESIÓN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sucesión es una función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Formalmente, una sucesión es una función que a cada posición le asigna un número: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: ℕ → ℝ,   n ↦ a</a:t>
            </a:r>
            <a:pPr indent="0" marL="0">
              <a:spcAft>
                <a:spcPts val="800"/>
              </a:spcAft>
              <a:buNone/>
            </a:pPr>
            <a:r>
              <a:rPr lang="en-US" sz="20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 general: la fórmula de a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función de n. En 2, 4, 6, 8, … es a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2n.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ella vamos directo a cualquier posición: a</a:t>
            </a:r>
            <a:pPr indent="0" marL="0">
              <a:spcAft>
                <a:spcPts val="800"/>
              </a:spcAft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200.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429768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último término: a</a:t>
            </a:r>
            <a:pPr indent="0" marL="0">
              <a:buNone/>
            </a:pPr>
            <a:r>
              <a:rPr lang="en-US" sz="13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</a:t>
            </a:r>
            <a:pPr indent="0" marL="0">
              <a:buNone/>
            </a:pPr>
            <a:r>
              <a:rPr lang="en-US" sz="13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 ≤ n ≤ 5 → 1, 4, 9, 16, 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11880" y="429768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sin fin: 2, 4, 6, 8, … Los «…» lo indican. El índice también puede empezar en 0.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1600200"/>
            <a:ext cx="4983480" cy="4434840"/>
          </a:xfrm>
          <a:prstGeom prst="roundRect">
            <a:avLst>
              <a:gd name="adj" fmla="val 3093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1228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 a</a:t>
            </a:r>
            <a:pPr algn="ctr" indent="0" marL="0">
              <a:buNone/>
            </a:pPr>
            <a:r>
              <a:rPr lang="en-US" sz="1500" b="1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82128" y="2468880"/>
            <a:ext cx="2112264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232904" y="2157984"/>
            <a:ext cx="621792" cy="621792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21824" y="2157984"/>
            <a:ext cx="621792" cy="621792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82128" y="3291840"/>
            <a:ext cx="2112264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232904" y="2980944"/>
            <a:ext cx="621792" cy="621792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21824" y="2980944"/>
            <a:ext cx="621792" cy="621792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82128" y="4114800"/>
            <a:ext cx="2112264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232904" y="3803904"/>
            <a:ext cx="621792" cy="621792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21824" y="3803904"/>
            <a:ext cx="621792" cy="621792"/>
          </a:xfrm>
          <a:prstGeom prst="ellipse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82128" y="4937760"/>
            <a:ext cx="2112264" cy="914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232904" y="4626864"/>
            <a:ext cx="621792" cy="621792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21824" y="4626864"/>
            <a:ext cx="621792" cy="621792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5486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los diagramas de flechas de la Clase 11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DOS FAMILIAS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Sucesión aritmética: siempre se suma lo mismo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término es el anterior más una cantidad fija d, la diferencia común.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2, 5, 8, 11, …   a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  y  d = 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960120" cy="731520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47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30552" y="3108960"/>
            <a:ext cx="58521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057400" y="23591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88920" y="2743200"/>
            <a:ext cx="96012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547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22192" y="3108960"/>
            <a:ext cx="58521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749040" y="23591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743200"/>
            <a:ext cx="96012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547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513832" y="3108960"/>
            <a:ext cx="58521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40680" y="23591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2743200"/>
            <a:ext cx="96012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547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05472" y="3108960"/>
            <a:ext cx="58521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132320" y="23591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2743200"/>
            <a:ext cx="96012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3547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EDD5"/>
          </a:solidFill>
          <a:ln>
            <a:solidFill>
              <a:srgbClr val="FFEDD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general</a:t>
            </a:r>
            <a:endParaRPr lang="en-US" sz="15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26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</a:t>
            </a:r>
            <a:pPr algn="ctr" indent="0" marL="0">
              <a:buNone/>
            </a:pPr>
            <a:r>
              <a:rPr lang="en-US" sz="26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(n − 1) · 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41605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ejemplo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 + (n − 1) · 3 = 3n − 1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5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· 10 − 1 = 29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un taxi cobra $1.00 la primera milla y $0.50 cada milla adicional:  C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 + (n − 1) · 0.5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DOS FAMILIAS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Sucesión geométrica: siempre se multiplica por lo mismo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término es el anterior multiplicado por una cantidad fija r, la razón común.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3, 6, 12, 24, …   a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 y  r = 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960120" cy="731520"/>
          </a:xfrm>
          <a:prstGeom prst="roundRect">
            <a:avLst>
              <a:gd name="adj" fmla="val 12500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47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30552" y="3108960"/>
            <a:ext cx="58521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057400" y="23591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88920" y="2743200"/>
            <a:ext cx="96012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3547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22192" y="3108960"/>
            <a:ext cx="58521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749040" y="23591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743200"/>
            <a:ext cx="96012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547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513832" y="3108960"/>
            <a:ext cx="58521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40680" y="23591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2743200"/>
            <a:ext cx="96012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547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05472" y="3108960"/>
            <a:ext cx="58521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132320" y="23591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2743200"/>
            <a:ext cx="960120" cy="73152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35478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FFEDD5"/>
          </a:solidFill>
          <a:ln>
            <a:solidFill>
              <a:srgbClr val="FFEDD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general</a:t>
            </a:r>
            <a:endParaRPr lang="en-US" sz="15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26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</a:t>
            </a:r>
            <a:pPr algn="ctr" indent="0" marL="0">
              <a:buNone/>
            </a:pPr>
            <a:r>
              <a:rPr lang="en-US" sz="26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r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4160520"/>
            <a:ext cx="5212080" cy="1600200"/>
          </a:xfrm>
          <a:prstGeom prst="roundRect">
            <a:avLst>
              <a:gd name="adj" fmla="val 6857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ejemplo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· 2</a:t>
            </a:r>
            <a:pPr indent="0" marL="0">
              <a:buNone/>
            </a:pPr>
            <a:r>
              <a:rPr lang="en-US" sz="1600" b="1" baseline="3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5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· 2</a:t>
            </a:r>
            <a:pPr indent="0" marL="0">
              <a:buNone/>
            </a:pPr>
            <a:r>
              <a:rPr lang="en-US" sz="15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· 32 = 96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una bacteria se duplica cada hora. Empezando con 1, en la hora n hay  P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</a:t>
            </a:r>
            <a:pPr indent="0" marL="0">
              <a:spcAft>
                <a:spcPts val="800"/>
              </a:spcAft>
              <a:buNone/>
            </a:pPr>
            <a:r>
              <a:rPr lang="en-US" sz="14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bacterias.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· 10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usted: ¿aritmética o geométrica?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08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sucesión: diga si es aritmética o geométrica, halle d o r, escriba el término general y calcule el término pedido.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251460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51760" y="251460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86200" y="251460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20640" y="251460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51460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514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 a</a:t>
            </a:r>
            <a:pPr indent="0" marL="0">
              <a:buNone/>
            </a:pPr>
            <a:r>
              <a:rPr lang="en-US" sz="1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661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356616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356616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86200" y="356616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20640" y="356616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5661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566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 a</a:t>
            </a:r>
            <a:pPr indent="0" marL="0">
              <a:buNone/>
            </a:pPr>
            <a:r>
              <a:rPr lang="en-US" sz="1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6177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461772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651760" y="461772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86200" y="461772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20640" y="461772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6177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617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 a</a:t>
            </a:r>
            <a:pPr indent="0" marL="0">
              <a:buNone/>
            </a:pPr>
            <a:r>
              <a:rPr lang="en-US" sz="1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· SOLUCIÓN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527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1188720"/>
                <a:gridCol w="4480560"/>
                <a:gridCol w="26974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o 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Término general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Término pedido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Aritmética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7 + (n − 1)·4 = 4n + 3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43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Geométrica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5 · 3</a:t>
                      </a:r>
                      <a:pPr algn="l" indent="0" marL="0">
                        <a:buNone/>
                      </a:pPr>
                      <a:r>
                        <a:rPr lang="en-US" sz="16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− 1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5 · 81 = 405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Aritmética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−3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20 + (n − 1)(−3) = 23 − 3n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−7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4572000"/>
            <a:ext cx="10652760" cy="9144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distinguirlas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dos términos seguidos: si la resta es siempre igual, es aritmética. Divídalos: si el cociente es siempre igual, es geométrica.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DEFINICIÓN RECURSIVA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Recurrencia: calcular a partir de los anteriores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relación de recurrencia da los primeros términos (condiciones iniciales) y una regla que usa los anteriores.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spcAft>
                <a:spcPts val="800"/>
              </a:spcAft>
              <a:buNone/>
            </a:pPr>
            <a:r>
              <a:rPr lang="en-US" sz="17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lee «el término anterior».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 2, 5, 8, 11, …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20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2,   a</a:t>
            </a:r>
            <a:pPr indent="0" marL="0">
              <a:buNone/>
            </a:pPr>
            <a:r>
              <a:rPr lang="en-US" sz="20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</a:t>
            </a:r>
            <a:pPr indent="0" marL="0">
              <a:buNone/>
            </a:pPr>
            <a:r>
              <a:rPr lang="en-US" sz="20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251460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Geométrica 3, 6, 12, 24, …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20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3,   a</a:t>
            </a:r>
            <a:pPr indent="0" marL="0">
              <a:buNone/>
            </a:pPr>
            <a:r>
              <a:rPr lang="en-US" sz="20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 · a</a:t>
            </a:r>
            <a:pPr indent="0" marL="0">
              <a:buNone/>
            </a:pPr>
            <a:r>
              <a:rPr lang="en-US" sz="20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02336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programa: un ciclo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2;                 // a(1)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n = 2; n &lt;= 5; n++) {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a + 3;             // a(n) = a(n-1) + 3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402336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explícita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3n − 1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a</a:t>
                      </a:r>
                      <a:pPr algn="l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a</a:t>
                      </a:r>
                      <a:pPr algn="l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solo cálculo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Pasar por los 99 anteriores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DEFINICIÓN RECURSIVA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recurrencias famosas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</a:t>
            </a:r>
            <a:endParaRPr lang="en-US" sz="1900" dirty="0"/>
          </a:p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0! = 1,    n! = n · (n − 1)!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multiplicar todos los números de 1 a n: 4! = 4 · 3 · 2 · 1 = 24. Lo usaremos la próxima clase para contar.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27632" y="4297680"/>
            <a:ext cx="8229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554480" y="35935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1!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42032" y="4297680"/>
            <a:ext cx="8229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468880" y="35935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2!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56432" y="4297680"/>
            <a:ext cx="8229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383280" y="35935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188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3!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70832" y="4297680"/>
            <a:ext cx="8229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297680" y="35935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2628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4!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285232" y="4297680"/>
            <a:ext cx="8229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212080" y="35935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5!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17920" y="160020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</a:t>
            </a:r>
            <a:endParaRPr lang="en-US" sz="1900" dirty="0"/>
          </a:p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buNone/>
            </a:pPr>
            <a:r>
              <a:rPr lang="en-US" sz="20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</a:t>
            </a:r>
            <a:pPr indent="0" marL="0">
              <a:buNone/>
            </a:pPr>
            <a:r>
              <a:rPr lang="en-US" sz="20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1,    F</a:t>
            </a:r>
            <a:pPr indent="0" marL="0">
              <a:buNone/>
            </a:pPr>
            <a:r>
              <a:rPr lang="en-US" sz="20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</a:t>
            </a:r>
            <a:pPr indent="0" marL="0">
              <a:buNone/>
            </a:pPr>
            <a:r>
              <a:rPr lang="en-US" sz="20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F</a:t>
            </a:r>
            <a:pPr indent="0" marL="0">
              <a:buNone/>
            </a:pPr>
            <a:r>
              <a:rPr lang="en-US" sz="20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término es la suma de los dos anteriores: por eso necesita dos condiciones iniciales.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30936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068312" y="4297680"/>
            <a:ext cx="8229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995160" y="35935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982712" y="4297680"/>
            <a:ext cx="8229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7909560" y="35935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3816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897112" y="4297680"/>
            <a:ext cx="8229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8823960" y="35935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5256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886968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811512" y="4297680"/>
            <a:ext cx="8229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9738360" y="35935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96696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978408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0725912" y="4297680"/>
            <a:ext cx="82296" cy="914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10652760" y="35935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881360" y="3977640"/>
            <a:ext cx="6858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10698480" y="469087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algn="ctr" indent="0" marL="0">
              <a:buNone/>
            </a:pPr>
            <a:r>
              <a:rPr lang="en-US" sz="15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5! = 5 · 4! = 5 · 24 = 120.     F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F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8 + 5 = 13.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· 10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usted: recurrencias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72821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91640"/>
            <a:ext cx="9966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primeros términos de  a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2,  a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· a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68833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651760"/>
            <a:ext cx="9966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recurrencia y la fórmula explícita de 4, 9, 14, 19, 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64845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611880"/>
            <a:ext cx="9966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6! usando que 5! = 120.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460857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572000"/>
            <a:ext cx="9966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primeros términos de  b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1,  b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3,  b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 · b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· SOLUCIÓN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52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263640"/>
                <a:gridCol w="347472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3·2 − 1 = 5,  a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3·5 − 1 = 14,  a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3·14 − 1 = 41,  a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3·41 − 1 = 122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2, 5, 14, 41, 122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Aritmética con d =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4, a</a:t>
                      </a:r>
                      <a:pPr algn="l"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a</a:t>
                      </a:r>
                      <a:pPr algn="l"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+ 5;  a</a:t>
                      </a:r>
                      <a:pPr algn="l"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5n − 1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6! = 6 · 5! = 6 · 120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 + 2·1 = 5,  b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5 + 2·3 = 11,  b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11 + 2·5 = 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1, 3, 5, 11, 21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VERIFICAR UNA RECURRENCIA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fórmula y la recurrencia dan la misma sucesión?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2, 5, 8, 11, … tenemos dos descripciones. Queremos comprobar que son la misma sucesión: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explícita  a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3n − 1          Recurrencia  a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2,  a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Primero, con números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880360"/>
          <a:ext cx="4572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 − 1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ctr" indent="0" marL="0">
                        <a:buNone/>
                      </a:pPr>
                      <a:r>
                        <a:rPr lang="en-US" sz="1600" b="1" baseline="-40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dado: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+ 3 = 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+ 3 = 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+ 3 = 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257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Coinciden, pero solo probamos 4 casos.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468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Después, con letras (sirve para todo 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0" y="296265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926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inicial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3·1 − 1 = 2</a:t>
            </a:r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669280" y="3767328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73075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término anterior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Cambiamos n por n − 1:   a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3(n − 1) − 1 = </a:t>
            </a:r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 − 4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669280" y="4572000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453542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Reemplazamos en la regla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 = (</a:t>
            </a:r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 − 4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+ 3 = 3n − 1 = a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669280" y="5440680"/>
            <a:ext cx="5760720" cy="6858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devuelve la misma fórmula: es la misma sucesión.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VERIFICAR UNA RECURRENCIA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 verificación… y un caso que no funciona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Geométrica 3, 6, 12, 24, …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 a</a:t>
            </a:r>
            <a:pPr indent="0" marL="0">
              <a:buNone/>
            </a:pPr>
            <a:r>
              <a:rPr lang="en-US" sz="1600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3,  a</a:t>
            </a:r>
            <a:pPr indent="0" marL="0">
              <a:buNone/>
            </a:pPr>
            <a:r>
              <a:rPr lang="en-US" sz="1600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 · a</a:t>
            </a:r>
            <a:pPr indent="0" marL="0">
              <a:buNone/>
            </a:pPr>
            <a:r>
              <a:rPr lang="en-US" sz="1600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 a</a:t>
            </a:r>
            <a:pPr indent="0" marL="0">
              <a:buNone/>
            </a:pPr>
            <a:r>
              <a:rPr lang="en-US" sz="1600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· 2</a:t>
            </a:r>
            <a:pPr indent="0" marL="0">
              <a:buNone/>
            </a:pPr>
            <a:r>
              <a:rPr lang="en-US" sz="16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Inicial: a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· 2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 ✓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Anterior: a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2</a:t>
            </a:r>
            <a:pPr indent="0" marL="0">
              <a:buNone/>
            </a:pPr>
            <a:r>
              <a:rPr lang="en-US" sz="1600" b="1" baseline="3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Reemplazo: 2 · a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 · </a:t>
            </a:r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2</a:t>
            </a:r>
            <a:pPr indent="0" marL="0">
              <a:buNone/>
            </a:pPr>
            <a:r>
              <a:rPr lang="en-US" sz="1600" b="1" baseline="3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· 2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 2 · 2</a:t>
            </a:r>
            <a:pPr indent="0" marL="0">
              <a:buNone/>
            </a:pPr>
            <a:r>
              <a:rPr lang="en-US" sz="14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</a:t>
            </a:r>
            <a:pPr indent="0" marL="0">
              <a:buNone/>
            </a:pPr>
            <a:r>
              <a:rPr lang="en-US" sz="1400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 multiplicar potencias de la misma base se suman los exponentes.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17920" y="160020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alguien propone otra fórmula?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 a</a:t>
            </a:r>
            <a:pPr indent="0" marL="0">
              <a:buNone/>
            </a:pPr>
            <a:r>
              <a:rPr lang="en-US" sz="1600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2,  a</a:t>
            </a:r>
            <a:pPr indent="0" marL="0">
              <a:buNone/>
            </a:pPr>
            <a:r>
              <a:rPr lang="en-US" sz="1600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</a:t>
            </a:r>
            <a:pPr indent="0" marL="0">
              <a:buNone/>
            </a:pPr>
            <a:r>
              <a:rPr lang="en-US" sz="1600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  alguien dice:  b</a:t>
            </a:r>
            <a:pPr indent="0" marL="0">
              <a:buNone/>
            </a:pPr>
            <a:r>
              <a:rPr lang="en-US" sz="1600" baseline="-4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</a:t>
            </a:r>
            <a:pPr indent="0" marL="0">
              <a:buNone/>
            </a:pPr>
            <a:r>
              <a:rPr lang="en-US" sz="16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+ 1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1:  b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   y la recurrencia da 2  ✓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2:  b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   y la recurrencia da 5  ✓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3:  b</a:t>
            </a:r>
            <a:pPr indent="0" marL="0">
              <a:buNone/>
            </a:pPr>
            <a:r>
              <a:rPr lang="en-US" sz="1600" b="1" baseline="-4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10  pero la recurrencia da 8  ✗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letras:  b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 = (n − 1)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+ 1 + 3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</a:t>
            </a:r>
            <a:pPr indent="0" marL="0">
              <a:buNone/>
            </a:pPr>
            <a:r>
              <a:rPr lang="en-US" sz="1600" b="1" baseline="3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− 2n + 5  ≠  n</a:t>
            </a:r>
            <a:pPr indent="0" marL="0">
              <a:buNone/>
            </a:pPr>
            <a:r>
              <a:rPr lang="en-US" sz="1600" b="1" baseline="3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5532120"/>
            <a:ext cx="10652760" cy="777240"/>
          </a:xfrm>
          <a:prstGeom prst="roundRect">
            <a:avLst>
              <a:gd name="adj" fmla="val 14118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Moraleja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coincidan los primeros términos no basta. Hay que reemplazar en la regla y ver si vuelve la misma fórmula.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VERIFICAR UNA RECURRENCIA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regla usa los dos términos anteriores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Verifiquemos que la fórmula y la recurrencia describen la misma sucesión: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3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3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 ≥ 0)          s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2,  s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5,  s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 s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− 6 s</a:t>
            </a:r>
            <a:pPr indent="0" marL="0">
              <a:spcAft>
                <a:spcPts val="800"/>
              </a:spcAft>
              <a:buNone/>
            </a:pPr>
            <a:r>
              <a:rPr lang="en-US" sz="19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números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880360"/>
          <a:ext cx="39319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50876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r>
                        <a:rPr lang="en-US" sz="1400" b="1" baseline="30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+ 3</a:t>
                      </a:r>
                      <a:pPr algn="ctr" indent="0" marL="0">
                        <a:buNone/>
                      </a:pPr>
                      <a:r>
                        <a:rPr lang="en-US" sz="1400" b="1" baseline="30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+ 1 =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dado: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+ 3 =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dado: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+ 9 = 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5·5 − 6·2 = 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+ 27 = 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5·13 − 6·5 = 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98348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letras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83480" y="291693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2880360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los anteriores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− 6 s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5(2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− 6(2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983480" y="3575304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3538728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por base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(5·2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− 6·2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(5·3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− 6·3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983480" y="4233672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623560" y="4197096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 factor común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(5·2 − 6) + 3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(5·3 − 6) = </a:t>
            </a:r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4·2</a:t>
            </a:r>
            <a:pPr indent="0" marL="0">
              <a:buNone/>
            </a:pPr>
            <a:r>
              <a:rPr lang="en-US" sz="1600" b="1" baseline="3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+ 9·3</a:t>
            </a:r>
            <a:pPr indent="0" marL="0">
              <a:buNone/>
            </a:pPr>
            <a:r>
              <a:rPr lang="en-US" sz="1600" b="1" baseline="30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83480" y="4892040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623560" y="4855464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Recomponer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= 2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9 = 3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2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+ 3</a:t>
            </a:r>
            <a:pPr indent="0" marL="0"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</a:t>
            </a:r>
            <a:pPr indent="0" marL="0">
              <a:buNone/>
            </a:pPr>
            <a:r>
              <a:rPr lang="en-US" sz="16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" y="5577840"/>
            <a:ext cx="10652760" cy="685800"/>
          </a:xfrm>
          <a:prstGeom prst="roundRect">
            <a:avLst>
              <a:gd name="adj" fmla="val 160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2</a:t>
            </a:r>
            <a:pPr indent="0" marL="0">
              <a:spcBef>
                <a:spcPts val="200"/>
              </a:spcBef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 · 2</a:t>
            </a:r>
            <a:pPr indent="0" marL="0">
              <a:spcBef>
                <a:spcPts val="200"/>
              </a:spcBef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que todo quede con la misma potencia y se pueda sacar factor común.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· 15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usted: verifique cada fórmula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08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caso: (1) compare los cuatro primeros términos en una tabla; (2) verifique con letras: condiciones iniciales y reemplazo en la regla.</a:t>
            </a:r>
            <a:endParaRPr lang="en-US" sz="1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468880"/>
          <a:ext cx="10652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897880"/>
                <a:gridCol w="36576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propuesta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5,   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4n + 1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2,   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 · 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 · 3</a:t>
                      </a:r>
                      <a:pPr algn="l" indent="0" marL="0">
                        <a:buNone/>
                      </a:pPr>
                      <a:r>
                        <a:rPr lang="en-US" sz="18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2,  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3,   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− 2a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8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</a:t>
                      </a:r>
                      <a:pPr algn="l" indent="0" marL="0">
                        <a:buNone/>
                      </a:pPr>
                      <a:r>
                        <a:rPr lang="en-US" sz="18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349240"/>
            <a:ext cx="10652760" cy="731520"/>
          </a:xfrm>
          <a:prstGeom prst="roundRect">
            <a:avLst>
              <a:gd name="adj" fmla="val 150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para c)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en el ejemplo anterior: escriba 2</a:t>
            </a:r>
            <a:pPr indent="0" marL="0">
              <a:spcBef>
                <a:spcPts val="200"/>
              </a:spcBef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 · 2</a:t>
            </a:r>
            <a:pPr indent="0" marL="0">
              <a:spcBef>
                <a:spcPts val="200"/>
              </a:spcBef>
              <a:buNone/>
            </a:pPr>
            <a:r>
              <a:rPr lang="en-US" sz="16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n−2</a:t>
            </a:r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saque factor común.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· SOLUCIÓN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52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514600"/>
                <a:gridCol w="731520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números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letras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9, 13, 17 en ambas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4·1 + 1 = 5 ✓;   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+ 4 = 4(n − 1) + 1 + 4 = 4n + 1 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6, 18, 54 en ambas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2·3</a:t>
                      </a:r>
                      <a:pPr algn="l" indent="0" marL="0">
                        <a:buNone/>
                      </a:pPr>
                      <a:r>
                        <a:rPr lang="en-US" sz="16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 ✓;   3 · 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 · 2 · 3</a:t>
                      </a:r>
                      <a:pPr algn="l" indent="0" marL="0">
                        <a:buNone/>
                      </a:pPr>
                      <a:r>
                        <a:rPr lang="en-US" sz="16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 · 3</a:t>
                      </a:r>
                      <a:pPr algn="l" indent="0" marL="0">
                        <a:buNone/>
                      </a:pPr>
                      <a:r>
                        <a:rPr lang="en-US" sz="16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5, 9 en ambas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2, a</a:t>
                      </a:r>
                      <a:pPr algn="l" indent="0" marL="0">
                        <a:buNone/>
                      </a:pPr>
                      <a:r>
                        <a:rPr lang="en-US" sz="16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 ✓;   3(2</a:t>
                      </a:r>
                      <a:pPr algn="l" indent="0" marL="0">
                        <a:buNone/>
                      </a:pPr>
                      <a:r>
                        <a:rPr lang="en-US" sz="16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+ 1) − 2(2</a:t>
                      </a:r>
                      <a:pPr algn="l" indent="0" marL="0">
                        <a:buNone/>
                      </a:pPr>
                      <a:r>
                        <a:rPr lang="en-US" sz="16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n−2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+ 1) = 6·2</a:t>
                      </a:r>
                      <a:pPr algn="l" indent="0" marL="0">
                        <a:buNone/>
                      </a:pPr>
                      <a:r>
                        <a:rPr lang="en-US" sz="16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n−2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− 2·2</a:t>
                      </a:r>
                      <a:pPr algn="l" indent="0" marL="0">
                        <a:buNone/>
                      </a:pPr>
                      <a:r>
                        <a:rPr lang="en-US" sz="16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n−2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+ 3 − 2 = 4·2</a:t>
                      </a:r>
                      <a:pPr algn="l" indent="0" marL="0">
                        <a:buNone/>
                      </a:pPr>
                      <a:r>
                        <a:rPr lang="en-US" sz="16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n−2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+ 1 = 2</a:t>
                      </a:r>
                      <a:pPr algn="l" indent="0" marL="0">
                        <a:buNone/>
                      </a:pPr>
                      <a:r>
                        <a:rPr lang="en-US" sz="16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+ 1 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486400"/>
            <a:ext cx="10652760" cy="73152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01600" tIns="203200" rIns="203200" bIns="101600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son correctas</a:t>
            </a:r>
            <a:endParaRPr lang="en-US" sz="16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reemplazar, la regla devuelve la misma fórmula. Si no vuelve, la fórmula propuesta está mal.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COMPORTAMIENTO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¿Sube, baja o ninguna de las dos?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>
            <a:solidFill>
              <a:srgbClr val="F0FDF4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Creciente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término es mayor o igual que el anterior</a:t>
            </a:r>
            <a:endParaRPr lang="en-US" sz="1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7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</a:t>
            </a:r>
            <a:pPr indent="0" marL="0">
              <a:buNone/>
            </a:pPr>
            <a:r>
              <a:rPr lang="en-US" sz="1700" b="1" baseline="3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1, 4, 9, 16, …</a:t>
            </a:r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4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≤ a</a:t>
            </a:r>
            <a:pPr indent="0" marL="0">
              <a:buNone/>
            </a:pPr>
            <a:r>
              <a:rPr lang="en-US" sz="14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217920" y="16459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>
            <a:solidFill>
              <a:srgbClr val="EEF3FB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Decreciente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término es menor o igual que el anterior</a:t>
            </a:r>
            <a:endParaRPr lang="en-US" sz="1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7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1/n:  1, 1/2, 1/3, 1/4, …</a:t>
            </a:r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4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a</a:t>
            </a:r>
            <a:pPr indent="0" marL="0">
              <a:buNone/>
            </a:pPr>
            <a:r>
              <a:rPr lang="en-US" sz="140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>
            <a:solidFill>
              <a:srgbClr val="FFF7ED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Alternante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y baja: ni creciente ni decreciente</a:t>
            </a:r>
            <a:endParaRPr lang="en-US" sz="1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7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(−1)</a:t>
            </a:r>
            <a:pPr indent="0" marL="0">
              <a:buNone/>
            </a:pPr>
            <a:r>
              <a:rPr lang="en-US" sz="1700" b="1" baseline="3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−1, 1, −1, 1, …</a:t>
            </a:r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monótona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17920" y="37033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>
            <a:solidFill>
              <a:srgbClr val="E2E8F0"/>
            </a:solidFill>
          </a:ln>
        </p:spPr>
        <p:txBody>
          <a:bodyPr wrap="square" lIns="152400" tIns="203200" rIns="203200" bIns="1524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términos son iguales</a:t>
            </a:r>
            <a:endParaRPr lang="en-US" sz="1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7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5:  5, 5, 5, …</a:t>
            </a:r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creciente y decreciente a la vez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sucesión creciente o decreciente se llama monótona. Para decidir, compare cada término con el siguiente.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SUMAS Y PRODUCTOS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suma los términos; Π los multiplica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4206240" cy="2560320"/>
          </a:xfrm>
          <a:prstGeom prst="roundRect">
            <a:avLst>
              <a:gd name="adj" fmla="val 5357"/>
            </a:avLst>
          </a:prstGeom>
          <a:solidFill>
            <a:srgbClr val="F4F7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48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8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520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3774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2i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169164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Abajo: dónde empieza el contador (i = 1).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Arriba: dónde termina (4).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derecha: qué se suma en cada paso (2i).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2·1 + 2·2 + 2·3 + 2·4 = 2 + 4 + 6 + 8 = 20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389120"/>
          <a:ext cx="106527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  <a:gridCol w="26060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Notación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expande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pPr algn="ctr" indent="0" marL="0">
                        <a:buNone/>
                      </a:pPr>
                      <a:r>
                        <a:rPr lang="en-US" sz="1600" b="1" baseline="30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1600" b="1" baseline="-40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i=1</a:t>
                      </a:r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</a:t>
                      </a:r>
                      <a:pPr algn="ctr" indent="0" marL="0">
                        <a:buNone/>
                      </a:pPr>
                      <a:r>
                        <a:rPr lang="en-US" sz="1600" b="1" baseline="30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+ 4 + 9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pPr algn="ctr" indent="0" marL="0">
                        <a:buNone/>
                      </a:pPr>
                      <a:r>
                        <a:rPr lang="en-US" sz="1600" b="1" baseline="30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1600" b="1" baseline="-40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i=1</a:t>
                      </a:r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4 · 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pPr algn="ctr" indent="0" marL="0">
                        <a:buNone/>
                      </a:pPr>
                      <a:r>
                        <a:rPr lang="en-US" sz="1600" b="1" baseline="30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r>
                        <a:rPr lang="en-US" sz="1600" b="1" baseline="-40000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i=1</a:t>
                      </a:r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3 · 4  =  4!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4 · 10 MIN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usted: la sucesión de los impares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 t</a:t>
            </a:r>
            <a:pPr indent="0" marL="0">
              <a:spcAft>
                <a:spcPts val="800"/>
              </a:spcAft>
              <a:buNone/>
            </a:pPr>
            <a:r>
              <a:rPr lang="en-US" sz="2000" b="1" baseline="-400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2n − 1,  para n ≥ 1.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27685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240280"/>
            <a:ext cx="9966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 t</a:t>
            </a:r>
            <a:pPr indent="0" marL="0">
              <a:buNone/>
            </a:pPr>
            <a:r>
              <a:rPr lang="en-US" sz="1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</a:t>
            </a:r>
            <a:pPr indent="0" marL="0">
              <a:buNone/>
            </a:pPr>
            <a:r>
              <a:rPr lang="en-US" sz="1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</a:t>
            </a:r>
            <a:pPr indent="0" marL="0">
              <a:buNone/>
            </a:pPr>
            <a:r>
              <a:rPr lang="en-US" sz="1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halle t</a:t>
            </a:r>
            <a:pPr indent="0" marL="0">
              <a:buNone/>
            </a:pPr>
            <a:r>
              <a:rPr lang="en-US" sz="1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23697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00400"/>
            <a:ext cx="9966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aritmética o geométrica? ¿Es creciente?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19709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160520"/>
            <a:ext cx="99669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 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pPr indent="0" marL="0">
              <a:buNone/>
            </a:pPr>
            <a:r>
              <a:rPr lang="en-US" sz="18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</a:t>
            </a:r>
            <a:pPr indent="0" marL="0">
              <a:buNone/>
            </a:pPr>
            <a:r>
              <a:rPr lang="en-US" sz="1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  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pPr indent="0" marL="0">
              <a:buNone/>
            </a:pPr>
            <a:r>
              <a:rPr lang="en-US" sz="18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</a:t>
            </a:r>
            <a:pPr indent="0" marL="0">
              <a:buNone/>
            </a:pPr>
            <a:r>
              <a:rPr lang="en-US" sz="1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4 · SOLUCIÓN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10652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46404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pPr algn="l" indent="0" marL="0">
                        <a:buNone/>
                      </a:pPr>
                      <a:r>
                        <a:rPr lang="en-US" sz="17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1,  t</a:t>
                      </a:r>
                      <a:pPr algn="l" indent="0" marL="0">
                        <a:buNone/>
                      </a:pPr>
                      <a:r>
                        <a:rPr lang="en-US" sz="17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3,  t</a:t>
                      </a:r>
                      <a:pPr algn="l" indent="0" marL="0">
                        <a:buNone/>
                      </a:pPr>
                      <a:r>
                        <a:rPr lang="en-US" sz="17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5;   t</a:t>
                      </a:r>
                      <a:pPr algn="l" indent="0" marL="0">
                        <a:buNone/>
                      </a:pPr>
                      <a:r>
                        <a:rPr lang="en-US" sz="17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2·100 − 1 = 199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Aritmética con d = 2. Es creciente: cada término es 2 más que el anterior.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pPr algn="l" indent="0" marL="0">
                        <a:buNone/>
                      </a:pPr>
                      <a:r>
                        <a:rPr lang="en-US" sz="17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17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i=1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</a:t>
                      </a:r>
                      <a:pPr algn="l" indent="0" marL="0">
                        <a:buNone/>
                      </a:pPr>
                      <a:r>
                        <a:rPr lang="en-US" sz="17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1 + 3 + 5 = 9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pPr algn="l" indent="0" marL="0">
                        <a:buNone/>
                      </a:pPr>
                      <a:r>
                        <a:rPr lang="en-US" sz="17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17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i=1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</a:t>
                      </a:r>
                      <a:pPr algn="l" indent="0" marL="0">
                        <a:buNone/>
                      </a:pPr>
                      <a:r>
                        <a:rPr lang="en-US" sz="17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1 · 3 · 5 = 15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vimos hoy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106527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0924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o idea clave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Sucesión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a : ℕ → ℝ;  a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es el término de la posición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Aritmética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a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(n − 1)·d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a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r</a:t>
                      </a:r>
                      <a:pPr algn="l" indent="0" marL="0">
                        <a:buNone/>
                      </a:pPr>
                      <a:r>
                        <a:rPr lang="en-US" sz="15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− 1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Condiciones iniciales + regla con los anteriores: n! = n·(n − 1)!,  F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F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F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Creciente, decreciente, alternante, constante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condiciones iniciales y reemplazar a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n−1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en la regla: debe volver la fórmula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Sumas y productos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suma los términos, Π los multiplica;  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pPr algn="l" indent="0" marL="0">
                        <a:buNone/>
                      </a:pPr>
                      <a:r>
                        <a:rPr lang="en-US" sz="1500" baseline="3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l"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i=1</a:t>
                      </a:r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 = n!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INDEPENDIENTE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 en casa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3677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00200"/>
            <a:ext cx="9966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Sucesión v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v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</a:t>
            </a:r>
            <a:pPr indent="0" marL="0">
              <a:buNone/>
            </a:pPr>
            <a:r>
              <a:rPr lang="en-US" sz="14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+ 2, n ≥ 1. Halle v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v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Calcule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pPr indent="0" marL="0">
              <a:buNone/>
            </a:pPr>
            <a:r>
              <a:rPr lang="en-US" sz="14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pPr indent="0" marL="0">
              <a:buNone/>
            </a:pPr>
            <a:r>
              <a:rPr lang="en-US" sz="14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¿Es creciente?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0545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68880"/>
            <a:ext cx="9966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Geométrica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c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· 2</a:t>
            </a:r>
            <a:pPr indent="0" marL="0">
              <a:buNone/>
            </a:pPr>
            <a:r>
              <a:rPr lang="en-US" sz="14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 ≥ 0. Escriba c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…, c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diga su razón y calcule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pPr indent="0" marL="0">
              <a:buNone/>
            </a:pPr>
            <a:r>
              <a:rPr lang="en-US" sz="14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37413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337560"/>
            <a:ext cx="9966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Compruebe que a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 · 2</a:t>
            </a:r>
            <a:pPr indent="0" marL="0">
              <a:buNone/>
            </a:pPr>
            <a:r>
              <a:rPr lang="en-US" sz="14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 cumple  a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4,  a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2a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+ 1  (con tabla y con letras).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24281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206240"/>
            <a:ext cx="9966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sucesión b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(n + 1)/n, n ≥ 1, es creciente o decreciente? Calcule algunos términos y justifique.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5111496"/>
            <a:ext cx="420624" cy="42062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5074920"/>
            <a:ext cx="9966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¿Falla?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 que b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</a:t>
            </a:r>
            <a:pPr indent="0" marL="0">
              <a:buNone/>
            </a:pPr>
            <a:r>
              <a:rPr lang="en-US" sz="14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describe la recurrencia  b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1,  b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</a:t>
            </a:r>
            <a:pPr indent="0" marL="0">
              <a:buNone/>
            </a:pPr>
            <a:r>
              <a:rPr lang="en-US" sz="14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+ 2. ¿En qué término falla?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GRACIAS!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16 - Sucesiones y sumatorias</dc:title>
  <dc:subject>PptxGenJS Presentation</dc:subject>
  <dc:creator>Sebastian Montoya Villada</dc:creator>
  <cp:lastModifiedBy>Sebastian Montoya Villada</cp:lastModifiedBy>
  <cp:revision>1</cp:revision>
  <dcterms:created xsi:type="dcterms:W3CDTF">2026-10-14T01:52:54Z</dcterms:created>
  <dcterms:modified xsi:type="dcterms:W3CDTF">2026-10-14T01:52:54Z</dcterms:modified>
</cp:coreProperties>
</file>