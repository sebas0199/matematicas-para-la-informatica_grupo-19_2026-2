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8"/>
  </p:notesMasterIdLst>
  <p:sldIdLst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5" r:id="rId18"/>
    <p:sldId id="273" r:id="rId19"/>
    <p:sldId id="284" r:id="rId20"/>
    <p:sldId id="285" r:id="rId21"/>
    <p:sldId id="277" r:id="rId22"/>
    <p:sldId id="279" r:id="rId23"/>
    <p:sldId id="280" r:id="rId24"/>
    <p:sldId id="281" r:id="rId25"/>
    <p:sldId id="282" r:id="rId26"/>
    <p:sldId id="283" r:id="rId2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5" d="100"/>
          <a:sy n="55" d="100"/>
        </p:scale>
        <p:origin x="131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Apertura: conecte la sesión con el reconocimiento de enunciados trabajado en la clase anterior.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2.</a:t>
            </a:r>
          </a:p>
          <a:p>
            <a:r>
              <a:t>- Johnsonbaugh, Richard. Matemáticas discretas, 6.ª ed., sections 1.1–1.2 (course guide supplied by the user).</a:t>
            </a:r>
          </a:p>
          <a:p>
            <a:r>
              <a:t>- Clase 2 - Proposiciones y conectivas logicas (1).pptx: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Ruta: explique que se avanzará de una proposición simple a una tabla compuesta, sin saltar pasos.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Compromiso_Academico_Matematica_para_la_Informatica_2026-II_v5.docx: RA1 and week 2.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Johnsonbaugh, Richard. Matemáticas discretas, 6.ª ed., sections 1.1–1.2 (course guide supplied by the user).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Clase 2 - Proposiciones y conectivas logicas (1).pptx: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Contexto: pida dos ejemplos cotidianos; evite profundizar en aplicaciones informáticas.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2.</a:t>
            </a:r>
          </a:p>
          <a:p>
            <a:r>
              <a:t>- Johnsonbaugh, Richard. Matemáticas discretas, 6.ª ed., sections 1.1–1.2 (course guide supplied by the user).</a:t>
            </a:r>
          </a:p>
          <a:p>
            <a:r>
              <a:t>- Clase 2 - Proposiciones y conectivas logicas (1).pptx: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Actividad inicial: permita decisión individual, luego pida justificar con la pregunta «¿tiene valor de verdad?».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Compromiso_Academico_Matematica_para_la_Informatica_2026-II_v5.docx: RA1 and week 2.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Johnsonbaugh, Richard. Matemáticas discretas, 6.ª ed., sections 1.1–1.2 (course guide supplied by the user).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Clase 2 - Proposiciones y conectivas logicas (1).pptx: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Mapa: presente solo nombre, símbolo y lectura; no explique aún todas las tablas.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Compromiso_Academico_Matematica_para_la_Informatica_2026-II_v5.docx: RA1 and week 2.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Johnsonbaugh, Richard. Matemáticas discretas, 6.ª ed., sections 1.1–1.2 (course guide supplied by the user).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Clase 2 - Proposiciones y conectivas logicas (1).pptx: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Negación: haga que el grupo formule primero la negación verbal y luego muestre el símbolo.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2.</a:t>
            </a:r>
          </a:p>
          <a:p>
            <a:r>
              <a:t>- Johnsonbaugh, Richard. Matemáticas discretas, 6.ª ed., sections 1.1–1.2 (course guide supplied by the user).</a:t>
            </a:r>
          </a:p>
          <a:p>
            <a:r>
              <a:t>- Clase 2 - Proposiciones y conectivas logicas (1).pptx: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Práctica de negación: acepte variaciones lingüísticas si conservan exactamente el significado de no p.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2.</a:t>
            </a:r>
          </a:p>
          <a:p>
            <a:r>
              <a:t>- Johnsonbaugh, Richard. Matemáticas discretas, 6.ª ed., sections 1.1–1.2 (course guide supplied by the user).</a:t>
            </a:r>
          </a:p>
          <a:p>
            <a:r>
              <a:t>- Clase 2 - Proposiciones y conectivas logicas (1).pptx: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Conjunción: pregunte por los cuatro casos y destaque que solo VV produce V.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2.</a:t>
            </a:r>
          </a:p>
          <a:p>
            <a:r>
              <a:t>- Johnsonbaugh, Richard. Matemáticas discretas, 6.ª ed., sections 1.1–1.2 (course guide supplied by the user).</a:t>
            </a:r>
          </a:p>
          <a:p>
            <a:r>
              <a:t>- Clase 2 - Proposiciones y conectivas logicas (1).pptx: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Disyunción: enfatice que la o lógica es inclusiva; ambas verdaderas también dan V.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2.</a:t>
            </a:r>
          </a:p>
          <a:p>
            <a:r>
              <a:t>- Johnsonbaugh, Richard. Matemáticas discretas, 6.ª ed., sections 1.1–1.2 (course guide supplied by the user).</a:t>
            </a:r>
          </a:p>
          <a:p>
            <a:r>
              <a:t>- Clase 2 - Proposiciones y conectivas logicas (1).pptx: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Condicional: presente el caso V→F como promesa incumplida; no introduzca inferencia lógica.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2.</a:t>
            </a:r>
          </a:p>
          <a:p>
            <a:r>
              <a:t>- Johnsonbaugh, Richard. Matemáticas discretas, 6.ª ed., sections 1.1–1.2 (course guide supplied by the user).</a:t>
            </a:r>
          </a:p>
          <a:p>
            <a:r>
              <a:t>- Clase 2 - Proposiciones y conectivas logicas (1).pptx: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Bicondicional: limite la explicación a la coincidencia de valores; las equivalencias se estudian después.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2.</a:t>
            </a:r>
          </a:p>
          <a:p>
            <a:r>
              <a:t>- Johnsonbaugh, Richard. Matemáticas discretas, 6.ª ed., sections 1.1–1.2 (course guide supplied by the user).</a:t>
            </a:r>
          </a:p>
          <a:p>
            <a:r>
              <a:t>- Clase 2 - Proposiciones y conectivas logicas (1).pptx: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Síntesis: compare patrones de las columnas finales y pida identificar el caso distintivo de cada conectiva.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2.</a:t>
            </a:r>
          </a:p>
          <a:p>
            <a:r>
              <a:t>- Johnsonbaugh, Richard. Matemáticas discretas, 6.ª ed., sections 1.1–1.2 (course guide supplied by the user).</a:t>
            </a:r>
          </a:p>
          <a:p>
            <a:r>
              <a:t>- Clase 2 - Proposiciones y conectivas logicas (1).pptx: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Método: copie los pasos en el tablero y construya una mini tabla de p y q antes de continuar.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2.</a:t>
            </a:r>
          </a:p>
          <a:p>
            <a:r>
              <a:t>- Johnsonbaugh, Richard. Matemáticas discretas, 6.ª ed., sections 1.1–1.2 (course guide supplied by the user).</a:t>
            </a:r>
          </a:p>
          <a:p>
            <a:r>
              <a:t>- Clase 2 - Proposiciones y conectivas logicas (1).pptx: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Práctica guiada: dé dos minutos individuales y luego contraste respuestas por parejas.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2.</a:t>
            </a:r>
          </a:p>
          <a:p>
            <a:r>
              <a:t>- Johnsonbaugh, Richard. Matemáticas discretas, 6.ª ed., sections 1.1–1.2 (course guide supplied by the user).</a:t>
            </a:r>
          </a:p>
          <a:p>
            <a:r>
              <a:t>- Clase 2 - Proposiciones y conectivas logicas (1).pptx: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Lenguaje cotidiano: contraste «y», «pero» y «aunque»; en «ni p ni q» pida localizar las dos negaciones.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Compromiso_Academico_Matematica_para_la_Informatica_2026-II_v5.docx: RA1 and week 2.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Johnsonbaugh, Richard. Matemáticas discretas, 6.ª ed., sections 1.1–1.2 (course guide supplied by the user).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Clase 2 - Proposiciones y conectivas logicas (1).pptx: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Precedencia: haga que agreguen paréntesis antes de evaluar; priorice claridad sobre memorización.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2.</a:t>
            </a:r>
          </a:p>
          <a:p>
            <a:r>
              <a:t>- Johnsonbaugh, Richard. Matemáticas discretas, 6.ª ed., sections 1.1–1.2 (course guide supplied by the user).</a:t>
            </a:r>
          </a:p>
          <a:p>
            <a:r>
              <a:t>- Clase 2 - Proposiciones y conectivas logicas (1).pptx: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Lenguaje condicional: contraste «p si q» con «p solo si q» reescribiendo ambas con «si…, entonces…».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2.</a:t>
            </a:r>
          </a:p>
          <a:p>
            <a:r>
              <a:t>- Johnsonbaugh, Richard. Matemáticas discretas, 6.ª ed., sections 1.1–1.2 (course guide supplied by the user).</a:t>
            </a:r>
          </a:p>
          <a:p>
            <a:r>
              <a:t>- Clase 2 - Proposiciones y conectivas logicas (1).pptx: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Modele la reescritura en voz alta. Pregunte qué parte funciona como excepción y cuál se niega.</a:t>
            </a:r>
          </a:p>
          <a:p>
            <a:endParaRPr/>
          </a:p>
          <a:p>
            <a:r>
              <a:t>[Sources]</a:t>
            </a:r>
          </a:p>
          <a:p>
            <a:r>
              <a:t>- Johnsonbaugh, Richard. Matemáticas discretas, 6.ª ed., secciones 1.1–1.2.</a:t>
            </a:r>
          </a:p>
          <a:p>
            <a:r>
              <a:t>- Clase 2 - Proposiciones y conectivas logicas - MEJORADA.pptx: estilo institucional y secuencia del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Marque los paréntesis y aclare que la negación alcanza toda la condición compuesta. No introduzca equivalencias todavía.</a:t>
            </a:r>
          </a:p>
          <a:p>
            <a:endParaRPr/>
          </a:p>
          <a:p>
            <a:r>
              <a:t>[Sources]</a:t>
            </a:r>
          </a:p>
          <a:p>
            <a:r>
              <a:t>- Johnsonbaugh, Richard. Matemáticas discretas, 6.ª ed., secciones 1.1–1.2.</a:t>
            </a:r>
          </a:p>
          <a:p>
            <a:r>
              <a:t>- Clase 2 - Proposiciones y conectivas logicas - MEJORADA.pptx: estilo institucional y secuencia del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Práctica cotidiana: exija definir los átomos antes de escribir la fórmula.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2.</a:t>
            </a:r>
          </a:p>
          <a:p>
            <a:r>
              <a:t>- Johnsonbaugh, Richard. Matemáticas discretas, 6.ª ed., sections 1.1–1.2 (course guide supplied by the user).</a:t>
            </a:r>
          </a:p>
          <a:p>
            <a:r>
              <a:t>- Clase 2 - Proposiciones y conectivas logicas (1).pptx: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Tabla completa: modele la primera fila y distribuya las siguientes tres entre estudiantes.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2.</a:t>
            </a:r>
          </a:p>
          <a:p>
            <a:r>
              <a:t>- Johnsonbaugh, Richard. Matemáticas discretas, 6.ª ed., sections 1.1–1.2 (course guide supplied by the user).</a:t>
            </a:r>
          </a:p>
          <a:p>
            <a:r>
              <a:t>- Clase 2 - Proposiciones y conectivas logicas (1).pptx: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Actividad en parejas: asigne una fórmula por pareja; pida tabla y explicación de una fila.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2.</a:t>
            </a:r>
          </a:p>
          <a:p>
            <a:r>
              <a:t>- Johnsonbaugh, Richard. Matemáticas discretas, 6.ª ed., sections 1.1–1.2 (course guide supplied by the user).</a:t>
            </a:r>
          </a:p>
          <a:p>
            <a:r>
              <a:t>- Clase 2 - Proposiciones y conectivas logicas (1).pptx: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Salida: recoja las respuestas para identificar si el grupo necesita repaso de condicional o de formalización.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2.</a:t>
            </a:r>
          </a:p>
          <a:p>
            <a:r>
              <a:t>- Johnsonbaugh, Richard. Matemáticas discretas, 6.ª ed., sections 1.1–1.2 (course guide supplied by the user).</a:t>
            </a:r>
          </a:p>
          <a:p>
            <a:r>
              <a:t>- Clase 2 - Proposiciones y conectivas logicas (1).pptx: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Trabajo independiente: aclare que no se requiere código; solo lenguaje natural, símbolos y tablas.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2.</a:t>
            </a:r>
          </a:p>
          <a:p>
            <a:r>
              <a:t>- Johnsonbaugh, Richard. Matemáticas discretas, 6.ª ed., sections 1.1–1.2 (course guide supplied by the user).</a:t>
            </a:r>
          </a:p>
          <a:p>
            <a:r>
              <a:t>- Clase 2 - Proposiciones y conectivas logicas (1).pptx: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Cierre: sintetice la progresión en tres verbos: reconocer, conectar y verificar.</a:t>
            </a:r>
          </a:p>
          <a:p>
            <a:endParaRPr/>
          </a:p>
          <a:p>
            <a:r>
              <a:t>[Sources]</a:t>
            </a:r>
          </a:p>
          <a:p>
            <a:r>
              <a:t>- Compromiso_Academico_Matematica_para_la_Informatica_2026-II_v5.docx: RA1 and week 2.</a:t>
            </a:r>
          </a:p>
          <a:p>
            <a:r>
              <a:t>- Johnsonbaugh, Richard. Matemáticas discretas, 6.ª ed., sections 1.1–1.2 (course guide supplied by the user).</a:t>
            </a:r>
          </a:p>
          <a:p>
            <a:r>
              <a:t>- Clase 2 - Proposiciones y conectivas logicas (1).pptx: institutional visual source and original lesson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C7844A-1F04-412A-A0A8-71A4AF3C2A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buNone/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E23D8A-7A46-49E6-B01F-DFD75A8633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D8089F-1E43-4425-8E9D-D14F4CA07CB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12/08/2026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A73B2A-CDAB-468F-8278-21E0132E1E4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CF444A-4869-472D-8087-A6A6935154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7A25FD-F2EE-4E1A-AD8E-A7E747A22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C6FD9D-3786-4E8A-AB42-866E67D92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EB54EE-7499-4D0E-8557-C3FD983927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12/08/2026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99B161-A965-4C2D-96F6-34393A144A6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2106A1-12D2-4CD4-9D4C-EC8932606B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733A68-02C1-44E3-AA6F-3EE1DABC1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B375DA-5D48-4C02-8882-9C74B4A8E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793E0F-14B1-489E-B31F-BD0054946F6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12/08/2026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307C7E-7501-4133-A602-0CE4B6E977D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BEABED-A46C-4079-814A-FAE0CCC62F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2A8ED1-03CB-4469-904F-25A47AA09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8A93DD-B6A6-400E-BB6D-B4C8EEE74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9849966-CBD0-4C93-A932-2D89A215E38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3BB3EF0-4552-4C95-8423-154455BC35C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12/08/2026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44BB539-A24A-4D2B-843C-CA07AB045F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B977F5-68F9-469B-B2F9-6082F643C5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CE2994-4F67-41DB-BBB7-2AD3F4DA4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E2460B-2732-4EC1-95A8-91013DEE0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585E618-5762-4997-A31B-734DC8B59BB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4D26772-943E-43F5-8A01-0A6044EF4F1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55FB82-DB7D-4735-8FCC-D5D4268B58B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C87DA93-54CA-46E9-93CC-A3144356E6A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12/08/2026</a:t>
            </a:fld>
            <a:endParaRPr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15CE8FD-DFEC-4D16-BC97-810B825144B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03BEFAA-83B3-4929-A29B-E3771C5F87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EF1FD7-1444-416C-880E-BC113AFB6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F9D1FF3-2AEA-4270-A709-17A5930BD8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12/08/2026</a:t>
            </a:fld>
            <a:endParaRPr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30B2507-CDBF-45B6-9643-09872C18986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DF0A297-393F-4C17-8546-A69CC9A8AD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BB468E2-26F9-48F5-A6A8-40C48ED5BC5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12/08/2026</a:t>
            </a:fld>
            <a:endParaRPr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7759904-06B6-4CA6-B491-668C006D347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0779B3-41FB-41FB-971C-B294982508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2724F8-3C68-4972-8524-A060DE5F6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B025EA-4589-4C31-8162-71EFEBD3A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F61463E-7B13-40A0-9C39-3ED842B4D05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F20DB37-5630-4A62-8F93-D7105894212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12/08/2026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FEDEBF-4913-4C65-AA77-C11C34A604A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EEE070-56B3-4BE3-B44C-412DE2C955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43E969-562A-4BE5-B5F3-5F2A78898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018034-5691-4D84-B5F3-132A548449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FC5F941-0E13-4EC4-A12F-1C0B185AF5D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F5D9474-8AFD-4755-AC32-D755582BE1C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12/08/2026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EFB2AB-B7C2-4F06-9839-F4CA046BBBB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D7B2ED-1CFD-48AB-9257-3998C7B360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05C42A-5AAF-41E3-9906-BA5D056B2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5D2EB68-D615-418A-929D-35A4F91AFC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A4A9CA-AF34-4EF3-9B32-D4818656FF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12/08/2026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F0B7CE-1B92-46E9-9EED-F221DDEE9A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FC5E9-7337-4EEC-9E08-CE41860A5D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C8F259-A526-48D5-A73F-3488259D9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D814E30-E67B-4DDD-84F0-B42373F06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6A0A71-46A5-482B-BD97-C13B2E4FD02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12/08/2026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6E2D1B-198E-40CB-B5DA-8A0681C4B3B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E271CE-44FA-4FAF-AF64-681DF38AE4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12/08/2026</a:t>
            </a:fld>
            <a:endParaRPr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D707AD-10FB-4CBF-A58A-38E36F7D6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buNone/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762B7D-85A4-4634-8961-27C1247CA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F63E34-9CCB-4377-9E40-BF78CF7102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12/08/2026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817D5D-2C17-4C7C-A216-B839B44A15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FB6471-15D5-41B5-ABFA-7F1F912FCD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0FA52-6AF8-454D-82B9-0D3F3F4F8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C782B0-9B12-4EEE-A243-CC3B99BBA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24D07C-1C5C-4D13-90DF-3B72F9E4A9F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12/08/2026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DEA5C7-6011-4CF3-B6C0-74BF0BCBDD0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92A5FF-F3B9-4DA2-81F1-A68ADA6AE8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EF70B-E7C2-483C-A5EC-594070715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2CDEA2-8FE9-4F71-8024-19263DC46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B6B24B-6508-4DFD-9804-09AC8138645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12/08/2026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AF847D-9FF5-4231-B0B0-C47D397C7A8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3A4CE3-1586-490F-B308-CC5032DD3E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DC8D07-AA39-4818-BA25-1111F0914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FDC924-988D-4399-88A7-EC0A38193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767665A-9E8C-4842-BD7B-7B5141CA4D4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FD385A2-C5ED-47B7-9D8C-8EEB6DDCE25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12/08/2026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0BB77C-F7CB-4E0F-960C-8D2F09F9F63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D6F93F-E14D-4B15-8521-AF8D5494DF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C969DD-E73D-4E1D-B1DB-8EF1EAE53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0FCBB2F-05F2-4AE5-BB1F-799393EA6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EF7D49B-11C2-4B39-B920-AC2100AC726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359BA0-6422-4D8F-B7B6-326812D6A58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DD6F596-3535-4225-9995-817A1EF3E295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7D28BFD-DC7B-4AF0-906C-622184E6720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12/08/2026</a:t>
            </a:fld>
            <a:endParaRPr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E7D3F7F-8D3F-4C46-BAB1-1CDD36CCE0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43D8B83-FF4A-44B4-9A60-E9A12B202D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D41EDB-AD3B-4003-A587-727DDDE88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019D779-7D0D-4818-8AF5-5E4C8A940C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12/08/2026</a:t>
            </a:fld>
            <a:endParaRPr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51DB9EB-F829-40F7-9177-736BD698DC3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E5E1265-1E2B-4F4A-B291-5D8784FDEA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52ECB2D-78E4-4553-9280-FE7766FAB25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12/08/2026</a:t>
            </a:fld>
            <a:endParaRPr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2E4A254-BEA0-4805-A2E4-652B033B7A4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C7E9AE-973E-4E6F-9FFF-EDBFC7DBA8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E2D3A-EDD6-4603-84EC-9E8FA3D97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670E11-0337-4858-A28A-C2A494B20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E00F836-FF4A-474B-9B3B-D6EC9751916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416634-9037-4760-A52C-540697A330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12/08/2026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3A3ECD-2D84-4FB5-928C-3214A497527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BDBC6A0-97C7-406D-81F2-CF8CC083F7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93E3AC-C774-4D81-9449-EFD1EF836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BB88FE1-80BE-401B-ACB0-65FE63CCF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0E7889B-A431-484B-AD47-4D11E01E6FF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155A8C-F73B-406E-A63E-CC443DD108B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12/08/2026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AEB6F9-78C1-4C77-9BDF-B9167AFD61B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D63BA0-63E0-49B6-BE70-46CA053F29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38B275-497F-47BD-B9AD-9B0F08769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068DEA-8CCE-40AE-BF45-0E425F666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DBB645-4949-4829-8047-3260E510650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12/08/2026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1CA7C7-89F8-4991-9870-84884AB9E78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7A431F-57BC-49B7-A474-6E3025F4F2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8965AF9-7C7F-4BE3-AAAA-F93BD26C5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95E38C4-94E1-413B-8046-FBDC85973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0BDC5B-472B-46BD-87B4-DC4081D13C4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12/08/2026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81FAD-A8E5-4CA3-9E7E-7E5E24E814A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7367B9-ADF1-4276-92EE-BD87A62E0B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12/08/2026</a:t>
            </a:fld>
            <a:endParaRPr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A6D58CF-4802-4324-AC55-3C88F37E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B4994ED-15F1-42AC-991F-16A85F184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0E0BFF-379A-4691-A1E0-1A541A9797CF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t>12/08/2026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8C792E-4980-4D26-B9EA-73CA1A082E4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3B5EFD-C8D2-4269-8B58-1A9C2228331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t>‹Nº›</a:t>
            </a:fld>
            <a:endParaRPr/>
          </a:p>
        </p:txBody>
      </p:sp>
      <p:pic>
        <p:nvPicPr>
          <p:cNvPr id="13" name="Imagen 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E8C40C3-C2CD-432D-A102-5105360D7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3E98054-8C19-4286-97C5-E81286BE2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Haga clic para modificar el estilo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78245C-7C42-47C2-A7EE-293565CF14B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t>12/08/2026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3AC1AC-5163-4710-A4E6-77C75C588A9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F28BAA-7EF3-4B32-ACEA-89EC12E6AF6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t>‹Nº›</a:t>
            </a:fld>
            <a:endParaRPr/>
          </a:p>
        </p:txBody>
      </p:sp>
      <p:pic>
        <p:nvPicPr>
          <p:cNvPr id="13" name="Imagen 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5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7" name="Google Shape;42;p1">
            <a:extLst>
              <a:ext uri="{FF2B5EF4-FFF2-40B4-BE49-F238E27FC236}">
                <a16:creationId xmlns:a16="http://schemas.microsoft.com/office/drawing/2014/main" id="{2B45B46A-91AE-80AB-4C52-6F9A4C7FEC60}"/>
              </a:ext>
            </a:extLst>
          </p:cNvPr>
          <p:cNvSpPr>
            <a:spLocks noGrp="1"/>
          </p:cNvSpPr>
          <p:nvPr/>
        </p:nvSpPr>
        <p:spPr>
          <a:xfrm>
            <a:off x="1210255" y="2398152"/>
            <a:ext cx="9373925" cy="2962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defRPr sz="3600" b="1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sz="5400">
                <a:solidFill>
                  <a:schemeClr val="lt1"/>
                </a:solidFill>
              </a:rPr>
              <a:t>Matemáticas para la informática</a:t>
            </a:r>
          </a:p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sz="5400">
              <a:solidFill>
                <a:schemeClr val="lt1"/>
              </a:solidFill>
            </a:endParaRPr>
          </a:p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sz="5400">
                <a:solidFill>
                  <a:schemeClr val="lt1"/>
                </a:solidFill>
              </a:rPr>
              <a:t>Sesión 2</a:t>
            </a:r>
          </a:p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sz="5400">
              <a:solidFill>
                <a:schemeClr val="lt1"/>
              </a:solidFill>
            </a:endParaRPr>
          </a:p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sz="2000">
                <a:solidFill>
                  <a:schemeClr val="lt1"/>
                </a:solidFill>
              </a:rPr>
              <a:t>Sebastian Montoya Villada</a:t>
            </a:r>
          </a:p>
        </p:txBody>
      </p:sp>
    </p:spTree>
    <p:extLst>
      <p:ext uri="{BB962C8B-B14F-4D97-AF65-F5344CB8AC3E}">
        <p14:creationId xmlns:p14="http://schemas.microsoft.com/office/powerpoint/2010/main" val="1972982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97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6105525"/>
            <a:ext cx="10648950" cy="361950"/>
          </a:xfrm>
          <a:prstGeom prst="rect">
            <a:avLst/>
          </a:prstGeom>
          <a:ln>
            <a:noFill/>
          </a:ln>
        </p:spPr>
      </p:pic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604206BE-8A28-409E-94B2-F6F4553794F3}"/>
              </a:ext>
            </a:extLst>
          </p:cNvPr>
          <p:cNvSpPr>
            <a:spLocks noGrp="1"/>
          </p:cNvSpPr>
          <p:nvPr/>
        </p:nvSpPr>
        <p:spPr>
          <a:xfrm>
            <a:off x="771524" y="1870256"/>
            <a:ext cx="1118139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Inter"/>
                <a:ea typeface="Inter"/>
                <a:cs typeface="Inter"/>
              </a:rPr>
              <a:t>Contenido</a:t>
            </a:r>
            <a:endParaRPr/>
          </a:p>
        </p:txBody>
      </p:sp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B114A3B6-6FD7-467D-8B3F-EE892660FAC7}"/>
              </a:ext>
            </a:extLst>
          </p:cNvPr>
          <p:cNvSpPr>
            <a:spLocks noGrp="1"/>
          </p:cNvSpPr>
          <p:nvPr/>
        </p:nvSpPr>
        <p:spPr>
          <a:xfrm>
            <a:off x="771525" y="6305550"/>
            <a:ext cx="6000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</a:rPr>
              <a:t>AGENDA</a:t>
            </a:r>
            <a:endParaRPr/>
          </a:p>
        </p:txBody>
      </p:sp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C932D36F-20BC-4FF6-AE8C-37593F45303A}"/>
              </a:ext>
            </a:extLst>
          </p:cNvPr>
          <p:cNvSpPr>
            <a:spLocks noGrp="1"/>
          </p:cNvSpPr>
          <p:nvPr/>
        </p:nvSpPr>
        <p:spPr>
          <a:xfrm>
            <a:off x="11229975" y="6305550"/>
            <a:ext cx="190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</a:rPr>
              <a:t>02</a:t>
            </a:r>
            <a:endParaRPr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128D43B9-4B9D-47BA-9594-CFBF6B5AF90F}"/>
              </a:ext>
            </a:extLst>
          </p:cNvPr>
          <p:cNvSpPr>
            <a:spLocks noGrp="1"/>
          </p:cNvSpPr>
          <p:nvPr/>
        </p:nvSpPr>
        <p:spPr>
          <a:xfrm>
            <a:off x="1057275" y="2550833"/>
            <a:ext cx="47720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 u="none" cap="none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Reconocer</a:t>
            </a:r>
            <a:r>
              <a:rPr sz="2000" b="0" i="0" u="none" cap="none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0" i="0" u="none" cap="none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proposiciones</a:t>
            </a:r>
            <a:r>
              <a:rPr sz="2000" b="0" i="0" u="none" cap="none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y </a:t>
            </a:r>
            <a:r>
              <a:rPr sz="2000" b="0" i="0" u="none" cap="none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valores</a:t>
            </a:r>
            <a:r>
              <a:rPr sz="2000" b="0" i="0" u="none" cap="none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de </a:t>
            </a:r>
            <a:r>
              <a:rPr sz="2000" b="0" i="0" u="none" cap="none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verdad</a:t>
            </a:r>
            <a:endParaRPr sz="2400" dirty="0"/>
          </a:p>
        </p:txBody>
      </p:sp>
      <p:sp>
        <p:nvSpPr>
          <p:cNvPr id="103" name="Google Shape;103;p14">
            <a:extLst>
              <a:ext uri="{FF2B5EF4-FFF2-40B4-BE49-F238E27FC236}">
                <a16:creationId xmlns:a16="http://schemas.microsoft.com/office/drawing/2014/main" id="{D07F9B49-C77E-4B35-AE0E-4BCBC6ABC693}"/>
              </a:ext>
            </a:extLst>
          </p:cNvPr>
          <p:cNvSpPr>
            <a:spLocks noGrp="1"/>
          </p:cNvSpPr>
          <p:nvPr/>
        </p:nvSpPr>
        <p:spPr>
          <a:xfrm>
            <a:off x="771524" y="2937057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Google Shape;104;p14">
            <a:extLst>
              <a:ext uri="{FF2B5EF4-FFF2-40B4-BE49-F238E27FC236}">
                <a16:creationId xmlns:a16="http://schemas.microsoft.com/office/drawing/2014/main" id="{0B6F701C-A1DD-42A1-9960-E539C32C890E}"/>
              </a:ext>
            </a:extLst>
          </p:cNvPr>
          <p:cNvSpPr>
            <a:spLocks noGrp="1"/>
          </p:cNvSpPr>
          <p:nvPr/>
        </p:nvSpPr>
        <p:spPr>
          <a:xfrm>
            <a:off x="1071562" y="3317231"/>
            <a:ext cx="47720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 u="none" cap="none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Comprender</a:t>
            </a:r>
            <a:r>
              <a:rPr sz="2000" b="0" i="0" u="none" cap="none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0" i="0" u="none" cap="none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una</a:t>
            </a:r>
            <a:r>
              <a:rPr sz="2000" b="0" i="0" u="none" cap="none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0" i="0" u="none" cap="none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conectiva</a:t>
            </a:r>
            <a:r>
              <a:rPr sz="2000" b="0" i="0" u="none" cap="none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a la </a:t>
            </a:r>
            <a:r>
              <a:rPr sz="2000" b="0" i="0" u="none" cap="none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vez</a:t>
            </a:r>
            <a:endParaRPr sz="2400" dirty="0"/>
          </a:p>
        </p:txBody>
      </p:sp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70BC079A-647A-4EC9-8BA4-1AA5C45AD848}"/>
              </a:ext>
            </a:extLst>
          </p:cNvPr>
          <p:cNvSpPr>
            <a:spLocks noGrp="1"/>
          </p:cNvSpPr>
          <p:nvPr/>
        </p:nvSpPr>
        <p:spPr>
          <a:xfrm>
            <a:off x="771524" y="368953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58F4C35B-E37A-4B1F-B8E5-17EC0D54F28E}"/>
              </a:ext>
            </a:extLst>
          </p:cNvPr>
          <p:cNvSpPr>
            <a:spLocks noGrp="1"/>
          </p:cNvSpPr>
          <p:nvPr/>
        </p:nvSpPr>
        <p:spPr>
          <a:xfrm>
            <a:off x="1085849" y="4040718"/>
            <a:ext cx="47720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 u="none" cap="none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Construir</a:t>
            </a:r>
            <a:r>
              <a:rPr sz="2000" b="0" i="0" u="none" cap="none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0" i="0" u="none" cap="none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tablas</a:t>
            </a:r>
            <a:r>
              <a:rPr sz="2000" b="0" i="0" u="none" cap="none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de </a:t>
            </a:r>
            <a:r>
              <a:rPr sz="2000" b="0" i="0" u="none" cap="none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verdad</a:t>
            </a:r>
            <a:r>
              <a:rPr sz="2000" b="0" i="0" u="none" cap="none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paso a paso</a:t>
            </a:r>
            <a:endParaRPr sz="2400" dirty="0"/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D8D6DDE6-A36A-4FFC-A31D-84010B6FF489}"/>
              </a:ext>
            </a:extLst>
          </p:cNvPr>
          <p:cNvSpPr>
            <a:spLocks noGrp="1"/>
          </p:cNvSpPr>
          <p:nvPr/>
        </p:nvSpPr>
        <p:spPr>
          <a:xfrm>
            <a:off x="6648450" y="2558368"/>
            <a:ext cx="47720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 u="none" cap="none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Traducir</a:t>
            </a:r>
            <a:r>
              <a:rPr sz="2000" b="0" i="0" u="none" cap="none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0" i="0" u="none" cap="none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enunciados</a:t>
            </a:r>
            <a:r>
              <a:rPr sz="2000" b="0" i="0" u="none" cap="none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0" i="0" u="none" cap="none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cotidianos</a:t>
            </a:r>
            <a:r>
              <a:rPr sz="2000" b="0" i="0" u="none" cap="none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a </a:t>
            </a:r>
            <a:r>
              <a:rPr sz="2000" b="0" i="0" u="none" cap="none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símbolos</a:t>
            </a:r>
            <a:endParaRPr sz="2400" dirty="0"/>
          </a:p>
        </p:txBody>
      </p:sp>
      <p:sp>
        <p:nvSpPr>
          <p:cNvPr id="108" name="Google Shape;108;p14">
            <a:extLst>
              <a:ext uri="{FF2B5EF4-FFF2-40B4-BE49-F238E27FC236}">
                <a16:creationId xmlns:a16="http://schemas.microsoft.com/office/drawing/2014/main" id="{393CD7AF-49E2-4BF5-AB67-7CA34B41CA43}"/>
              </a:ext>
            </a:extLst>
          </p:cNvPr>
          <p:cNvSpPr>
            <a:spLocks noGrp="1"/>
          </p:cNvSpPr>
          <p:nvPr/>
        </p:nvSpPr>
        <p:spPr>
          <a:xfrm>
            <a:off x="6367463" y="335756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14">
            <a:extLst>
              <a:ext uri="{FF2B5EF4-FFF2-40B4-BE49-F238E27FC236}">
                <a16:creationId xmlns:a16="http://schemas.microsoft.com/office/drawing/2014/main" id="{82D5F904-D376-4B2A-97F3-2C44056E3176}"/>
              </a:ext>
            </a:extLst>
          </p:cNvPr>
          <p:cNvSpPr>
            <a:spLocks noGrp="1"/>
          </p:cNvSpPr>
          <p:nvPr/>
        </p:nvSpPr>
        <p:spPr>
          <a:xfrm>
            <a:off x="6634163" y="3505498"/>
            <a:ext cx="47720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Practicar, comparar y explicar resultados</a:t>
            </a:r>
            <a:endParaRPr sz="2400"/>
          </a:p>
        </p:txBody>
      </p:sp>
      <p:sp>
        <p:nvSpPr>
          <p:cNvPr id="110" name="Google Shape;110;p14">
            <a:extLst>
              <a:ext uri="{FF2B5EF4-FFF2-40B4-BE49-F238E27FC236}">
                <a16:creationId xmlns:a16="http://schemas.microsoft.com/office/drawing/2014/main" id="{2EFC545A-3E13-4683-9AD6-17ECFCB890EA}"/>
              </a:ext>
            </a:extLst>
          </p:cNvPr>
          <p:cNvSpPr>
            <a:spLocks noGrp="1"/>
          </p:cNvSpPr>
          <p:nvPr/>
        </p:nvSpPr>
        <p:spPr>
          <a:xfrm>
            <a:off x="928687" y="5168384"/>
            <a:ext cx="101340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Objetivo</a:t>
            </a:r>
            <a:r>
              <a:rPr sz="1600" b="1" i="0" u="none" cap="none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: </a:t>
            </a:r>
            <a:r>
              <a:rPr sz="1600" b="1" i="0" u="none" cap="none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reconocer</a:t>
            </a:r>
            <a:r>
              <a:rPr sz="1600" b="1" i="0" u="none" cap="none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1" i="0" u="none" cap="none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proposiciones</a:t>
            </a:r>
            <a:r>
              <a:rPr sz="1600" b="1" i="0" u="none" cap="none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, </a:t>
            </a:r>
            <a:r>
              <a:rPr sz="1600" b="1" i="0" u="none" cap="none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interpretar</a:t>
            </a:r>
            <a:r>
              <a:rPr sz="1600" b="1" i="0" u="none" cap="none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las </a:t>
            </a:r>
            <a:r>
              <a:rPr sz="1600" b="1" i="0" u="none" cap="none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cinco</a:t>
            </a:r>
            <a:r>
              <a:rPr sz="1600" b="1" i="0" u="none" cap="none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1" i="0" u="none" cap="none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conectivas</a:t>
            </a:r>
            <a:r>
              <a:rPr sz="1600" b="1" i="0" u="none" cap="none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y </a:t>
            </a:r>
            <a:r>
              <a:rPr sz="1600" b="1" i="0" u="none" cap="none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construir</a:t>
            </a:r>
            <a:r>
              <a:rPr sz="1600" b="1" i="0" u="none" cap="none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1" i="0" u="none" cap="none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tablas</a:t>
            </a:r>
            <a:r>
              <a:rPr sz="1600" b="1" i="0" u="none" cap="none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de </a:t>
            </a:r>
            <a:r>
              <a:rPr sz="1600" b="1" i="0" u="none" cap="none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verdad</a:t>
            </a:r>
            <a:r>
              <a:rPr sz="1600" b="1" i="0" u="none" cap="none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1" i="0" u="none" cap="none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sencillas</a:t>
            </a:r>
            <a:r>
              <a:rPr sz="1600" b="1" i="0" u="none" cap="none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.</a:t>
            </a:r>
            <a:endParaRPr sz="2400" dirty="0"/>
          </a:p>
        </p:txBody>
      </p:sp>
      <p:sp>
        <p:nvSpPr>
          <p:cNvPr id="111" name="Google Shape;111;p14">
            <a:extLst>
              <a:ext uri="{FF2B5EF4-FFF2-40B4-BE49-F238E27FC236}">
                <a16:creationId xmlns:a16="http://schemas.microsoft.com/office/drawing/2014/main" id="{78AA4CAA-48BA-4206-ADED-33F3CD4476BD}"/>
              </a:ext>
            </a:extLst>
          </p:cNvPr>
          <p:cNvSpPr>
            <a:spLocks noGrp="1"/>
          </p:cNvSpPr>
          <p:nvPr/>
        </p:nvSpPr>
        <p:spPr>
          <a:xfrm>
            <a:off x="771524" y="2937057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14">
            <a:extLst>
              <a:ext uri="{FF2B5EF4-FFF2-40B4-BE49-F238E27FC236}">
                <a16:creationId xmlns:a16="http://schemas.microsoft.com/office/drawing/2014/main" id="{70DAFA32-02E2-49D0-81CF-16B0B064AAEE}"/>
              </a:ext>
            </a:extLst>
          </p:cNvPr>
          <p:cNvSpPr>
            <a:spLocks noGrp="1"/>
          </p:cNvSpPr>
          <p:nvPr/>
        </p:nvSpPr>
        <p:spPr>
          <a:xfrm>
            <a:off x="785812" y="3661503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0F29AA06-C4EF-4E94-945C-03304FF193F3}"/>
              </a:ext>
            </a:extLst>
          </p:cNvPr>
          <p:cNvSpPr>
            <a:spLocks noGrp="1"/>
          </p:cNvSpPr>
          <p:nvPr/>
        </p:nvSpPr>
        <p:spPr>
          <a:xfrm>
            <a:off x="6367463" y="335756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36" name="Google Shape;114;p14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862" y="2957512"/>
            <a:ext cx="123825" cy="200025"/>
          </a:xfrm>
          <a:prstGeom prst="rect">
            <a:avLst/>
          </a:prstGeom>
          <a:ln>
            <a:noFill/>
          </a:ln>
        </p:spPr>
      </p:pic>
      <p:pic>
        <p:nvPicPr>
          <p:cNvPr id="137" name="Google Shape;115;p14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4" y="3720917"/>
            <a:ext cx="123825" cy="200025"/>
          </a:xfrm>
          <a:prstGeom prst="rect">
            <a:avLst/>
          </a:prstGeom>
          <a:ln>
            <a:noFill/>
          </a:ln>
        </p:spPr>
      </p:pic>
      <p:pic>
        <p:nvPicPr>
          <p:cNvPr id="138" name="Google Shape;116;p14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862" y="4462462"/>
            <a:ext cx="123825" cy="200025"/>
          </a:xfrm>
          <a:prstGeom prst="rect">
            <a:avLst/>
          </a:prstGeom>
          <a:ln>
            <a:noFill/>
          </a:ln>
        </p:spPr>
      </p:pic>
      <p:pic>
        <p:nvPicPr>
          <p:cNvPr id="139" name="Google Shape;117;p14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7463" y="2957512"/>
            <a:ext cx="123825" cy="200025"/>
          </a:xfrm>
          <a:prstGeom prst="rect">
            <a:avLst/>
          </a:prstGeom>
          <a:ln>
            <a:noFill/>
          </a:ln>
        </p:spPr>
      </p:pic>
      <p:pic>
        <p:nvPicPr>
          <p:cNvPr id="140" name="Google Shape;118;p14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7463" y="3867149"/>
            <a:ext cx="123825" cy="20002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6198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47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48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8447" y="3868596"/>
            <a:ext cx="2405320" cy="2605007"/>
          </a:xfrm>
          <a:prstGeom prst="rect">
            <a:avLst/>
          </a:prstGeom>
        </p:spPr>
      </p:pic>
      <p:pic>
        <p:nvPicPr>
          <p:cNvPr id="49" name="Imagen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3415" y="1460691"/>
            <a:ext cx="2405320" cy="2605007"/>
          </a:xfrm>
          <a:prstGeom prst="rect">
            <a:avLst/>
          </a:prstGeom>
        </p:spPr>
      </p:pic>
      <p:pic>
        <p:nvPicPr>
          <p:cNvPr id="50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51" name="Imagen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3413" y="3735077"/>
            <a:ext cx="2363633" cy="2559859"/>
          </a:xfrm>
          <a:prstGeom prst="rect">
            <a:avLst/>
          </a:prstGeom>
        </p:spPr>
      </p:pic>
      <p:pic>
        <p:nvPicPr>
          <p:cNvPr id="52" name="Imagen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53" name="Imagen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35097" y="2259550"/>
            <a:ext cx="2405320" cy="2605007"/>
          </a:xfrm>
          <a:prstGeom prst="rect">
            <a:avLst/>
          </a:prstGeom>
        </p:spPr>
      </p:pic>
      <p:pic>
        <p:nvPicPr>
          <p:cNvPr id="54" name="Imagen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4797" y="2156120"/>
            <a:ext cx="2405320" cy="2605007"/>
          </a:xfrm>
          <a:prstGeom prst="rect">
            <a:avLst/>
          </a:prstGeom>
        </p:spPr>
      </p:pic>
      <p:pic>
        <p:nvPicPr>
          <p:cNvPr id="55" name="Imagen 2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56" name="Google Shape;125;p15"/>
          <p:cNvPicPr>
            <a:picLocks noChangeAspect="1"/>
          </p:cNvPicPr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088224" y="1412436"/>
            <a:ext cx="5038725" cy="5229225"/>
          </a:xfrm>
          <a:prstGeom prst="rect">
            <a:avLst/>
          </a:prstGeom>
          <a:ln>
            <a:noFill/>
          </a:ln>
        </p:spPr>
      </p:pic>
      <p:sp>
        <p:nvSpPr>
          <p:cNvPr id="19" name="Google Shape;126;p15">
            <a:extLst>
              <a:ext uri="{FF2B5EF4-FFF2-40B4-BE49-F238E27FC236}">
                <a16:creationId xmlns:a16="http://schemas.microsoft.com/office/drawing/2014/main" id="{FBAE859C-B84A-E4F4-C55E-E2FAB340799C}"/>
              </a:ext>
            </a:extLst>
          </p:cNvPr>
          <p:cNvSpPr>
            <a:spLocks noGrp="1"/>
          </p:cNvSpPr>
          <p:nvPr/>
        </p:nvSpPr>
        <p:spPr>
          <a:xfrm>
            <a:off x="177718" y="1478493"/>
            <a:ext cx="1118139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250"/>
            </a:pPr>
            <a:r>
              <a:rPr sz="2800" b="1" i="0" u="none" cap="none">
                <a:solidFill>
                  <a:srgbClr val="1E293B"/>
                </a:solidFill>
                <a:latin typeface="Inter"/>
                <a:ea typeface="Inter"/>
                <a:cs typeface="Inter"/>
              </a:rPr>
              <a:t>Lógica proposicional: ideas y conectivas</a:t>
            </a:r>
            <a:endParaRPr sz="2400"/>
          </a:p>
        </p:txBody>
      </p:sp>
      <p:sp>
        <p:nvSpPr>
          <p:cNvPr id="20" name="Google Shape;127;p15">
            <a:extLst>
              <a:ext uri="{FF2B5EF4-FFF2-40B4-BE49-F238E27FC236}">
                <a16:creationId xmlns:a16="http://schemas.microsoft.com/office/drawing/2014/main" id="{EC1A9AA3-E887-7682-63A3-8AE3B7E5E375}"/>
              </a:ext>
            </a:extLst>
          </p:cNvPr>
          <p:cNvSpPr>
            <a:spLocks noGrp="1"/>
          </p:cNvSpPr>
          <p:nvPr/>
        </p:nvSpPr>
        <p:spPr>
          <a:xfrm>
            <a:off x="771525" y="6305550"/>
            <a:ext cx="1885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</a:rPr>
              <a:t>DEFINICIÓN Y CONTEXTO</a:t>
            </a:r>
            <a:endParaRPr/>
          </a:p>
        </p:txBody>
      </p:sp>
      <p:sp>
        <p:nvSpPr>
          <p:cNvPr id="21" name="Google Shape;128;p15">
            <a:extLst>
              <a:ext uri="{FF2B5EF4-FFF2-40B4-BE49-F238E27FC236}">
                <a16:creationId xmlns:a16="http://schemas.microsoft.com/office/drawing/2014/main" id="{E0D9FD0F-D225-7D4F-1558-52D4E50C9BDC}"/>
              </a:ext>
            </a:extLst>
          </p:cNvPr>
          <p:cNvSpPr>
            <a:spLocks noGrp="1"/>
          </p:cNvSpPr>
          <p:nvPr/>
        </p:nvSpPr>
        <p:spPr>
          <a:xfrm>
            <a:off x="11936449" y="6432111"/>
            <a:ext cx="190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</a:rPr>
              <a:t>03</a:t>
            </a:r>
            <a:endParaRPr/>
          </a:p>
        </p:txBody>
      </p:sp>
      <p:sp>
        <p:nvSpPr>
          <p:cNvPr id="22" name="Google Shape;129;p15">
            <a:extLst>
              <a:ext uri="{FF2B5EF4-FFF2-40B4-BE49-F238E27FC236}">
                <a16:creationId xmlns:a16="http://schemas.microsoft.com/office/drawing/2014/main" id="{DA5139D6-9D3A-E58E-EAEE-E3CAA0229EBB}"/>
              </a:ext>
            </a:extLst>
          </p:cNvPr>
          <p:cNvSpPr>
            <a:spLocks noGrp="1"/>
          </p:cNvSpPr>
          <p:nvPr/>
        </p:nvSpPr>
        <p:spPr>
          <a:xfrm>
            <a:off x="329183" y="2108149"/>
            <a:ext cx="6170046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 dirty="0" err="1">
                <a:latin typeface="Inter"/>
                <a:ea typeface="Inter"/>
                <a:cs typeface="Inter"/>
              </a:rPr>
              <a:t>Parte</a:t>
            </a:r>
            <a:r>
              <a:rPr sz="2400" b="0" i="0" u="none" cap="none" dirty="0">
                <a:latin typeface="Inter"/>
                <a:ea typeface="Inter"/>
                <a:cs typeface="Inter"/>
              </a:rPr>
              <a:t> de </a:t>
            </a:r>
            <a:r>
              <a:rPr sz="2400" b="0" i="0" u="none" cap="none" dirty="0" err="1">
                <a:latin typeface="Inter"/>
                <a:ea typeface="Inter"/>
                <a:cs typeface="Inter"/>
              </a:rPr>
              <a:t>oraciones</a:t>
            </a:r>
            <a:r>
              <a:rPr sz="2400" b="0" i="0" u="none" cap="none" dirty="0">
                <a:latin typeface="Inter"/>
                <a:ea typeface="Inter"/>
                <a:cs typeface="Inter"/>
              </a:rPr>
              <a:t> </a:t>
            </a:r>
            <a:r>
              <a:rPr sz="2400" b="0" i="0" u="none" cap="none" dirty="0" err="1">
                <a:latin typeface="Inter"/>
                <a:ea typeface="Inter"/>
                <a:cs typeface="Inter"/>
              </a:rPr>
              <a:t>que</a:t>
            </a:r>
            <a:r>
              <a:rPr sz="2400" b="0" i="0" u="none" cap="none" dirty="0">
                <a:latin typeface="Inter"/>
                <a:ea typeface="Inter"/>
                <a:cs typeface="Inter"/>
              </a:rPr>
              <a:t> </a:t>
            </a:r>
            <a:r>
              <a:rPr sz="2400" b="0" i="0" u="none" cap="none" dirty="0" err="1">
                <a:latin typeface="Inter"/>
                <a:ea typeface="Inter"/>
                <a:cs typeface="Inter"/>
              </a:rPr>
              <a:t>pueden</a:t>
            </a:r>
            <a:r>
              <a:rPr sz="2400" b="0" i="0" u="none" cap="none" dirty="0">
                <a:latin typeface="Inter"/>
                <a:ea typeface="Inter"/>
                <a:cs typeface="Inter"/>
              </a:rPr>
              <a:t> </a:t>
            </a:r>
            <a:r>
              <a:rPr sz="2400" b="0" i="0" u="none" cap="none" dirty="0" err="1">
                <a:latin typeface="Inter"/>
                <a:ea typeface="Inter"/>
                <a:cs typeface="Inter"/>
              </a:rPr>
              <a:t>calificarse</a:t>
            </a:r>
            <a:r>
              <a:rPr sz="2400" b="0" i="0" u="none" cap="none" dirty="0">
                <a:latin typeface="Inter"/>
                <a:ea typeface="Inter"/>
                <a:cs typeface="Inter"/>
              </a:rPr>
              <a:t> </a:t>
            </a:r>
            <a:r>
              <a:rPr sz="2400" b="0" i="0" u="none" cap="none" dirty="0" err="1">
                <a:latin typeface="Inter"/>
                <a:ea typeface="Inter"/>
                <a:cs typeface="Inter"/>
              </a:rPr>
              <a:t>como</a:t>
            </a:r>
            <a:r>
              <a:rPr sz="2400" b="0" i="0" u="none" cap="none" dirty="0">
                <a:latin typeface="Inter"/>
                <a:ea typeface="Inter"/>
                <a:cs typeface="Inter"/>
              </a:rPr>
              <a:t> </a:t>
            </a:r>
            <a:r>
              <a:rPr sz="2400" b="0" i="0" u="none" cap="none" dirty="0" err="1">
                <a:latin typeface="Inter"/>
                <a:ea typeface="Inter"/>
                <a:cs typeface="Inter"/>
              </a:rPr>
              <a:t>verdaderas</a:t>
            </a:r>
            <a:r>
              <a:rPr sz="2400" b="0" i="0" u="none" cap="none" dirty="0">
                <a:latin typeface="Inter"/>
                <a:ea typeface="Inter"/>
                <a:cs typeface="Inter"/>
              </a:rPr>
              <a:t> o falsas. A </a:t>
            </a:r>
            <a:r>
              <a:rPr sz="2400" b="0" i="0" u="none" cap="none" dirty="0" err="1">
                <a:latin typeface="Inter"/>
                <a:ea typeface="Inter"/>
                <a:cs typeface="Inter"/>
              </a:rPr>
              <a:t>estas</a:t>
            </a:r>
            <a:r>
              <a:rPr sz="2400" b="0" i="0" u="none" cap="none" dirty="0">
                <a:latin typeface="Inter"/>
                <a:ea typeface="Inter"/>
                <a:cs typeface="Inter"/>
              </a:rPr>
              <a:t> </a:t>
            </a:r>
            <a:r>
              <a:rPr sz="2400" b="0" i="0" u="none" cap="none" dirty="0" err="1">
                <a:latin typeface="Inter"/>
                <a:ea typeface="Inter"/>
                <a:cs typeface="Inter"/>
              </a:rPr>
              <a:t>oraciones</a:t>
            </a:r>
            <a:r>
              <a:rPr sz="2400" b="0" i="0" u="none" cap="none" dirty="0">
                <a:latin typeface="Inter"/>
                <a:ea typeface="Inter"/>
                <a:cs typeface="Inter"/>
              </a:rPr>
              <a:t> las </a:t>
            </a:r>
            <a:r>
              <a:rPr sz="2400" b="0" i="0" u="none" cap="none" dirty="0" err="1">
                <a:latin typeface="Inter"/>
                <a:ea typeface="Inter"/>
                <a:cs typeface="Inter"/>
              </a:rPr>
              <a:t>llamamos</a:t>
            </a:r>
            <a:r>
              <a:rPr sz="2400" b="0" i="0" u="none" cap="none" dirty="0">
                <a:latin typeface="Inter"/>
                <a:ea typeface="Inter"/>
                <a:cs typeface="Inter"/>
              </a:rPr>
              <a:t> </a:t>
            </a:r>
            <a:r>
              <a:rPr sz="2400" b="0" i="0" u="none" cap="none" dirty="0" err="1">
                <a:latin typeface="Inter"/>
                <a:ea typeface="Inter"/>
                <a:cs typeface="Inter"/>
              </a:rPr>
              <a:t>proposiciones</a:t>
            </a:r>
            <a:r>
              <a:rPr sz="2400" b="0" i="0" u="none" cap="none" dirty="0">
                <a:latin typeface="Inter"/>
                <a:ea typeface="Inter"/>
                <a:cs typeface="Inter"/>
              </a:rPr>
              <a:t>.</a:t>
            </a:r>
            <a:endParaRPr sz="2800" dirty="0"/>
          </a:p>
        </p:txBody>
      </p:sp>
      <p:sp>
        <p:nvSpPr>
          <p:cNvPr id="23" name="Google Shape;130;p15">
            <a:extLst>
              <a:ext uri="{FF2B5EF4-FFF2-40B4-BE49-F238E27FC236}">
                <a16:creationId xmlns:a16="http://schemas.microsoft.com/office/drawing/2014/main" id="{2CC3E6C6-FCA6-7519-1069-0A1127A92ECF}"/>
              </a:ext>
            </a:extLst>
          </p:cNvPr>
          <p:cNvSpPr>
            <a:spLocks noGrp="1"/>
          </p:cNvSpPr>
          <p:nvPr/>
        </p:nvSpPr>
        <p:spPr>
          <a:xfrm>
            <a:off x="318154" y="3981864"/>
            <a:ext cx="6223167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 dirty="0">
                <a:latin typeface="Inter"/>
                <a:ea typeface="Inter"/>
                <a:cs typeface="Inter"/>
              </a:rPr>
              <a:t>Luego </a:t>
            </a:r>
            <a:r>
              <a:rPr sz="2400" b="0" i="0" u="none" cap="none" dirty="0" err="1">
                <a:latin typeface="Inter"/>
                <a:ea typeface="Inter"/>
                <a:cs typeface="Inter"/>
              </a:rPr>
              <a:t>combina</a:t>
            </a:r>
            <a:r>
              <a:rPr sz="2400" b="0" i="0" u="none" cap="none" dirty="0">
                <a:latin typeface="Inter"/>
                <a:ea typeface="Inter"/>
                <a:cs typeface="Inter"/>
              </a:rPr>
              <a:t> </a:t>
            </a:r>
            <a:r>
              <a:rPr sz="2400" b="0" i="0" u="none" cap="none" dirty="0" err="1">
                <a:latin typeface="Inter"/>
                <a:ea typeface="Inter"/>
                <a:cs typeface="Inter"/>
              </a:rPr>
              <a:t>proposiciones</a:t>
            </a:r>
            <a:r>
              <a:rPr sz="2400" b="0" i="0" u="none" cap="none" dirty="0">
                <a:latin typeface="Inter"/>
                <a:ea typeface="Inter"/>
                <a:cs typeface="Inter"/>
              </a:rPr>
              <a:t> con palabras </a:t>
            </a:r>
            <a:r>
              <a:rPr sz="2400" b="0" i="0" u="none" cap="none" dirty="0" err="1">
                <a:latin typeface="Inter"/>
                <a:ea typeface="Inter"/>
                <a:cs typeface="Inter"/>
              </a:rPr>
              <a:t>como</a:t>
            </a:r>
            <a:r>
              <a:rPr sz="2400" b="0" i="0" u="none" cap="none" dirty="0">
                <a:latin typeface="Inter"/>
                <a:ea typeface="Inter"/>
                <a:cs typeface="Inter"/>
              </a:rPr>
              <a:t> «no», «y», «o» y «</a:t>
            </a:r>
            <a:r>
              <a:rPr sz="2400" b="0" i="0" u="none" cap="none" dirty="0" err="1">
                <a:latin typeface="Inter"/>
                <a:ea typeface="Inter"/>
                <a:cs typeface="Inter"/>
              </a:rPr>
              <a:t>si</a:t>
            </a:r>
            <a:r>
              <a:rPr sz="2400" b="0" i="0" u="none" cap="none" dirty="0">
                <a:latin typeface="Inter"/>
                <a:ea typeface="Inter"/>
                <a:cs typeface="Inter"/>
              </a:rPr>
              <a:t>… </a:t>
            </a:r>
            <a:r>
              <a:rPr sz="2400" b="0" i="0" u="none" cap="none" dirty="0" err="1">
                <a:latin typeface="Inter"/>
                <a:ea typeface="Inter"/>
                <a:cs typeface="Inter"/>
              </a:rPr>
              <a:t>entonces</a:t>
            </a:r>
            <a:r>
              <a:rPr sz="2400" b="0" i="0" u="none" cap="none" dirty="0">
                <a:latin typeface="Inter"/>
                <a:ea typeface="Inter"/>
                <a:cs typeface="Inter"/>
              </a:rPr>
              <a:t>» para </a:t>
            </a:r>
            <a:r>
              <a:rPr sz="2400" b="0" i="0" u="none" cap="none" dirty="0" err="1">
                <a:latin typeface="Inter"/>
                <a:ea typeface="Inter"/>
                <a:cs typeface="Inter"/>
              </a:rPr>
              <a:t>analizar</a:t>
            </a:r>
            <a:r>
              <a:rPr sz="2400" b="0" i="0" u="none" cap="none" dirty="0">
                <a:latin typeface="Inter"/>
                <a:ea typeface="Inter"/>
                <a:cs typeface="Inter"/>
              </a:rPr>
              <a:t> </a:t>
            </a:r>
            <a:r>
              <a:rPr sz="2400" b="0" i="0" u="none" cap="none" dirty="0" err="1">
                <a:latin typeface="Inter"/>
                <a:ea typeface="Inter"/>
                <a:cs typeface="Inter"/>
              </a:rPr>
              <a:t>expresiones</a:t>
            </a:r>
            <a:r>
              <a:rPr sz="2400" b="0" i="0" u="none" cap="none" dirty="0">
                <a:latin typeface="Inter"/>
                <a:ea typeface="Inter"/>
                <a:cs typeface="Inter"/>
              </a:rPr>
              <a:t> </a:t>
            </a:r>
            <a:r>
              <a:rPr sz="2400" b="0" i="0" u="none" cap="none" dirty="0" err="1">
                <a:latin typeface="Inter"/>
                <a:ea typeface="Inter"/>
                <a:cs typeface="Inter"/>
              </a:rPr>
              <a:t>más</a:t>
            </a:r>
            <a:r>
              <a:rPr sz="2400" b="0" i="0" u="none" cap="none" dirty="0">
                <a:latin typeface="Inter"/>
                <a:ea typeface="Inter"/>
                <a:cs typeface="Inter"/>
              </a:rPr>
              <a:t> </a:t>
            </a:r>
            <a:r>
              <a:rPr sz="2400" b="0" i="0" u="none" cap="none" dirty="0" err="1">
                <a:latin typeface="Inter"/>
                <a:ea typeface="Inter"/>
                <a:cs typeface="Inter"/>
              </a:rPr>
              <a:t>completas</a:t>
            </a:r>
            <a:r>
              <a:rPr sz="2400" b="0" i="0" u="none" cap="none" dirty="0">
                <a:latin typeface="Inter"/>
                <a:ea typeface="Inter"/>
                <a:cs typeface="Inter"/>
              </a:rPr>
              <a:t>.</a:t>
            </a:r>
            <a:endParaRPr sz="2800" dirty="0"/>
          </a:p>
        </p:txBody>
      </p:sp>
      <p:sp>
        <p:nvSpPr>
          <p:cNvPr id="24" name="Google Shape;131;p15">
            <a:extLst>
              <a:ext uri="{FF2B5EF4-FFF2-40B4-BE49-F238E27FC236}">
                <a16:creationId xmlns:a16="http://schemas.microsoft.com/office/drawing/2014/main" id="{58DBBE02-2962-494C-F661-2D6251FAEA56}"/>
              </a:ext>
            </a:extLst>
          </p:cNvPr>
          <p:cNvSpPr>
            <a:spLocks noGrp="1"/>
          </p:cNvSpPr>
          <p:nvPr/>
        </p:nvSpPr>
        <p:spPr>
          <a:xfrm>
            <a:off x="7412074" y="1698186"/>
            <a:ext cx="465058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u="none" cap="none">
                <a:solidFill>
                  <a:srgbClr val="2563EB"/>
                </a:solidFill>
                <a:latin typeface="Inter SemiBold"/>
                <a:ea typeface="Inter SemiBold"/>
                <a:cs typeface="Inter SemiBold"/>
              </a:rPr>
              <a:t>¿Para qué sirve?</a:t>
            </a:r>
            <a:endParaRPr/>
          </a:p>
        </p:txBody>
      </p:sp>
      <p:sp>
        <p:nvSpPr>
          <p:cNvPr id="25" name="Google Shape;132;p15">
            <a:extLst>
              <a:ext uri="{FF2B5EF4-FFF2-40B4-BE49-F238E27FC236}">
                <a16:creationId xmlns:a16="http://schemas.microsoft.com/office/drawing/2014/main" id="{0824C7AB-31D7-9995-F46A-2A1B494CCBAB}"/>
              </a:ext>
            </a:extLst>
          </p:cNvPr>
          <p:cNvSpPr>
            <a:spLocks noGrp="1"/>
          </p:cNvSpPr>
          <p:nvPr/>
        </p:nvSpPr>
        <p:spPr>
          <a:xfrm>
            <a:off x="7745449" y="2336361"/>
            <a:ext cx="409575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Matemáticas: expresar razonamientos con precisión y sin ambigüedades.</a:t>
            </a:r>
            <a:endParaRPr/>
          </a:p>
        </p:txBody>
      </p:sp>
      <p:sp>
        <p:nvSpPr>
          <p:cNvPr id="26" name="Google Shape;133;p15">
            <a:extLst>
              <a:ext uri="{FF2B5EF4-FFF2-40B4-BE49-F238E27FC236}">
                <a16:creationId xmlns:a16="http://schemas.microsoft.com/office/drawing/2014/main" id="{09E839B6-715A-07B8-D6A4-29BA5A81B1AC}"/>
              </a:ext>
            </a:extLst>
          </p:cNvPr>
          <p:cNvSpPr>
            <a:spLocks noGrp="1"/>
          </p:cNvSpPr>
          <p:nvPr/>
        </p:nvSpPr>
        <p:spPr>
          <a:xfrm>
            <a:off x="7412074" y="3422211"/>
            <a:ext cx="44291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134;p15">
            <a:extLst>
              <a:ext uri="{FF2B5EF4-FFF2-40B4-BE49-F238E27FC236}">
                <a16:creationId xmlns:a16="http://schemas.microsoft.com/office/drawing/2014/main" id="{F57E7E9F-39C1-20DD-1CEC-026C94BED56D}"/>
              </a:ext>
            </a:extLst>
          </p:cNvPr>
          <p:cNvSpPr>
            <a:spLocks noGrp="1"/>
          </p:cNvSpPr>
          <p:nvPr/>
        </p:nvSpPr>
        <p:spPr>
          <a:xfrm>
            <a:off x="7793074" y="3717486"/>
            <a:ext cx="4048125" cy="113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Vida cotidiana: analizar condiciones y decisiones expresadas con lenguaje común.</a:t>
            </a:r>
            <a:endParaRPr/>
          </a:p>
        </p:txBody>
      </p:sp>
      <p:sp>
        <p:nvSpPr>
          <p:cNvPr id="28" name="Google Shape;135;p15">
            <a:extLst>
              <a:ext uri="{FF2B5EF4-FFF2-40B4-BE49-F238E27FC236}">
                <a16:creationId xmlns:a16="http://schemas.microsoft.com/office/drawing/2014/main" id="{923BD011-6F18-264B-6CD8-85979931BC0A}"/>
              </a:ext>
            </a:extLst>
          </p:cNvPr>
          <p:cNvSpPr>
            <a:spLocks noGrp="1"/>
          </p:cNvSpPr>
          <p:nvPr/>
        </p:nvSpPr>
        <p:spPr>
          <a:xfrm>
            <a:off x="7412074" y="4803336"/>
            <a:ext cx="44291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136;p15">
            <a:extLst>
              <a:ext uri="{FF2B5EF4-FFF2-40B4-BE49-F238E27FC236}">
                <a16:creationId xmlns:a16="http://schemas.microsoft.com/office/drawing/2014/main" id="{3C2810C3-1FEB-887B-CD47-0E1A60F9DF04}"/>
              </a:ext>
            </a:extLst>
          </p:cNvPr>
          <p:cNvSpPr>
            <a:spLocks noGrp="1"/>
          </p:cNvSpPr>
          <p:nvPr/>
        </p:nvSpPr>
        <p:spPr>
          <a:xfrm>
            <a:off x="7745449" y="5098611"/>
            <a:ext cx="4095750" cy="113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Informática: comprender la base lógica de condiciones y circuitos, que veremos con mayor profundidad más adelante.</a:t>
            </a:r>
            <a:endParaRPr/>
          </a:p>
        </p:txBody>
      </p:sp>
      <p:sp>
        <p:nvSpPr>
          <p:cNvPr id="30" name="Google Shape;137;p15">
            <a:extLst>
              <a:ext uri="{FF2B5EF4-FFF2-40B4-BE49-F238E27FC236}">
                <a16:creationId xmlns:a16="http://schemas.microsoft.com/office/drawing/2014/main" id="{BDD5A789-56D3-EEFF-1DB3-696A21307C94}"/>
              </a:ext>
            </a:extLst>
          </p:cNvPr>
          <p:cNvSpPr>
            <a:spLocks noGrp="1"/>
          </p:cNvSpPr>
          <p:nvPr/>
        </p:nvSpPr>
        <p:spPr>
          <a:xfrm>
            <a:off x="7412074" y="3422211"/>
            <a:ext cx="44291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Google Shape;138;p15">
            <a:extLst>
              <a:ext uri="{FF2B5EF4-FFF2-40B4-BE49-F238E27FC236}">
                <a16:creationId xmlns:a16="http://schemas.microsoft.com/office/drawing/2014/main" id="{F0B7AA79-C5CE-656D-8DF7-419D85312E6B}"/>
              </a:ext>
            </a:extLst>
          </p:cNvPr>
          <p:cNvSpPr>
            <a:spLocks noGrp="1"/>
          </p:cNvSpPr>
          <p:nvPr/>
        </p:nvSpPr>
        <p:spPr>
          <a:xfrm>
            <a:off x="7412074" y="4803336"/>
            <a:ext cx="44291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70" name="Google Shape;139;p15"/>
          <p:cNvPicPr>
            <a:picLocks noChangeAspect="1"/>
          </p:cNvPicPr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412074" y="2707836"/>
            <a:ext cx="190500" cy="200025"/>
          </a:xfrm>
          <a:prstGeom prst="rect">
            <a:avLst/>
          </a:prstGeom>
          <a:ln>
            <a:noFill/>
          </a:ln>
        </p:spPr>
      </p:pic>
      <p:pic>
        <p:nvPicPr>
          <p:cNvPr id="71" name="Google Shape;140;p15"/>
          <p:cNvPicPr>
            <a:picLocks noChangeAspect="1"/>
          </p:cNvPicPr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412074" y="4088961"/>
            <a:ext cx="238125" cy="200025"/>
          </a:xfrm>
          <a:prstGeom prst="rect">
            <a:avLst/>
          </a:prstGeom>
          <a:ln>
            <a:noFill/>
          </a:ln>
        </p:spPr>
      </p:pic>
      <p:pic>
        <p:nvPicPr>
          <p:cNvPr id="72" name="Google Shape;141;p15"/>
          <p:cNvPicPr>
            <a:picLocks noChangeAspect="1"/>
          </p:cNvPicPr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412074" y="5470086"/>
            <a:ext cx="190500" cy="20002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1522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AC855010-E865-45EF-B611-092A6441CCF6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Actividad inicial: ¿es una proposición?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AED01A66-495C-4052-883C-986627C86795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D870CEF3-06FC-4105-B83E-6970B8D813D7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Para cada oración, decida: ¿puede ser verdadera o falsa? Luego clasifíquela.</a:t>
            </a:r>
            <a:endParaRPr/>
          </a:p>
        </p:txBody>
      </p:sp>
      <p:graphicFrame>
        <p:nvGraphicFramePr>
          <p:cNvPr id="133" name="Google Shape;108;p14"/>
          <p:cNvGraphicFramePr/>
          <p:nvPr/>
        </p:nvGraphicFramePr>
        <p:xfrm>
          <a:off x="771525" y="2354460"/>
          <a:ext cx="10648950" cy="3246400"/>
        </p:xfrm>
        <a:graphic>
          <a:graphicData uri="http://schemas.openxmlformats.org/drawingml/2006/table">
            <a:tbl>
              <a:tblPr firstRow="1" bandRow="1"/>
              <a:tblGrid>
                <a:gridCol w="532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27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 u="none" cap="none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Oración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 u="none" cap="none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Clasificación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 u="none" cap="none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Razón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7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7 es un número primo.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Proposición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Tiene valor de verdad: V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7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¿Qué hora es?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No proposición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Es una pregunta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7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10 &lt; 4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Proposición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Tiene valor de verdad: F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30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Cierre la ventana.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No proposición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Es una orden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9" name="Google Shape;109;p14">
            <a:extLst>
              <a:ext uri="{FF2B5EF4-FFF2-40B4-BE49-F238E27FC236}">
                <a16:creationId xmlns:a16="http://schemas.microsoft.com/office/drawing/2014/main" id="{8F824782-6942-452C-B459-D3A6DF0F2B93}"/>
              </a:ext>
            </a:extLst>
          </p:cNvPr>
          <p:cNvSpPr>
            <a:spLocks noGrp="1"/>
          </p:cNvSpPr>
          <p:nvPr/>
        </p:nvSpPr>
        <p:spPr>
          <a:xfrm>
            <a:off x="771525" y="2859285"/>
            <a:ext cx="532447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Google Shape;110;p14">
            <a:extLst>
              <a:ext uri="{FF2B5EF4-FFF2-40B4-BE49-F238E27FC236}">
                <a16:creationId xmlns:a16="http://schemas.microsoft.com/office/drawing/2014/main" id="{77B4F12E-86B2-464C-ABC4-38C465471168}"/>
              </a:ext>
            </a:extLst>
          </p:cNvPr>
          <p:cNvSpPr>
            <a:spLocks noGrp="1"/>
          </p:cNvSpPr>
          <p:nvPr/>
        </p:nvSpPr>
        <p:spPr>
          <a:xfrm>
            <a:off x="6096000" y="2859285"/>
            <a:ext cx="1597223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14">
            <a:extLst>
              <a:ext uri="{FF2B5EF4-FFF2-40B4-BE49-F238E27FC236}">
                <a16:creationId xmlns:a16="http://schemas.microsoft.com/office/drawing/2014/main" id="{975FCD62-C278-46B5-A2DB-5D3C3FABA556}"/>
              </a:ext>
            </a:extLst>
          </p:cNvPr>
          <p:cNvSpPr>
            <a:spLocks noGrp="1"/>
          </p:cNvSpPr>
          <p:nvPr/>
        </p:nvSpPr>
        <p:spPr>
          <a:xfrm>
            <a:off x="7693223" y="2859285"/>
            <a:ext cx="3727251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14">
            <a:extLst>
              <a:ext uri="{FF2B5EF4-FFF2-40B4-BE49-F238E27FC236}">
                <a16:creationId xmlns:a16="http://schemas.microsoft.com/office/drawing/2014/main" id="{3D8533AB-F5FB-49BA-AB6E-A23A30597E48}"/>
              </a:ext>
            </a:extLst>
          </p:cNvPr>
          <p:cNvSpPr>
            <a:spLocks noGrp="1"/>
          </p:cNvSpPr>
          <p:nvPr/>
        </p:nvSpPr>
        <p:spPr>
          <a:xfrm>
            <a:off x="771525" y="3626048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1DA73A5D-B053-4A31-A88B-072139A07908}"/>
              </a:ext>
            </a:extLst>
          </p:cNvPr>
          <p:cNvSpPr>
            <a:spLocks noGrp="1"/>
          </p:cNvSpPr>
          <p:nvPr/>
        </p:nvSpPr>
        <p:spPr>
          <a:xfrm>
            <a:off x="6096000" y="3626048"/>
            <a:ext cx="1597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Google Shape;114;p14">
            <a:extLst>
              <a:ext uri="{FF2B5EF4-FFF2-40B4-BE49-F238E27FC236}">
                <a16:creationId xmlns:a16="http://schemas.microsoft.com/office/drawing/2014/main" id="{DD8D5A85-2123-4D4A-8F64-66342E11178A}"/>
              </a:ext>
            </a:extLst>
          </p:cNvPr>
          <p:cNvSpPr>
            <a:spLocks noGrp="1"/>
          </p:cNvSpPr>
          <p:nvPr/>
        </p:nvSpPr>
        <p:spPr>
          <a:xfrm>
            <a:off x="7693223" y="3626048"/>
            <a:ext cx="37272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Google Shape;115;p14">
            <a:extLst>
              <a:ext uri="{FF2B5EF4-FFF2-40B4-BE49-F238E27FC236}">
                <a16:creationId xmlns:a16="http://schemas.microsoft.com/office/drawing/2014/main" id="{FAE56E1D-1BC5-4106-8617-D0DEF6859F48}"/>
              </a:ext>
            </a:extLst>
          </p:cNvPr>
          <p:cNvSpPr>
            <a:spLocks noGrp="1"/>
          </p:cNvSpPr>
          <p:nvPr/>
        </p:nvSpPr>
        <p:spPr>
          <a:xfrm>
            <a:off x="771525" y="4378523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Google Shape;116;p14">
            <a:extLst>
              <a:ext uri="{FF2B5EF4-FFF2-40B4-BE49-F238E27FC236}">
                <a16:creationId xmlns:a16="http://schemas.microsoft.com/office/drawing/2014/main" id="{98F83085-1CC2-422F-9036-EAED62765F20}"/>
              </a:ext>
            </a:extLst>
          </p:cNvPr>
          <p:cNvSpPr>
            <a:spLocks noGrp="1"/>
          </p:cNvSpPr>
          <p:nvPr/>
        </p:nvSpPr>
        <p:spPr>
          <a:xfrm>
            <a:off x="6096000" y="4378523"/>
            <a:ext cx="1597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" name="Google Shape;117;p14">
            <a:extLst>
              <a:ext uri="{FF2B5EF4-FFF2-40B4-BE49-F238E27FC236}">
                <a16:creationId xmlns:a16="http://schemas.microsoft.com/office/drawing/2014/main" id="{3D957984-F1A0-4895-A0DC-EBBF3FA9F9B0}"/>
              </a:ext>
            </a:extLst>
          </p:cNvPr>
          <p:cNvSpPr>
            <a:spLocks noGrp="1"/>
          </p:cNvSpPr>
          <p:nvPr/>
        </p:nvSpPr>
        <p:spPr>
          <a:xfrm>
            <a:off x="7693223" y="4378523"/>
            <a:ext cx="37272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Google Shape;118;p14">
            <a:extLst>
              <a:ext uri="{FF2B5EF4-FFF2-40B4-BE49-F238E27FC236}">
                <a16:creationId xmlns:a16="http://schemas.microsoft.com/office/drawing/2014/main" id="{D6F6178A-7B65-4D6B-910D-30D03A4FFA33}"/>
              </a:ext>
            </a:extLst>
          </p:cNvPr>
          <p:cNvSpPr>
            <a:spLocks noGrp="1"/>
          </p:cNvSpPr>
          <p:nvPr/>
        </p:nvSpPr>
        <p:spPr>
          <a:xfrm>
            <a:off x="771525" y="4930973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Google Shape;119;p14">
            <a:extLst>
              <a:ext uri="{FF2B5EF4-FFF2-40B4-BE49-F238E27FC236}">
                <a16:creationId xmlns:a16="http://schemas.microsoft.com/office/drawing/2014/main" id="{CB78D924-56B3-454B-BBCF-00FCD58772DE}"/>
              </a:ext>
            </a:extLst>
          </p:cNvPr>
          <p:cNvSpPr>
            <a:spLocks noGrp="1"/>
          </p:cNvSpPr>
          <p:nvPr/>
        </p:nvSpPr>
        <p:spPr>
          <a:xfrm>
            <a:off x="6096000" y="4930973"/>
            <a:ext cx="1597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0" name="Google Shape;120;p14">
            <a:extLst>
              <a:ext uri="{FF2B5EF4-FFF2-40B4-BE49-F238E27FC236}">
                <a16:creationId xmlns:a16="http://schemas.microsoft.com/office/drawing/2014/main" id="{F5D463FB-78DF-4401-BC2A-FEC14694A991}"/>
              </a:ext>
            </a:extLst>
          </p:cNvPr>
          <p:cNvSpPr>
            <a:spLocks noGrp="1"/>
          </p:cNvSpPr>
          <p:nvPr/>
        </p:nvSpPr>
        <p:spPr>
          <a:xfrm>
            <a:off x="7693223" y="4930973"/>
            <a:ext cx="37272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1" name="Google Shape;121;p14">
            <a:extLst>
              <a:ext uri="{FF2B5EF4-FFF2-40B4-BE49-F238E27FC236}">
                <a16:creationId xmlns:a16="http://schemas.microsoft.com/office/drawing/2014/main" id="{F910A9F5-E8C8-4559-B2D8-FFB21A858BB9}"/>
              </a:ext>
            </a:extLst>
          </p:cNvPr>
          <p:cNvSpPr>
            <a:spLocks noGrp="1"/>
          </p:cNvSpPr>
          <p:nvPr/>
        </p:nvSpPr>
        <p:spPr>
          <a:xfrm>
            <a:off x="771525" y="5683448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2" name="Google Shape;122;p14">
            <a:extLst>
              <a:ext uri="{FF2B5EF4-FFF2-40B4-BE49-F238E27FC236}">
                <a16:creationId xmlns:a16="http://schemas.microsoft.com/office/drawing/2014/main" id="{C2307F28-1A49-4B0C-915E-B70C5A43AA93}"/>
              </a:ext>
            </a:extLst>
          </p:cNvPr>
          <p:cNvSpPr>
            <a:spLocks noGrp="1"/>
          </p:cNvSpPr>
          <p:nvPr/>
        </p:nvSpPr>
        <p:spPr>
          <a:xfrm>
            <a:off x="6096000" y="5683448"/>
            <a:ext cx="1597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3" name="Google Shape;123;p14">
            <a:extLst>
              <a:ext uri="{FF2B5EF4-FFF2-40B4-BE49-F238E27FC236}">
                <a16:creationId xmlns:a16="http://schemas.microsoft.com/office/drawing/2014/main" id="{AFBD4F46-290C-47C3-9481-431584F78914}"/>
              </a:ext>
            </a:extLst>
          </p:cNvPr>
          <p:cNvSpPr>
            <a:spLocks noGrp="1"/>
          </p:cNvSpPr>
          <p:nvPr/>
        </p:nvSpPr>
        <p:spPr>
          <a:xfrm>
            <a:off x="7693223" y="5683448"/>
            <a:ext cx="37272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4" name="Google Shape;124;p14">
            <a:extLst>
              <a:ext uri="{FF2B5EF4-FFF2-40B4-BE49-F238E27FC236}">
                <a16:creationId xmlns:a16="http://schemas.microsoft.com/office/drawing/2014/main" id="{45609284-D7F4-47FC-8A40-9874A5BE2C09}"/>
              </a:ext>
            </a:extLst>
          </p:cNvPr>
          <p:cNvSpPr>
            <a:spLocks noGrp="1"/>
          </p:cNvSpPr>
          <p:nvPr/>
        </p:nvSpPr>
        <p:spPr>
          <a:xfrm>
            <a:off x="771525" y="6235898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5" name="Google Shape;125;p14">
            <a:extLst>
              <a:ext uri="{FF2B5EF4-FFF2-40B4-BE49-F238E27FC236}">
                <a16:creationId xmlns:a16="http://schemas.microsoft.com/office/drawing/2014/main" id="{59D2597A-824B-463C-BBFA-F2930A8575EA}"/>
              </a:ext>
            </a:extLst>
          </p:cNvPr>
          <p:cNvSpPr>
            <a:spLocks noGrp="1"/>
          </p:cNvSpPr>
          <p:nvPr/>
        </p:nvSpPr>
        <p:spPr>
          <a:xfrm>
            <a:off x="6096000" y="6235898"/>
            <a:ext cx="1597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6" name="Google Shape;126;p14">
            <a:extLst>
              <a:ext uri="{FF2B5EF4-FFF2-40B4-BE49-F238E27FC236}">
                <a16:creationId xmlns:a16="http://schemas.microsoft.com/office/drawing/2014/main" id="{B7CFB646-8D96-4EFB-917E-328D76A3BB5A}"/>
              </a:ext>
            </a:extLst>
          </p:cNvPr>
          <p:cNvSpPr>
            <a:spLocks noGrp="1"/>
          </p:cNvSpPr>
          <p:nvPr/>
        </p:nvSpPr>
        <p:spPr>
          <a:xfrm>
            <a:off x="7693223" y="6235898"/>
            <a:ext cx="37272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2493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36;p1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pic>
        <p:nvPicPr>
          <p:cNvPr id="167" name="Google Shape;137;p15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" y="3274468"/>
            <a:ext cx="5038725" cy="1910357"/>
          </a:xfrm>
          <a:prstGeom prst="rect">
            <a:avLst/>
          </a:prstGeom>
          <a:ln>
            <a:noFill/>
          </a:ln>
        </p:spPr>
      </p:pic>
      <p:sp>
        <p:nvSpPr>
          <p:cNvPr id="138" name="Google Shape;138;p15">
            <a:extLst>
              <a:ext uri="{FF2B5EF4-FFF2-40B4-BE49-F238E27FC236}">
                <a16:creationId xmlns:a16="http://schemas.microsoft.com/office/drawing/2014/main" id="{84EC9F33-65EA-40C3-B496-C9753093EE2D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Cinco formas de combinar proposiciones</a:t>
            </a:r>
            <a:endParaRPr/>
          </a:p>
        </p:txBody>
      </p:sp>
      <p:sp>
        <p:nvSpPr>
          <p:cNvPr id="139" name="Google Shape;139;p15">
            <a:extLst>
              <a:ext uri="{FF2B5EF4-FFF2-40B4-BE49-F238E27FC236}">
                <a16:creationId xmlns:a16="http://schemas.microsoft.com/office/drawing/2014/main" id="{BB8885C1-66F4-4860-9C9C-D5323189C55C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" name="Google Shape;140;p15">
            <a:extLst>
              <a:ext uri="{FF2B5EF4-FFF2-40B4-BE49-F238E27FC236}">
                <a16:creationId xmlns:a16="http://schemas.microsoft.com/office/drawing/2014/main" id="{5E47D55F-9E2B-4C0C-8C8B-C674C7534BB7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5038725" cy="120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Una conectiva cambia o relaciona proposiciones. Primero aprenda cómo se lee; después estudiaremos su tabla.</a:t>
            </a:r>
            <a:endParaRPr/>
          </a:p>
        </p:txBody>
      </p:sp>
      <p:graphicFrame>
        <p:nvGraphicFramePr>
          <p:cNvPr id="171" name="Google Shape;141;p15"/>
          <p:cNvGraphicFramePr/>
          <p:nvPr/>
        </p:nvGraphicFramePr>
        <p:xfrm>
          <a:off x="6381750" y="1743075"/>
          <a:ext cx="5038725" cy="3790950"/>
        </p:xfrm>
        <a:graphic>
          <a:graphicData uri="http://schemas.openxmlformats.org/drawingml/2006/table">
            <a:tbl>
              <a:tblPr firstRow="1" bandRow="1"/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18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 u="none" cap="none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Conectiva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 u="none" cap="none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Símbolo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 u="none" cap="none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Se lee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Negación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i="0" u="none" cap="none">
                          <a:solidFill>
                            <a:srgbClr val="2563EB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¬p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no p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Conjunción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i="0" u="none" cap="none">
                          <a:solidFill>
                            <a:srgbClr val="2563EB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 ∧ q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p y q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Disyunción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i="0" u="none" cap="none">
                          <a:solidFill>
                            <a:srgbClr val="2563EB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 ∨ q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p o q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Condicional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i="0" u="none" cap="none">
                          <a:solidFill>
                            <a:srgbClr val="2563EB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 → q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si p, entonces q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Bicondicional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i="0" u="none" cap="none">
                          <a:solidFill>
                            <a:srgbClr val="2563EB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 ↔ q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p si y solo si q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2" name="Google Shape;142;p15">
            <a:extLst>
              <a:ext uri="{FF2B5EF4-FFF2-40B4-BE49-F238E27FC236}">
                <a16:creationId xmlns:a16="http://schemas.microsoft.com/office/drawing/2014/main" id="{9ADAD94E-B391-48F5-BEB2-A4ECF47D9582}"/>
              </a:ext>
            </a:extLst>
          </p:cNvPr>
          <p:cNvSpPr>
            <a:spLocks noGrp="1"/>
          </p:cNvSpPr>
          <p:nvPr/>
        </p:nvSpPr>
        <p:spPr>
          <a:xfrm>
            <a:off x="933450" y="3417248"/>
            <a:ext cx="451485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 u="non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Proposiciones</a:t>
            </a:r>
            <a:r>
              <a:rPr sz="1650" b="1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 de </a:t>
            </a:r>
            <a:r>
              <a:rPr sz="1650" b="1" i="0" u="non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</a:rPr>
              <a:t>ejemplo</a:t>
            </a:r>
            <a:endParaRPr dirty="0"/>
          </a:p>
        </p:txBody>
      </p:sp>
      <p:sp>
        <p:nvSpPr>
          <p:cNvPr id="143" name="Google Shape;143;p15">
            <a:extLst>
              <a:ext uri="{FF2B5EF4-FFF2-40B4-BE49-F238E27FC236}">
                <a16:creationId xmlns:a16="http://schemas.microsoft.com/office/drawing/2014/main" id="{6CF6478A-2D19-4D4C-AF27-51AB605A4C57}"/>
              </a:ext>
            </a:extLst>
          </p:cNvPr>
          <p:cNvSpPr>
            <a:spLocks noGrp="1"/>
          </p:cNvSpPr>
          <p:nvPr/>
        </p:nvSpPr>
        <p:spPr>
          <a:xfrm>
            <a:off x="933450" y="3895284"/>
            <a:ext cx="451485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p: «Estudio para el examen»</a:t>
            </a:r>
            <a:endParaRPr/>
          </a:p>
        </p:txBody>
      </p:sp>
      <p:sp>
        <p:nvSpPr>
          <p:cNvPr id="144" name="Google Shape;144;p15">
            <a:extLst>
              <a:ext uri="{FF2B5EF4-FFF2-40B4-BE49-F238E27FC236}">
                <a16:creationId xmlns:a16="http://schemas.microsoft.com/office/drawing/2014/main" id="{52E399A4-D7B0-43EB-A76D-31CF8337C6E1}"/>
              </a:ext>
            </a:extLst>
          </p:cNvPr>
          <p:cNvSpPr>
            <a:spLocks noGrp="1"/>
          </p:cNvSpPr>
          <p:nvPr/>
        </p:nvSpPr>
        <p:spPr>
          <a:xfrm>
            <a:off x="933450" y="4373320"/>
            <a:ext cx="451485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q: «Apruebo el examen»</a:t>
            </a:r>
            <a:endParaRPr/>
          </a:p>
        </p:txBody>
      </p:sp>
      <p:sp>
        <p:nvSpPr>
          <p:cNvPr id="145" name="Google Shape;145;p15">
            <a:extLst>
              <a:ext uri="{FF2B5EF4-FFF2-40B4-BE49-F238E27FC236}">
                <a16:creationId xmlns:a16="http://schemas.microsoft.com/office/drawing/2014/main" id="{4AC4481D-2977-4B41-A2A2-C4A293A9CEE1}"/>
              </a:ext>
            </a:extLst>
          </p:cNvPr>
          <p:cNvSpPr>
            <a:spLocks noGrp="1"/>
          </p:cNvSpPr>
          <p:nvPr/>
        </p:nvSpPr>
        <p:spPr>
          <a:xfrm>
            <a:off x="6381750" y="2381250"/>
            <a:ext cx="14097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6" name="Google Shape;146;p15">
            <a:extLst>
              <a:ext uri="{FF2B5EF4-FFF2-40B4-BE49-F238E27FC236}">
                <a16:creationId xmlns:a16="http://schemas.microsoft.com/office/drawing/2014/main" id="{CE42B719-C0FE-4DF4-8A16-2D72DCA18889}"/>
              </a:ext>
            </a:extLst>
          </p:cNvPr>
          <p:cNvSpPr>
            <a:spLocks noGrp="1"/>
          </p:cNvSpPr>
          <p:nvPr/>
        </p:nvSpPr>
        <p:spPr>
          <a:xfrm>
            <a:off x="7791450" y="2381250"/>
            <a:ext cx="120015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7" name="Google Shape;147;p15">
            <a:extLst>
              <a:ext uri="{FF2B5EF4-FFF2-40B4-BE49-F238E27FC236}">
                <a16:creationId xmlns:a16="http://schemas.microsoft.com/office/drawing/2014/main" id="{051704E8-557D-4B52-9573-6041FEBC4AC0}"/>
              </a:ext>
            </a:extLst>
          </p:cNvPr>
          <p:cNvSpPr>
            <a:spLocks noGrp="1"/>
          </p:cNvSpPr>
          <p:nvPr/>
        </p:nvSpPr>
        <p:spPr>
          <a:xfrm>
            <a:off x="8991600" y="2381250"/>
            <a:ext cx="242887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8" name="Google Shape;148;p15">
            <a:extLst>
              <a:ext uri="{FF2B5EF4-FFF2-40B4-BE49-F238E27FC236}">
                <a16:creationId xmlns:a16="http://schemas.microsoft.com/office/drawing/2014/main" id="{523580FB-0813-4E21-8D2E-C9223E1E7439}"/>
              </a:ext>
            </a:extLst>
          </p:cNvPr>
          <p:cNvSpPr>
            <a:spLocks noGrp="1"/>
          </p:cNvSpPr>
          <p:nvPr/>
        </p:nvSpPr>
        <p:spPr>
          <a:xfrm>
            <a:off x="6381750" y="2947987"/>
            <a:ext cx="1409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9" name="Google Shape;149;p15">
            <a:extLst>
              <a:ext uri="{FF2B5EF4-FFF2-40B4-BE49-F238E27FC236}">
                <a16:creationId xmlns:a16="http://schemas.microsoft.com/office/drawing/2014/main" id="{AD54064D-3A2D-49A6-8091-7EBF70FB0CC2}"/>
              </a:ext>
            </a:extLst>
          </p:cNvPr>
          <p:cNvSpPr>
            <a:spLocks noGrp="1"/>
          </p:cNvSpPr>
          <p:nvPr/>
        </p:nvSpPr>
        <p:spPr>
          <a:xfrm>
            <a:off x="7791450" y="2947987"/>
            <a:ext cx="1200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0" name="Google Shape;150;p15">
            <a:extLst>
              <a:ext uri="{FF2B5EF4-FFF2-40B4-BE49-F238E27FC236}">
                <a16:creationId xmlns:a16="http://schemas.microsoft.com/office/drawing/2014/main" id="{7F861F8C-F46D-48FC-9690-89C90B6CCB50}"/>
              </a:ext>
            </a:extLst>
          </p:cNvPr>
          <p:cNvSpPr>
            <a:spLocks noGrp="1"/>
          </p:cNvSpPr>
          <p:nvPr/>
        </p:nvSpPr>
        <p:spPr>
          <a:xfrm>
            <a:off x="8991600" y="2947987"/>
            <a:ext cx="2428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1" name="Google Shape;151;p15">
            <a:extLst>
              <a:ext uri="{FF2B5EF4-FFF2-40B4-BE49-F238E27FC236}">
                <a16:creationId xmlns:a16="http://schemas.microsoft.com/office/drawing/2014/main" id="{09CEF9C7-0DC7-4CD1-9D88-7AD6ECA2A0AC}"/>
              </a:ext>
            </a:extLst>
          </p:cNvPr>
          <p:cNvSpPr>
            <a:spLocks noGrp="1"/>
          </p:cNvSpPr>
          <p:nvPr/>
        </p:nvSpPr>
        <p:spPr>
          <a:xfrm>
            <a:off x="6381750" y="3548062"/>
            <a:ext cx="1409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2" name="Google Shape;152;p15">
            <a:extLst>
              <a:ext uri="{FF2B5EF4-FFF2-40B4-BE49-F238E27FC236}">
                <a16:creationId xmlns:a16="http://schemas.microsoft.com/office/drawing/2014/main" id="{87EC3CC7-D260-46EF-B290-6FB144643619}"/>
              </a:ext>
            </a:extLst>
          </p:cNvPr>
          <p:cNvSpPr>
            <a:spLocks noGrp="1"/>
          </p:cNvSpPr>
          <p:nvPr/>
        </p:nvSpPr>
        <p:spPr>
          <a:xfrm>
            <a:off x="7791450" y="3548062"/>
            <a:ext cx="1200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3" name="Google Shape;153;p15">
            <a:extLst>
              <a:ext uri="{FF2B5EF4-FFF2-40B4-BE49-F238E27FC236}">
                <a16:creationId xmlns:a16="http://schemas.microsoft.com/office/drawing/2014/main" id="{78FA739C-C0BC-4DE6-9945-245AB8300478}"/>
              </a:ext>
            </a:extLst>
          </p:cNvPr>
          <p:cNvSpPr>
            <a:spLocks noGrp="1"/>
          </p:cNvSpPr>
          <p:nvPr/>
        </p:nvSpPr>
        <p:spPr>
          <a:xfrm>
            <a:off x="8991600" y="3548062"/>
            <a:ext cx="2428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4" name="Google Shape;154;p15">
            <a:extLst>
              <a:ext uri="{FF2B5EF4-FFF2-40B4-BE49-F238E27FC236}">
                <a16:creationId xmlns:a16="http://schemas.microsoft.com/office/drawing/2014/main" id="{3B3948A6-C1B6-492A-B09E-BE00CA8A3BA6}"/>
              </a:ext>
            </a:extLst>
          </p:cNvPr>
          <p:cNvSpPr>
            <a:spLocks noGrp="1"/>
          </p:cNvSpPr>
          <p:nvPr/>
        </p:nvSpPr>
        <p:spPr>
          <a:xfrm>
            <a:off x="6381750" y="4148137"/>
            <a:ext cx="1409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5" name="Google Shape;155;p15">
            <a:extLst>
              <a:ext uri="{FF2B5EF4-FFF2-40B4-BE49-F238E27FC236}">
                <a16:creationId xmlns:a16="http://schemas.microsoft.com/office/drawing/2014/main" id="{F4E20024-6EA7-43A4-94AA-76CC98B730BF}"/>
              </a:ext>
            </a:extLst>
          </p:cNvPr>
          <p:cNvSpPr>
            <a:spLocks noGrp="1"/>
          </p:cNvSpPr>
          <p:nvPr/>
        </p:nvSpPr>
        <p:spPr>
          <a:xfrm>
            <a:off x="7791450" y="4148137"/>
            <a:ext cx="1200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6" name="Google Shape;156;p15">
            <a:extLst>
              <a:ext uri="{FF2B5EF4-FFF2-40B4-BE49-F238E27FC236}">
                <a16:creationId xmlns:a16="http://schemas.microsoft.com/office/drawing/2014/main" id="{B37FFDF0-699C-43BB-B0CD-156A78EB8463}"/>
              </a:ext>
            </a:extLst>
          </p:cNvPr>
          <p:cNvSpPr>
            <a:spLocks noGrp="1"/>
          </p:cNvSpPr>
          <p:nvPr/>
        </p:nvSpPr>
        <p:spPr>
          <a:xfrm>
            <a:off x="8991600" y="4148137"/>
            <a:ext cx="2428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7" name="Google Shape;157;p15">
            <a:extLst>
              <a:ext uri="{FF2B5EF4-FFF2-40B4-BE49-F238E27FC236}">
                <a16:creationId xmlns:a16="http://schemas.microsoft.com/office/drawing/2014/main" id="{60E7041E-376D-46C4-A57F-CA1836BCF785}"/>
              </a:ext>
            </a:extLst>
          </p:cNvPr>
          <p:cNvSpPr>
            <a:spLocks noGrp="1"/>
          </p:cNvSpPr>
          <p:nvPr/>
        </p:nvSpPr>
        <p:spPr>
          <a:xfrm>
            <a:off x="6381750" y="4900612"/>
            <a:ext cx="1409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8" name="Google Shape;158;p15">
            <a:extLst>
              <a:ext uri="{FF2B5EF4-FFF2-40B4-BE49-F238E27FC236}">
                <a16:creationId xmlns:a16="http://schemas.microsoft.com/office/drawing/2014/main" id="{AF6185A0-6949-4F48-8DA8-30A90AF77249}"/>
              </a:ext>
            </a:extLst>
          </p:cNvPr>
          <p:cNvSpPr>
            <a:spLocks noGrp="1"/>
          </p:cNvSpPr>
          <p:nvPr/>
        </p:nvSpPr>
        <p:spPr>
          <a:xfrm>
            <a:off x="7791450" y="4900612"/>
            <a:ext cx="1200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9" name="Google Shape;159;p15">
            <a:extLst>
              <a:ext uri="{FF2B5EF4-FFF2-40B4-BE49-F238E27FC236}">
                <a16:creationId xmlns:a16="http://schemas.microsoft.com/office/drawing/2014/main" id="{2A6C9DC2-EC2F-4ACE-B6BC-5D9E0F564808}"/>
              </a:ext>
            </a:extLst>
          </p:cNvPr>
          <p:cNvSpPr>
            <a:spLocks noGrp="1"/>
          </p:cNvSpPr>
          <p:nvPr/>
        </p:nvSpPr>
        <p:spPr>
          <a:xfrm>
            <a:off x="8991600" y="4900612"/>
            <a:ext cx="2428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0" name="Google Shape;160;p15">
            <a:extLst>
              <a:ext uri="{FF2B5EF4-FFF2-40B4-BE49-F238E27FC236}">
                <a16:creationId xmlns:a16="http://schemas.microsoft.com/office/drawing/2014/main" id="{BB729207-7EBB-4042-ABC2-7814C35DE655}"/>
              </a:ext>
            </a:extLst>
          </p:cNvPr>
          <p:cNvSpPr>
            <a:spLocks noGrp="1"/>
          </p:cNvSpPr>
          <p:nvPr/>
        </p:nvSpPr>
        <p:spPr>
          <a:xfrm>
            <a:off x="6381750" y="5653087"/>
            <a:ext cx="1409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1" name="Google Shape;161;p15">
            <a:extLst>
              <a:ext uri="{FF2B5EF4-FFF2-40B4-BE49-F238E27FC236}">
                <a16:creationId xmlns:a16="http://schemas.microsoft.com/office/drawing/2014/main" id="{EE7C5A5D-7A76-4AFC-ADB2-33EA681E1CDA}"/>
              </a:ext>
            </a:extLst>
          </p:cNvPr>
          <p:cNvSpPr>
            <a:spLocks noGrp="1"/>
          </p:cNvSpPr>
          <p:nvPr/>
        </p:nvSpPr>
        <p:spPr>
          <a:xfrm>
            <a:off x="7791450" y="5653087"/>
            <a:ext cx="1200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2" name="Google Shape;162;p15">
            <a:extLst>
              <a:ext uri="{FF2B5EF4-FFF2-40B4-BE49-F238E27FC236}">
                <a16:creationId xmlns:a16="http://schemas.microsoft.com/office/drawing/2014/main" id="{B8F26703-7CBA-4815-8FF0-F2E1C0CC69DE}"/>
              </a:ext>
            </a:extLst>
          </p:cNvPr>
          <p:cNvSpPr>
            <a:spLocks noGrp="1"/>
          </p:cNvSpPr>
          <p:nvPr/>
        </p:nvSpPr>
        <p:spPr>
          <a:xfrm>
            <a:off x="8991600" y="5653087"/>
            <a:ext cx="2428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1451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455CAA04-588A-45C9-A6C1-3C404E7E950A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Negación: cambiar el valor de verdad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C7518FF5-5D49-4DD4-B211-80EA88F149A5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0C079181-8768-4865-917E-763898E89546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La negación de p se escribe ¬p y se lee «no p». Si p es verdadera, ¬p es falsa; y viceversa.</a:t>
            </a:r>
            <a:endParaRPr/>
          </a:p>
        </p:txBody>
      </p:sp>
      <p:graphicFrame>
        <p:nvGraphicFramePr>
          <p:cNvPr id="118" name="Google Shape;108;p14"/>
          <p:cNvGraphicFramePr/>
          <p:nvPr/>
        </p:nvGraphicFramePr>
        <p:xfrm>
          <a:off x="768096" y="2468880"/>
          <a:ext cx="4572000" cy="265176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al negar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¬p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→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→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0C278217-0830-4670-B8F5-F9E51913E77E}"/>
              </a:ext>
            </a:extLst>
          </p:cNvPr>
          <p:cNvSpPr>
            <a:spLocks noGrp="1"/>
          </p:cNvSpPr>
          <p:nvPr/>
        </p:nvSpPr>
        <p:spPr>
          <a:xfrm>
            <a:off x="5943600" y="2651760"/>
            <a:ext cx="5394960" cy="102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p: «Hoy es lunes»</a:t>
            </a:r>
            <a:endParaRPr/>
          </a:p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¬p: «Hoy no es lunes»</a:t>
            </a:r>
            <a:endParaRPr/>
          </a:p>
        </p:txBody>
      </p:sp>
      <p:sp>
        <p:nvSpPr>
          <p:cNvPr id="111" name="Google Shape;107;p14">
            <a:extLst>
              <a:ext uri="{FF2B5EF4-FFF2-40B4-BE49-F238E27FC236}">
                <a16:creationId xmlns:a16="http://schemas.microsoft.com/office/drawing/2014/main" id="{37C10D9F-362D-4037-8BF3-FB8823DC7F3A}"/>
              </a:ext>
            </a:extLst>
          </p:cNvPr>
          <p:cNvSpPr>
            <a:spLocks noGrp="1"/>
          </p:cNvSpPr>
          <p:nvPr/>
        </p:nvSpPr>
        <p:spPr>
          <a:xfrm>
            <a:off x="5943600" y="3657600"/>
            <a:ext cx="5394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Idea clave: negar no significa decir lo contrario de forma imprecisa; significa afirmar que p no ocurre.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8723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614AFF50-40D9-446C-8258-B8ADD58B2C47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 dirty="0" err="1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Práctica</a:t>
            </a:r>
            <a:r>
              <a:rPr sz="3600" b="1" i="0" u="none" cap="none" dirty="0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: </a:t>
            </a:r>
            <a:r>
              <a:rPr sz="3600" b="1" i="0" u="none" cap="none" dirty="0" err="1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niegue</a:t>
            </a:r>
            <a:r>
              <a:rPr sz="3600" b="1" i="0" u="none" cap="none" dirty="0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3600" b="1" i="0" u="none" cap="none" dirty="0" err="1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cada</a:t>
            </a:r>
            <a:r>
              <a:rPr sz="3600" b="1" i="0" u="none" cap="none" dirty="0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3600" b="1" i="0" u="none" cap="none" dirty="0" err="1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proposición</a:t>
            </a:r>
            <a:endParaRPr dirty="0"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07159C6B-B960-44FE-9434-3ECA124D89FD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1A066240-81EC-43FB-9B37-20A7763716A5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Escriba una negación clara. No determine aún si la proposición es verdadera o falsa.</a:t>
            </a:r>
            <a:endParaRPr/>
          </a:p>
        </p:txBody>
      </p:sp>
      <p:sp>
        <p:nvSpPr>
          <p:cNvPr id="109" name="Google Shape;107;p14">
            <a:extLst>
              <a:ext uri="{FF2B5EF4-FFF2-40B4-BE49-F238E27FC236}">
                <a16:creationId xmlns:a16="http://schemas.microsoft.com/office/drawing/2014/main" id="{2DE89B67-1590-4A8C-8333-A7483F1A98A2}"/>
              </a:ext>
            </a:extLst>
          </p:cNvPr>
          <p:cNvSpPr>
            <a:spLocks noGrp="1"/>
          </p:cNvSpPr>
          <p:nvPr/>
        </p:nvSpPr>
        <p:spPr>
          <a:xfrm>
            <a:off x="768096" y="2560320"/>
            <a:ext cx="475488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2200"/>
              </a:spcAft>
              <a:buNone/>
            </a:pPr>
            <a:r>
              <a:rPr sz="19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1.   Hoy llueve.</a:t>
            </a:r>
          </a:p>
          <a:p>
            <a:pPr>
              <a:spcAft>
                <a:spcPts val="2200"/>
              </a:spcAft>
              <a:buNone/>
            </a:pPr>
            <a:endParaRPr sz="1900" b="0" i="0" u="none" cap="none">
              <a:solidFill>
                <a:srgbClr val="475569"/>
              </a:solidFill>
              <a:latin typeface="Roboto"/>
              <a:ea typeface="Roboto"/>
              <a:cs typeface="Roboto"/>
            </a:endParaRPr>
          </a:p>
          <a:p>
            <a:pPr>
              <a:spcAft>
                <a:spcPts val="2200"/>
              </a:spcAft>
              <a:buNone/>
            </a:pPr>
            <a:r>
              <a:rPr sz="19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2.   8 es un número par.</a:t>
            </a:r>
          </a:p>
        </p:txBody>
      </p:sp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2C0BCA40-ED95-4892-99AF-52156BF04962}"/>
              </a:ext>
            </a:extLst>
          </p:cNvPr>
          <p:cNvSpPr>
            <a:spLocks noGrp="1"/>
          </p:cNvSpPr>
          <p:nvPr/>
        </p:nvSpPr>
        <p:spPr>
          <a:xfrm>
            <a:off x="6126480" y="2560320"/>
            <a:ext cx="475488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2200"/>
              </a:spcAft>
              <a:buNone/>
            </a:pPr>
            <a:r>
              <a:rPr sz="19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3.   Ana estudia matemáticas.</a:t>
            </a:r>
          </a:p>
          <a:p>
            <a:pPr>
              <a:spcAft>
                <a:spcPts val="2200"/>
              </a:spcAft>
              <a:buNone/>
            </a:pPr>
            <a:endParaRPr sz="1900" b="0" i="0" u="none" cap="none">
              <a:solidFill>
                <a:srgbClr val="475569"/>
              </a:solidFill>
              <a:latin typeface="Roboto"/>
              <a:ea typeface="Roboto"/>
              <a:cs typeface="Roboto"/>
            </a:endParaRPr>
          </a:p>
          <a:p>
            <a:pPr>
              <a:spcAft>
                <a:spcPts val="2200"/>
              </a:spcAft>
              <a:buNone/>
            </a:pPr>
            <a:r>
              <a:rPr sz="19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4.   La puerta está abierta.</a:t>
            </a:r>
          </a:p>
        </p:txBody>
      </p:sp>
    </p:spTree>
    <p:extLst>
      <p:ext uri="{BB962C8B-B14F-4D97-AF65-F5344CB8AC3E}">
        <p14:creationId xmlns:p14="http://schemas.microsoft.com/office/powerpoint/2010/main" val="125935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455CAA04-588A-45C9-A6C1-3C404E7E950A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Conjunción: ambas deben cumplirse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C7518FF5-5D49-4DD4-B211-80EA88F149A5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0C079181-8768-4865-917E-763898E89546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La conjunción p ∧ q se lee «p y q». Solo es verdadera cuando p y q son verdaderas.</a:t>
            </a:r>
            <a:endParaRPr/>
          </a:p>
        </p:txBody>
      </p:sp>
      <p:graphicFrame>
        <p:nvGraphicFramePr>
          <p:cNvPr id="118" name="Google Shape;108;p14"/>
          <p:cNvGraphicFramePr/>
          <p:nvPr/>
        </p:nvGraphicFramePr>
        <p:xfrm>
          <a:off x="768096" y="2468880"/>
          <a:ext cx="4572000" cy="265176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q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 ∧ q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0C278217-0830-4670-B8F5-F9E51913E77E}"/>
              </a:ext>
            </a:extLst>
          </p:cNvPr>
          <p:cNvSpPr>
            <a:spLocks noGrp="1"/>
          </p:cNvSpPr>
          <p:nvPr/>
        </p:nvSpPr>
        <p:spPr>
          <a:xfrm>
            <a:off x="5943600" y="2651760"/>
            <a:ext cx="5394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p: «Traigo el cuaderno»</a:t>
            </a:r>
            <a:endParaRPr/>
          </a:p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q: «Traigo un lápiz»</a:t>
            </a:r>
            <a:endParaRPr/>
          </a:p>
        </p:txBody>
      </p:sp>
      <p:sp>
        <p:nvSpPr>
          <p:cNvPr id="111" name="Google Shape;107;p14">
            <a:extLst>
              <a:ext uri="{FF2B5EF4-FFF2-40B4-BE49-F238E27FC236}">
                <a16:creationId xmlns:a16="http://schemas.microsoft.com/office/drawing/2014/main" id="{37C10D9F-362D-4037-8BF3-FB8823DC7F3A}"/>
              </a:ext>
            </a:extLst>
          </p:cNvPr>
          <p:cNvSpPr>
            <a:spLocks noGrp="1"/>
          </p:cNvSpPr>
          <p:nvPr/>
        </p:nvSpPr>
        <p:spPr>
          <a:xfrm>
            <a:off x="5943600" y="3657600"/>
            <a:ext cx="5394960" cy="102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 ∧ q: «Traigo el cuaderno y traigo un lápiz».</a:t>
            </a:r>
            <a:endParaRPr/>
          </a:p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Pregunta: ¿qué pasa si falta uno de los dos?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8723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455CAA04-588A-45C9-A6C1-3C404E7E950A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Disyunción: basta una proposición verdadera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C7518FF5-5D49-4DD4-B211-80EA88F149A5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0C079181-8768-4865-917E-763898E89546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La disyunción p ∨ q se lee «p o q». Es verdadera cuando al menos una proposición es verdadera.</a:t>
            </a:r>
            <a:endParaRPr/>
          </a:p>
        </p:txBody>
      </p:sp>
      <p:graphicFrame>
        <p:nvGraphicFramePr>
          <p:cNvPr id="118" name="Google Shape;108;p14"/>
          <p:cNvGraphicFramePr/>
          <p:nvPr/>
        </p:nvGraphicFramePr>
        <p:xfrm>
          <a:off x="768096" y="2468880"/>
          <a:ext cx="4572000" cy="265176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q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 ∨ q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0C278217-0830-4670-B8F5-F9E51913E77E}"/>
              </a:ext>
            </a:extLst>
          </p:cNvPr>
          <p:cNvSpPr>
            <a:spLocks noGrp="1"/>
          </p:cNvSpPr>
          <p:nvPr/>
        </p:nvSpPr>
        <p:spPr>
          <a:xfrm>
            <a:off x="5943600" y="2651760"/>
            <a:ext cx="5394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p: «Leo un libro»</a:t>
            </a:r>
            <a:endParaRPr/>
          </a:p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q: «Escucho música»</a:t>
            </a:r>
            <a:endParaRPr/>
          </a:p>
        </p:txBody>
      </p:sp>
      <p:sp>
        <p:nvSpPr>
          <p:cNvPr id="111" name="Google Shape;107;p14">
            <a:extLst>
              <a:ext uri="{FF2B5EF4-FFF2-40B4-BE49-F238E27FC236}">
                <a16:creationId xmlns:a16="http://schemas.microsoft.com/office/drawing/2014/main" id="{37C10D9F-362D-4037-8BF3-FB8823DC7F3A}"/>
              </a:ext>
            </a:extLst>
          </p:cNvPr>
          <p:cNvSpPr>
            <a:spLocks noGrp="1"/>
          </p:cNvSpPr>
          <p:nvPr/>
        </p:nvSpPr>
        <p:spPr>
          <a:xfrm>
            <a:off x="5943600" y="3657600"/>
            <a:ext cx="5394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En lógica, la «o» es inclusiva: p ∨ q también es verdadera cuando ocurren ambas.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8723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455CAA04-588A-45C9-A6C1-3C404E7E950A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Condicional: si ocurre p, debe ocurrir q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C7518FF5-5D49-4DD4-B211-80EA88F149A5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0C079181-8768-4865-917E-763898E89546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El condicional p → q se lee «si p, entonces q». Solo es falso cuando p es verdadera y q es falsa.</a:t>
            </a:r>
            <a:endParaRPr/>
          </a:p>
        </p:txBody>
      </p:sp>
      <p:graphicFrame>
        <p:nvGraphicFramePr>
          <p:cNvPr id="118" name="Google Shape;108;p14"/>
          <p:cNvGraphicFramePr/>
          <p:nvPr/>
        </p:nvGraphicFramePr>
        <p:xfrm>
          <a:off x="768096" y="2468880"/>
          <a:ext cx="4572000" cy="265176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q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 → q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0C278217-0830-4670-B8F5-F9E51913E77E}"/>
              </a:ext>
            </a:extLst>
          </p:cNvPr>
          <p:cNvSpPr>
            <a:spLocks noGrp="1"/>
          </p:cNvSpPr>
          <p:nvPr/>
        </p:nvSpPr>
        <p:spPr>
          <a:xfrm>
            <a:off x="5943600" y="2651760"/>
            <a:ext cx="5394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p: «Estudio»</a:t>
            </a:r>
            <a:endParaRPr/>
          </a:p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q: «Presento el examen»</a:t>
            </a:r>
            <a:endParaRPr/>
          </a:p>
        </p:txBody>
      </p:sp>
      <p:sp>
        <p:nvSpPr>
          <p:cNvPr id="111" name="Google Shape;107;p14">
            <a:extLst>
              <a:ext uri="{FF2B5EF4-FFF2-40B4-BE49-F238E27FC236}">
                <a16:creationId xmlns:a16="http://schemas.microsoft.com/office/drawing/2014/main" id="{37C10D9F-362D-4037-8BF3-FB8823DC7F3A}"/>
              </a:ext>
            </a:extLst>
          </p:cNvPr>
          <p:cNvSpPr>
            <a:spLocks noGrp="1"/>
          </p:cNvSpPr>
          <p:nvPr/>
        </p:nvSpPr>
        <p:spPr>
          <a:xfrm>
            <a:off x="5943600" y="3657600"/>
            <a:ext cx="5394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El caso V → F rompe lo anunciado: se cumple p, pero no se cumple q.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8723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455CAA04-588A-45C9-A6C1-3C404E7E950A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Bicondicional: las dos coinciden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C7518FF5-5D49-4DD4-B211-80EA88F149A5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0C079181-8768-4865-917E-763898E89546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El bicondicional p ↔ q se lee «p si y solo si q». Es verdadero cuando p y q tienen el mismo valor.</a:t>
            </a:r>
            <a:endParaRPr/>
          </a:p>
        </p:txBody>
      </p:sp>
      <p:graphicFrame>
        <p:nvGraphicFramePr>
          <p:cNvPr id="118" name="Google Shape;108;p14"/>
          <p:cNvGraphicFramePr/>
          <p:nvPr/>
        </p:nvGraphicFramePr>
        <p:xfrm>
          <a:off x="768096" y="2468880"/>
          <a:ext cx="4572000" cy="265176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q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 ↔ q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0C278217-0830-4670-B8F5-F9E51913E77E}"/>
              </a:ext>
            </a:extLst>
          </p:cNvPr>
          <p:cNvSpPr>
            <a:spLocks noGrp="1"/>
          </p:cNvSpPr>
          <p:nvPr/>
        </p:nvSpPr>
        <p:spPr>
          <a:xfrm>
            <a:off x="5943600" y="2651760"/>
            <a:ext cx="5394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p: «La tarjeta es roja»</a:t>
            </a:r>
            <a:endParaRPr/>
          </a:p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q: «La tarjeta es cuadrada»</a:t>
            </a:r>
            <a:endParaRPr/>
          </a:p>
        </p:txBody>
      </p:sp>
      <p:sp>
        <p:nvSpPr>
          <p:cNvPr id="111" name="Google Shape;107;p14">
            <a:extLst>
              <a:ext uri="{FF2B5EF4-FFF2-40B4-BE49-F238E27FC236}">
                <a16:creationId xmlns:a16="http://schemas.microsoft.com/office/drawing/2014/main" id="{37C10D9F-362D-4037-8BF3-FB8823DC7F3A}"/>
              </a:ext>
            </a:extLst>
          </p:cNvPr>
          <p:cNvSpPr>
            <a:spLocks noGrp="1"/>
          </p:cNvSpPr>
          <p:nvPr/>
        </p:nvSpPr>
        <p:spPr>
          <a:xfrm>
            <a:off x="5943600" y="3657600"/>
            <a:ext cx="5394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Idea clave: p ↔ q es verdadera cuando ambas son verdaderas o ambas son falsas; es decir, cuando coinciden.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8723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221DFAFF-6707-43FF-AD9C-3137482AEF3F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Resumen: las cinco conectivas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5C476A23-0013-44E4-B1DD-DCA2C7F92C48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83F37FBA-516E-4372-A323-72AAF4765E7F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Las cinco conectivas reunidas en una sola tabla de verdad.</a:t>
            </a:r>
            <a:endParaRPr/>
          </a:p>
        </p:txBody>
      </p:sp>
      <p:graphicFrame>
        <p:nvGraphicFramePr>
          <p:cNvPr id="117" name="Google Shape;108;p14"/>
          <p:cNvGraphicFramePr/>
          <p:nvPr/>
        </p:nvGraphicFramePr>
        <p:xfrm>
          <a:off x="768096" y="2377440"/>
          <a:ext cx="10652754" cy="2651760"/>
        </p:xfrm>
        <a:graphic>
          <a:graphicData uri="http://schemas.openxmlformats.org/drawingml/2006/table">
            <a:tbl>
              <a:tblPr/>
              <a:tblGrid>
                <a:gridCol w="1521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1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1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1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1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1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q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¬p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 ∧ q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 ∨ q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 → q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 ↔ q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984778BC-C8EE-41AD-9574-209FDEFEF901}"/>
              </a:ext>
            </a:extLst>
          </p:cNvPr>
          <p:cNvSpPr>
            <a:spLocks noGrp="1"/>
          </p:cNvSpPr>
          <p:nvPr/>
        </p:nvSpPr>
        <p:spPr>
          <a:xfrm>
            <a:off x="768096" y="5394960"/>
            <a:ext cx="106527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Con dos proposiciones simples siempre hay 4 combinaciones posibles. En general, con n proposiciones la tabla tiene 2ⁿ filas.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14093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7697019E-E0FC-47B2-88A3-DCDE0CA05D7F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Cómo construir una tabla de verdad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3F4870B2-64AE-41D6-9F87-A61EE6DDCCA5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A07EAE41-9B11-4AC9-9E3C-CAD46C4EB7AD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Trabaje desde las subexpresiones más simples hasta obtener el valor de la fórmula completa.</a:t>
            </a:r>
            <a:endParaRPr/>
          </a:p>
        </p:txBody>
      </p:sp>
      <p:graphicFrame>
        <p:nvGraphicFramePr>
          <p:cNvPr id="114" name="Google Shape;108;p14"/>
          <p:cNvGraphicFramePr/>
          <p:nvPr/>
        </p:nvGraphicFramePr>
        <p:xfrm>
          <a:off x="768096" y="2240280"/>
          <a:ext cx="10652759" cy="3853688"/>
        </p:xfrm>
        <a:graphic>
          <a:graphicData uri="http://schemas.openxmlformats.org/drawingml/2006/table">
            <a:tbl>
              <a:tblPr/>
              <a:tblGrid>
                <a:gridCol w="1810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1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69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164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Paso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Acción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Ejemplo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1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Variables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p, q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2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Filas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2² = 4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3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Valores base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VV, VF, FV, FF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4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Partes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¬p, p ∧ q…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5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Columnas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Primero lo más interno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6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Resultado final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Última columna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7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Revisión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No omita combinaciones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Meta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Explique una fila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«Si p es V…»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4990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614AFF50-40D9-446C-8258-B8ADD58B2C47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Práctica guiada: valores de verdad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07159C6B-B960-44FE-9434-3ECA124D89FD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1A066240-81EC-43FB-9B37-20A7763716A5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Sea p verdadera (V) y q falsa (F). Resuelva primero las expresiones de una sola conectiva.</a:t>
            </a:r>
            <a:endParaRPr/>
          </a:p>
        </p:txBody>
      </p:sp>
      <p:sp>
        <p:nvSpPr>
          <p:cNvPr id="109" name="Google Shape;107;p14">
            <a:extLst>
              <a:ext uri="{FF2B5EF4-FFF2-40B4-BE49-F238E27FC236}">
                <a16:creationId xmlns:a16="http://schemas.microsoft.com/office/drawing/2014/main" id="{2DE89B67-1590-4A8C-8333-A7483F1A98A2}"/>
              </a:ext>
            </a:extLst>
          </p:cNvPr>
          <p:cNvSpPr>
            <a:spLocks noGrp="1"/>
          </p:cNvSpPr>
          <p:nvPr/>
        </p:nvSpPr>
        <p:spPr>
          <a:xfrm>
            <a:off x="768096" y="2560320"/>
            <a:ext cx="475488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2200"/>
              </a:spcAft>
              <a:buNone/>
            </a:pPr>
            <a:r>
              <a:rPr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1. </a:t>
            </a:r>
            <a:r>
              <a:rPr lang="es-CO"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¬</a:t>
            </a:r>
            <a:r>
              <a:rPr lang="es-CO" sz="1900" b="0" i="0" u="non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p∨q</a:t>
            </a:r>
            <a:endParaRPr sz="1900" b="0" i="0" u="none" cap="none" dirty="0">
              <a:solidFill>
                <a:srgbClr val="475569"/>
              </a:solidFill>
              <a:latin typeface="Roboto"/>
              <a:ea typeface="Roboto"/>
              <a:cs typeface="Roboto"/>
            </a:endParaRPr>
          </a:p>
          <a:p>
            <a:pPr>
              <a:spcAft>
                <a:spcPts val="2200"/>
              </a:spcAft>
              <a:buNone/>
            </a:pPr>
            <a:r>
              <a:rPr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2. </a:t>
            </a:r>
            <a:r>
              <a:rPr lang="es-CO"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p∧¬q</a:t>
            </a:r>
            <a:endParaRPr sz="1900" b="0" i="0" u="none" cap="none" dirty="0">
              <a:solidFill>
                <a:srgbClr val="475569"/>
              </a:solidFill>
              <a:latin typeface="Roboto"/>
              <a:ea typeface="Roboto"/>
              <a:cs typeface="Roboto"/>
            </a:endParaRPr>
          </a:p>
          <a:p>
            <a:pPr>
              <a:spcAft>
                <a:spcPts val="2200"/>
              </a:spcAft>
              <a:buNone/>
            </a:pPr>
            <a:r>
              <a:rPr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3</a:t>
            </a:r>
            <a:r>
              <a:rPr lang="es-ES"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. ¬(</a:t>
            </a:r>
            <a:r>
              <a:rPr lang="es-ES" sz="1900" b="0" i="0" u="non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p∨q</a:t>
            </a:r>
            <a:r>
              <a:rPr lang="es-ES"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)</a:t>
            </a:r>
            <a:endParaRPr sz="1900" b="0" i="0" u="none" cap="none" dirty="0">
              <a:solidFill>
                <a:srgbClr val="475569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2C0BCA40-ED95-4892-99AF-52156BF04962}"/>
              </a:ext>
            </a:extLst>
          </p:cNvPr>
          <p:cNvSpPr>
            <a:spLocks noGrp="1"/>
          </p:cNvSpPr>
          <p:nvPr/>
        </p:nvSpPr>
        <p:spPr>
          <a:xfrm>
            <a:off x="6126480" y="2560320"/>
            <a:ext cx="475488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2200"/>
              </a:spcAft>
              <a:buNone/>
            </a:pPr>
            <a:r>
              <a:rPr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4. </a:t>
            </a:r>
            <a:r>
              <a:rPr lang="es-CO"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(</a:t>
            </a:r>
            <a:r>
              <a:rPr lang="es-CO" sz="1900" b="0" i="0" u="non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p∧q</a:t>
            </a:r>
            <a:r>
              <a:rPr lang="es-CO"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)→¬p</a:t>
            </a:r>
            <a:endParaRPr sz="1900" b="0" i="0" u="none" cap="none" dirty="0">
              <a:solidFill>
                <a:srgbClr val="475569"/>
              </a:solidFill>
              <a:latin typeface="Roboto"/>
              <a:ea typeface="Roboto"/>
              <a:cs typeface="Roboto"/>
            </a:endParaRPr>
          </a:p>
          <a:p>
            <a:pPr>
              <a:spcAft>
                <a:spcPts val="2200"/>
              </a:spcAft>
              <a:buNone/>
            </a:pPr>
            <a:r>
              <a:rPr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5. </a:t>
            </a:r>
            <a:r>
              <a:rPr lang="es-CO"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(</a:t>
            </a:r>
            <a:r>
              <a:rPr lang="es-CO" sz="1900" b="0" i="0" u="non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p→q</a:t>
            </a:r>
            <a:r>
              <a:rPr lang="es-CO"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)∧¬q</a:t>
            </a:r>
            <a:endParaRPr sz="1900" b="0" i="0" u="none" cap="none" dirty="0">
              <a:solidFill>
                <a:srgbClr val="475569"/>
              </a:solidFill>
              <a:latin typeface="Roboto"/>
              <a:ea typeface="Roboto"/>
              <a:cs typeface="Roboto"/>
            </a:endParaRPr>
          </a:p>
          <a:p>
            <a:pPr>
              <a:spcAft>
                <a:spcPts val="2200"/>
              </a:spcAft>
              <a:buNone/>
            </a:pPr>
            <a:r>
              <a:rPr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6. </a:t>
            </a:r>
            <a:r>
              <a:rPr lang="es-CO"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(</a:t>
            </a:r>
            <a:r>
              <a:rPr lang="es-CO" sz="1900" b="0" i="0" u="non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p∨q</a:t>
            </a:r>
            <a:r>
              <a:rPr lang="es-CO"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)↔(p∧¬q)</a:t>
            </a:r>
            <a:endParaRPr sz="1900" b="0" i="0" u="none" cap="none" dirty="0">
              <a:solidFill>
                <a:srgbClr val="475569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11" name="Google Shape;107;p14">
            <a:extLst>
              <a:ext uri="{FF2B5EF4-FFF2-40B4-BE49-F238E27FC236}">
                <a16:creationId xmlns:a16="http://schemas.microsoft.com/office/drawing/2014/main" id="{11C7CBE9-D7A9-4867-A8CE-77782D880F0D}"/>
              </a:ext>
            </a:extLst>
          </p:cNvPr>
          <p:cNvSpPr>
            <a:spLocks noGrp="1"/>
          </p:cNvSpPr>
          <p:nvPr/>
        </p:nvSpPr>
        <p:spPr>
          <a:xfrm>
            <a:off x="768096" y="5440680"/>
            <a:ext cx="1065276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lvl="0">
              <a:lnSpc>
                <a:spcPct val="160000"/>
              </a:lnSpc>
            </a:pPr>
            <a:r>
              <a:rPr lang="es-CO" sz="1400" dirty="0"/>
              <a:t>Subraye la conectiva principal y resuelva primero las expresiones entre paréntesis y las negaciones.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935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AC855010-E865-45EF-B611-092A6441CCF6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Distintas palabras, la misma conectiva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AED01A66-495C-4052-883C-986627C86795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D870CEF3-06FC-4105-B83E-6970B8D813D7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Identifique la idea lógica, no solamente una palabra aislada.</a:t>
            </a:r>
            <a:endParaRPr/>
          </a:p>
        </p:txBody>
      </p:sp>
      <p:graphicFrame>
        <p:nvGraphicFramePr>
          <p:cNvPr id="133" name="Google Shape;108;p14"/>
          <p:cNvGraphicFramePr/>
          <p:nvPr/>
        </p:nvGraphicFramePr>
        <p:xfrm>
          <a:off x="771525" y="2354460"/>
          <a:ext cx="10648950" cy="3246400"/>
        </p:xfrm>
        <a:graphic>
          <a:graphicData uri="http://schemas.openxmlformats.org/drawingml/2006/table">
            <a:tbl>
              <a:tblPr firstRow="1" bandRow="1"/>
              <a:tblGrid>
                <a:gridCol w="532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27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 u="none" cap="none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Forma cotidiana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 u="none" cap="none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Símbolo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 u="none" cap="none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Ejemplo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7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p y q / p pero q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p ∧ q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Leo, pero también descanso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7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p aunque q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p ∧ q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Estudio, aunque estoy cansado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7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ni p ni q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¬p ∧ ¬q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Ni leo ni escucho música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30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no p, pero q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¬p ∧ q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 u="non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No llueve, pero hace frío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9" name="Google Shape;109;p14">
            <a:extLst>
              <a:ext uri="{FF2B5EF4-FFF2-40B4-BE49-F238E27FC236}">
                <a16:creationId xmlns:a16="http://schemas.microsoft.com/office/drawing/2014/main" id="{8F824782-6942-452C-B459-D3A6DF0F2B93}"/>
              </a:ext>
            </a:extLst>
          </p:cNvPr>
          <p:cNvSpPr>
            <a:spLocks noGrp="1"/>
          </p:cNvSpPr>
          <p:nvPr/>
        </p:nvSpPr>
        <p:spPr>
          <a:xfrm>
            <a:off x="771525" y="2859285"/>
            <a:ext cx="532447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Google Shape;110;p14">
            <a:extLst>
              <a:ext uri="{FF2B5EF4-FFF2-40B4-BE49-F238E27FC236}">
                <a16:creationId xmlns:a16="http://schemas.microsoft.com/office/drawing/2014/main" id="{77B4F12E-86B2-464C-ABC4-38C465471168}"/>
              </a:ext>
            </a:extLst>
          </p:cNvPr>
          <p:cNvSpPr>
            <a:spLocks noGrp="1"/>
          </p:cNvSpPr>
          <p:nvPr/>
        </p:nvSpPr>
        <p:spPr>
          <a:xfrm>
            <a:off x="6096000" y="2859285"/>
            <a:ext cx="1597223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14">
            <a:extLst>
              <a:ext uri="{FF2B5EF4-FFF2-40B4-BE49-F238E27FC236}">
                <a16:creationId xmlns:a16="http://schemas.microsoft.com/office/drawing/2014/main" id="{975FCD62-C278-46B5-A2DB-5D3C3FABA556}"/>
              </a:ext>
            </a:extLst>
          </p:cNvPr>
          <p:cNvSpPr>
            <a:spLocks noGrp="1"/>
          </p:cNvSpPr>
          <p:nvPr/>
        </p:nvSpPr>
        <p:spPr>
          <a:xfrm>
            <a:off x="7693223" y="2859285"/>
            <a:ext cx="3727251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14">
            <a:extLst>
              <a:ext uri="{FF2B5EF4-FFF2-40B4-BE49-F238E27FC236}">
                <a16:creationId xmlns:a16="http://schemas.microsoft.com/office/drawing/2014/main" id="{3D8533AB-F5FB-49BA-AB6E-A23A30597E48}"/>
              </a:ext>
            </a:extLst>
          </p:cNvPr>
          <p:cNvSpPr>
            <a:spLocks noGrp="1"/>
          </p:cNvSpPr>
          <p:nvPr/>
        </p:nvSpPr>
        <p:spPr>
          <a:xfrm>
            <a:off x="771525" y="3626048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1DA73A5D-B053-4A31-A88B-072139A07908}"/>
              </a:ext>
            </a:extLst>
          </p:cNvPr>
          <p:cNvSpPr>
            <a:spLocks noGrp="1"/>
          </p:cNvSpPr>
          <p:nvPr/>
        </p:nvSpPr>
        <p:spPr>
          <a:xfrm>
            <a:off x="6096000" y="3626048"/>
            <a:ext cx="1597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Google Shape;114;p14">
            <a:extLst>
              <a:ext uri="{FF2B5EF4-FFF2-40B4-BE49-F238E27FC236}">
                <a16:creationId xmlns:a16="http://schemas.microsoft.com/office/drawing/2014/main" id="{DD8D5A85-2123-4D4A-8F64-66342E11178A}"/>
              </a:ext>
            </a:extLst>
          </p:cNvPr>
          <p:cNvSpPr>
            <a:spLocks noGrp="1"/>
          </p:cNvSpPr>
          <p:nvPr/>
        </p:nvSpPr>
        <p:spPr>
          <a:xfrm>
            <a:off x="7693223" y="3626048"/>
            <a:ext cx="37272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Google Shape;115;p14">
            <a:extLst>
              <a:ext uri="{FF2B5EF4-FFF2-40B4-BE49-F238E27FC236}">
                <a16:creationId xmlns:a16="http://schemas.microsoft.com/office/drawing/2014/main" id="{FAE56E1D-1BC5-4106-8617-D0DEF6859F48}"/>
              </a:ext>
            </a:extLst>
          </p:cNvPr>
          <p:cNvSpPr>
            <a:spLocks noGrp="1"/>
          </p:cNvSpPr>
          <p:nvPr/>
        </p:nvSpPr>
        <p:spPr>
          <a:xfrm>
            <a:off x="771525" y="4378523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Google Shape;116;p14">
            <a:extLst>
              <a:ext uri="{FF2B5EF4-FFF2-40B4-BE49-F238E27FC236}">
                <a16:creationId xmlns:a16="http://schemas.microsoft.com/office/drawing/2014/main" id="{98F83085-1CC2-422F-9036-EAED62765F20}"/>
              </a:ext>
            </a:extLst>
          </p:cNvPr>
          <p:cNvSpPr>
            <a:spLocks noGrp="1"/>
          </p:cNvSpPr>
          <p:nvPr/>
        </p:nvSpPr>
        <p:spPr>
          <a:xfrm>
            <a:off x="6096000" y="4378523"/>
            <a:ext cx="1597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" name="Google Shape;117;p14">
            <a:extLst>
              <a:ext uri="{FF2B5EF4-FFF2-40B4-BE49-F238E27FC236}">
                <a16:creationId xmlns:a16="http://schemas.microsoft.com/office/drawing/2014/main" id="{3D957984-F1A0-4895-A0DC-EBBF3FA9F9B0}"/>
              </a:ext>
            </a:extLst>
          </p:cNvPr>
          <p:cNvSpPr>
            <a:spLocks noGrp="1"/>
          </p:cNvSpPr>
          <p:nvPr/>
        </p:nvSpPr>
        <p:spPr>
          <a:xfrm>
            <a:off x="7693223" y="4378523"/>
            <a:ext cx="37272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Google Shape;118;p14">
            <a:extLst>
              <a:ext uri="{FF2B5EF4-FFF2-40B4-BE49-F238E27FC236}">
                <a16:creationId xmlns:a16="http://schemas.microsoft.com/office/drawing/2014/main" id="{D6F6178A-7B65-4D6B-910D-30D03A4FFA33}"/>
              </a:ext>
            </a:extLst>
          </p:cNvPr>
          <p:cNvSpPr>
            <a:spLocks noGrp="1"/>
          </p:cNvSpPr>
          <p:nvPr/>
        </p:nvSpPr>
        <p:spPr>
          <a:xfrm>
            <a:off x="771525" y="4930973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Google Shape;119;p14">
            <a:extLst>
              <a:ext uri="{FF2B5EF4-FFF2-40B4-BE49-F238E27FC236}">
                <a16:creationId xmlns:a16="http://schemas.microsoft.com/office/drawing/2014/main" id="{CB78D924-56B3-454B-BBCF-00FCD58772DE}"/>
              </a:ext>
            </a:extLst>
          </p:cNvPr>
          <p:cNvSpPr>
            <a:spLocks noGrp="1"/>
          </p:cNvSpPr>
          <p:nvPr/>
        </p:nvSpPr>
        <p:spPr>
          <a:xfrm>
            <a:off x="6096000" y="4930973"/>
            <a:ext cx="1597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0" name="Google Shape;120;p14">
            <a:extLst>
              <a:ext uri="{FF2B5EF4-FFF2-40B4-BE49-F238E27FC236}">
                <a16:creationId xmlns:a16="http://schemas.microsoft.com/office/drawing/2014/main" id="{F5D463FB-78DF-4401-BC2A-FEC14694A991}"/>
              </a:ext>
            </a:extLst>
          </p:cNvPr>
          <p:cNvSpPr>
            <a:spLocks noGrp="1"/>
          </p:cNvSpPr>
          <p:nvPr/>
        </p:nvSpPr>
        <p:spPr>
          <a:xfrm>
            <a:off x="7693223" y="4930973"/>
            <a:ext cx="37272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1" name="Google Shape;121;p14">
            <a:extLst>
              <a:ext uri="{FF2B5EF4-FFF2-40B4-BE49-F238E27FC236}">
                <a16:creationId xmlns:a16="http://schemas.microsoft.com/office/drawing/2014/main" id="{F910A9F5-E8C8-4559-B2D8-FFB21A858BB9}"/>
              </a:ext>
            </a:extLst>
          </p:cNvPr>
          <p:cNvSpPr>
            <a:spLocks noGrp="1"/>
          </p:cNvSpPr>
          <p:nvPr/>
        </p:nvSpPr>
        <p:spPr>
          <a:xfrm>
            <a:off x="771525" y="5683448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2" name="Google Shape;122;p14">
            <a:extLst>
              <a:ext uri="{FF2B5EF4-FFF2-40B4-BE49-F238E27FC236}">
                <a16:creationId xmlns:a16="http://schemas.microsoft.com/office/drawing/2014/main" id="{C2307F28-1A49-4B0C-915E-B70C5A43AA93}"/>
              </a:ext>
            </a:extLst>
          </p:cNvPr>
          <p:cNvSpPr>
            <a:spLocks noGrp="1"/>
          </p:cNvSpPr>
          <p:nvPr/>
        </p:nvSpPr>
        <p:spPr>
          <a:xfrm>
            <a:off x="6096000" y="5683448"/>
            <a:ext cx="1597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3" name="Google Shape;123;p14">
            <a:extLst>
              <a:ext uri="{FF2B5EF4-FFF2-40B4-BE49-F238E27FC236}">
                <a16:creationId xmlns:a16="http://schemas.microsoft.com/office/drawing/2014/main" id="{AFBD4F46-290C-47C3-9481-431584F78914}"/>
              </a:ext>
            </a:extLst>
          </p:cNvPr>
          <p:cNvSpPr>
            <a:spLocks noGrp="1"/>
          </p:cNvSpPr>
          <p:nvPr/>
        </p:nvSpPr>
        <p:spPr>
          <a:xfrm>
            <a:off x="7693223" y="5683448"/>
            <a:ext cx="37272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4" name="Google Shape;124;p14">
            <a:extLst>
              <a:ext uri="{FF2B5EF4-FFF2-40B4-BE49-F238E27FC236}">
                <a16:creationId xmlns:a16="http://schemas.microsoft.com/office/drawing/2014/main" id="{45609284-D7F4-47FC-8A40-9874A5BE2C09}"/>
              </a:ext>
            </a:extLst>
          </p:cNvPr>
          <p:cNvSpPr>
            <a:spLocks noGrp="1"/>
          </p:cNvSpPr>
          <p:nvPr/>
        </p:nvSpPr>
        <p:spPr>
          <a:xfrm>
            <a:off x="771525" y="6235898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5" name="Google Shape;125;p14">
            <a:extLst>
              <a:ext uri="{FF2B5EF4-FFF2-40B4-BE49-F238E27FC236}">
                <a16:creationId xmlns:a16="http://schemas.microsoft.com/office/drawing/2014/main" id="{59D2597A-824B-463C-BBFA-F2930A8575EA}"/>
              </a:ext>
            </a:extLst>
          </p:cNvPr>
          <p:cNvSpPr>
            <a:spLocks noGrp="1"/>
          </p:cNvSpPr>
          <p:nvPr/>
        </p:nvSpPr>
        <p:spPr>
          <a:xfrm>
            <a:off x="6096000" y="6235898"/>
            <a:ext cx="1597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6" name="Google Shape;126;p14">
            <a:extLst>
              <a:ext uri="{FF2B5EF4-FFF2-40B4-BE49-F238E27FC236}">
                <a16:creationId xmlns:a16="http://schemas.microsoft.com/office/drawing/2014/main" id="{B7CFB646-8D96-4EFB-917E-328D76A3BB5A}"/>
              </a:ext>
            </a:extLst>
          </p:cNvPr>
          <p:cNvSpPr>
            <a:spLocks noGrp="1"/>
          </p:cNvSpPr>
          <p:nvPr/>
        </p:nvSpPr>
        <p:spPr>
          <a:xfrm>
            <a:off x="7693223" y="6235898"/>
            <a:ext cx="37272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2493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65F450A9-A293-433C-AC45-0D55D3B51AB3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Precedencia: ¿qué se evalúa primero?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C048B78A-510A-45C2-B512-880C5F383FB3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2F887FD6-D3E0-4D00-9B93-08C174A391BB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Cuando faltan paréntesis, use este orden. Si tiene dudas, agregue paréntesis antes de calcular.</a:t>
            </a:r>
            <a:endParaRPr/>
          </a:p>
        </p:txBody>
      </p:sp>
      <p:graphicFrame>
        <p:nvGraphicFramePr>
          <p:cNvPr id="117" name="Google Shape;108;p14"/>
          <p:cNvGraphicFramePr/>
          <p:nvPr/>
        </p:nvGraphicFramePr>
        <p:xfrm>
          <a:off x="768096" y="2377440"/>
          <a:ext cx="10652759" cy="2926080"/>
        </p:xfrm>
        <a:graphic>
          <a:graphicData uri="http://schemas.openxmlformats.org/drawingml/2006/table">
            <a:tbl>
              <a:tblPr/>
              <a:tblGrid>
                <a:gridCol w="1065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2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47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Orden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Conectiva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Ejemplo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1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¬  negación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¬p ∧ q = (¬p) ∧ q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2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∧  conjunción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 ∧ q ∨ r = (p ∧ q) ∨ r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3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∨  disyunción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 ∨ q → r = (p ∨ q) → r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4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→  condicional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 → q ↔ r = (p → q) ↔ r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5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↔  bicondicional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Se evalúa al final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ABFD45CE-F844-4B89-802E-076C35444404}"/>
              </a:ext>
            </a:extLst>
          </p:cNvPr>
          <p:cNvSpPr>
            <a:spLocks noGrp="1"/>
          </p:cNvSpPr>
          <p:nvPr/>
        </p:nvSpPr>
        <p:spPr>
          <a:xfrm>
            <a:off x="768096" y="5486400"/>
            <a:ext cx="106527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Recomendación para principiantes: escriba paréntesis siempre que la fórmula tenga más de dos conectivas.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0462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D07B6F5E-19CA-49EE-B65F-7AB2D070083C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Cómo leer correctamente p → q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0BAFF1CD-C7C9-4615-8FEB-86B714DED8ED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17162028-043F-4B70-A372-EC6B97749E97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Antes de simbolizar, identifique la condición o antecedente (p) y lo que se afirma bajo esa condición (q).</a:t>
            </a:r>
            <a:endParaRPr/>
          </a:p>
        </p:txBody>
      </p:sp>
      <p:graphicFrame>
        <p:nvGraphicFramePr>
          <p:cNvPr id="117" name="Google Shape;108;p14"/>
          <p:cNvGraphicFramePr/>
          <p:nvPr/>
        </p:nvGraphicFramePr>
        <p:xfrm>
          <a:off x="768096" y="2377440"/>
          <a:ext cx="10652759" cy="3017520"/>
        </p:xfrm>
        <a:graphic>
          <a:graphicData uri="http://schemas.openxmlformats.org/drawingml/2006/table">
            <a:tbl>
              <a:tblPr/>
              <a:tblGrid>
                <a:gridCol w="4474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Redacción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Dirección que se simboliza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Si p, entonces q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 → q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 solo si q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 → q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 si q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q → p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 siempre que q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q → p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 es suficiente para q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 → q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AFC1868F-5999-4A39-834E-326FDA66D9D9}"/>
              </a:ext>
            </a:extLst>
          </p:cNvPr>
          <p:cNvSpPr>
            <a:spLocks noGrp="1"/>
          </p:cNvSpPr>
          <p:nvPr/>
        </p:nvSpPr>
        <p:spPr>
          <a:xfrm>
            <a:off x="768096" y="5532120"/>
            <a:ext cx="106527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Atención: «p si q» y «p solo si q» no apuntan en la misma dirección. Reescriba primero con «si…, entonces…».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98213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D07B6F5E-19CA-49EE-B65F-7AB2D070083C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«A menos que»: reescriba antes de simbolizar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0BAFF1CD-C7C9-4615-8FEB-86B714DED8ED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17162028-043F-4B70-A372-EC6B97749E97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La forma «p a menos que q» indica qué debe ocurrir cuando q no ocurre.</a:t>
            </a:r>
            <a:endParaRPr/>
          </a:p>
        </p:txBody>
      </p:sp>
      <p:graphicFrame>
        <p:nvGraphicFramePr>
          <p:cNvPr id="117" name="Google Shape;108;p14"/>
          <p:cNvGraphicFramePr/>
          <p:nvPr/>
        </p:nvGraphicFramePr>
        <p:xfrm>
          <a:off x="768096" y="2377440"/>
          <a:ext cx="10652759" cy="3017520"/>
        </p:xfrm>
        <a:graphic>
          <a:graphicData uri="http://schemas.openxmlformats.org/drawingml/2006/table">
            <a:tbl>
              <a:tblPr/>
              <a:tblGrid>
                <a:gridCol w="4474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Paso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Ejemplo simple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Enunciado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Salgo a caminar a menos que llueva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Defina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p: salgo a caminar · q: llueve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Reescriba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Si no llueve, entonces salgo a caminar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Simbolice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¬q → p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Idea clave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Se niega la condición q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AFC1868F-5999-4A39-834E-326FDA66D9D9}"/>
              </a:ext>
            </a:extLst>
          </p:cNvPr>
          <p:cNvSpPr>
            <a:spLocks noGrp="1"/>
          </p:cNvSpPr>
          <p:nvPr/>
        </p:nvSpPr>
        <p:spPr>
          <a:xfrm>
            <a:off x="768096" y="5532120"/>
            <a:ext cx="106527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No memorice la fórmula de manera aislada: reescriba primero con «si…, entonces…».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5138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D07B6F5E-19CA-49EE-B65F-7AB2D070083C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«A menos que» con una condición compuesta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0BAFF1CD-C7C9-4615-8FEB-86B714DED8ED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17162028-043F-4B70-A372-EC6B97749E97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Cuando la excepción contiene «o», los paréntesis muestran qué parte completa se está negando.</a:t>
            </a:r>
            <a:endParaRPr/>
          </a:p>
        </p:txBody>
      </p:sp>
      <p:graphicFrame>
        <p:nvGraphicFramePr>
          <p:cNvPr id="117" name="Google Shape;108;p14"/>
          <p:cNvGraphicFramePr/>
          <p:nvPr/>
        </p:nvGraphicFramePr>
        <p:xfrm>
          <a:off x="768096" y="2377440"/>
          <a:ext cx="10652759" cy="3017520"/>
        </p:xfrm>
        <a:graphic>
          <a:graphicData uri="http://schemas.openxmlformats.org/drawingml/2006/table">
            <a:tbl>
              <a:tblPr/>
              <a:tblGrid>
                <a:gridCol w="4474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Paso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Ejemplo compuesto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Enunciado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Salgo a caminar a menos que llueva o haga frío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Defina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S: salgo · L: llueve · F: hace frío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Reescriba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Si no ocurre que llueva o haga frío, entonces salgo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Agrupe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¬(L ∨ F)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Fórmula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¬(L ∨ F) → S</a:t>
                      </a:r>
                      <a:endParaRPr/>
                    </a:p>
                  </a:txBody>
                  <a:tcPr marL="73152" marR="73152" marT="27432" marB="27432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AFC1868F-5999-4A39-834E-326FDA66D9D9}"/>
              </a:ext>
            </a:extLst>
          </p:cNvPr>
          <p:cNvSpPr>
            <a:spLocks noGrp="1"/>
          </p:cNvSpPr>
          <p:nvPr/>
        </p:nvSpPr>
        <p:spPr>
          <a:xfrm>
            <a:off x="768096" y="5532120"/>
            <a:ext cx="106527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Los paréntesis son esenciales: la negación afecta toda la condición L ∨ F.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85852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614AFF50-40D9-446C-8258-B8ADD58B2C47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Práctica: del lenguaje cotidiano a símbolos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07159C6B-B960-44FE-9434-3ECA124D89FD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1A066240-81EC-43FB-9B37-20A7763716A5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Use p: «estudio» y q: «descanso». Reescriba si es necesario y luego simbolice.</a:t>
            </a:r>
            <a:endParaRPr/>
          </a:p>
        </p:txBody>
      </p:sp>
      <p:sp>
        <p:nvSpPr>
          <p:cNvPr id="109" name="Google Shape;107;p14">
            <a:extLst>
              <a:ext uri="{FF2B5EF4-FFF2-40B4-BE49-F238E27FC236}">
                <a16:creationId xmlns:a16="http://schemas.microsoft.com/office/drawing/2014/main" id="{2DE89B67-1590-4A8C-8333-A7483F1A98A2}"/>
              </a:ext>
            </a:extLst>
          </p:cNvPr>
          <p:cNvSpPr>
            <a:spLocks noGrp="1"/>
          </p:cNvSpPr>
          <p:nvPr/>
        </p:nvSpPr>
        <p:spPr>
          <a:xfrm>
            <a:off x="768096" y="2560320"/>
            <a:ext cx="4754880" cy="3164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2200"/>
              </a:spcAft>
              <a:buNone/>
            </a:pPr>
            <a:r>
              <a:rPr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1. </a:t>
            </a:r>
            <a:r>
              <a:rPr lang="es-ES"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Ana estudia, pero no descansa</a:t>
            </a:r>
            <a:r>
              <a:rPr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.</a:t>
            </a:r>
          </a:p>
          <a:p>
            <a:pPr>
              <a:spcAft>
                <a:spcPts val="2200"/>
              </a:spcAft>
              <a:buNone/>
            </a:pPr>
            <a:endParaRPr sz="1900" b="0" i="0" u="none" cap="none" dirty="0">
              <a:solidFill>
                <a:srgbClr val="475569"/>
              </a:solidFill>
              <a:latin typeface="Roboto"/>
              <a:ea typeface="Roboto"/>
              <a:cs typeface="Roboto"/>
            </a:endParaRPr>
          </a:p>
          <a:p>
            <a:pPr>
              <a:spcAft>
                <a:spcPts val="2200"/>
              </a:spcAft>
              <a:buNone/>
            </a:pPr>
            <a:r>
              <a:rPr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2. </a:t>
            </a:r>
            <a:r>
              <a:rPr lang="es-ES"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Ni Carlos trabaja ni Marta estudia</a:t>
            </a:r>
            <a:r>
              <a:rPr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.</a:t>
            </a:r>
          </a:p>
          <a:p>
            <a:pPr>
              <a:spcAft>
                <a:spcPts val="2200"/>
              </a:spcAft>
              <a:buNone/>
            </a:pPr>
            <a:endParaRPr sz="1900" b="0" i="0" u="none" cap="none" dirty="0">
              <a:solidFill>
                <a:srgbClr val="475569"/>
              </a:solidFill>
              <a:latin typeface="Roboto"/>
              <a:ea typeface="Roboto"/>
              <a:cs typeface="Roboto"/>
            </a:endParaRPr>
          </a:p>
          <a:p>
            <a:pPr>
              <a:spcAft>
                <a:spcPts val="2200"/>
              </a:spcAft>
              <a:buNone/>
            </a:pPr>
            <a:r>
              <a:rPr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3. </a:t>
            </a:r>
            <a:r>
              <a:rPr lang="es-ES"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Si termino la tarea y organizo mis apuntes, entonces descanso.</a:t>
            </a:r>
            <a:endParaRPr sz="1900" b="0" i="0" u="none" cap="none" dirty="0">
              <a:solidFill>
                <a:srgbClr val="475569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2C0BCA40-ED95-4892-99AF-52156BF04962}"/>
              </a:ext>
            </a:extLst>
          </p:cNvPr>
          <p:cNvSpPr>
            <a:spLocks noGrp="1"/>
          </p:cNvSpPr>
          <p:nvPr/>
        </p:nvSpPr>
        <p:spPr>
          <a:xfrm>
            <a:off x="6126480" y="2560320"/>
            <a:ext cx="4754880" cy="2600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2200"/>
              </a:spcAft>
              <a:buNone/>
            </a:pPr>
            <a:r>
              <a:rPr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4. </a:t>
            </a:r>
            <a:r>
              <a:rPr lang="es-ES"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Si Voy al laboratorio entonces llevo bata y gafas.</a:t>
            </a:r>
            <a:endParaRPr sz="1900" b="0" i="0" u="none" cap="none" dirty="0">
              <a:solidFill>
                <a:srgbClr val="475569"/>
              </a:solidFill>
              <a:latin typeface="Roboto"/>
              <a:ea typeface="Roboto"/>
              <a:cs typeface="Roboto"/>
            </a:endParaRPr>
          </a:p>
          <a:p>
            <a:pPr>
              <a:spcAft>
                <a:spcPts val="2200"/>
              </a:spcAft>
              <a:buNone/>
            </a:pPr>
            <a:r>
              <a:rPr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5.</a:t>
            </a:r>
            <a:r>
              <a:rPr lang="es-ES"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 El grupo realiza la salida a menos que llueva o haya una alerta.</a:t>
            </a:r>
          </a:p>
          <a:p>
            <a:pPr>
              <a:spcAft>
                <a:spcPts val="2200"/>
              </a:spcAft>
              <a:buNone/>
            </a:pPr>
            <a:r>
              <a:rPr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6. </a:t>
            </a:r>
            <a:r>
              <a:rPr lang="es-ES" sz="1900" b="0" i="0" u="none" cap="none" dirty="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No es cierto que Ana estudie y Carlos trabaje, pero Marta descansa.</a:t>
            </a:r>
            <a:endParaRPr sz="1900" b="0" i="0" u="none" cap="none" dirty="0">
              <a:solidFill>
                <a:srgbClr val="475569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11" name="Google Shape;107;p14">
            <a:extLst>
              <a:ext uri="{FF2B5EF4-FFF2-40B4-BE49-F238E27FC236}">
                <a16:creationId xmlns:a16="http://schemas.microsoft.com/office/drawing/2014/main" id="{11C7CBE9-D7A9-4867-A8CE-77782D880F0D}"/>
              </a:ext>
            </a:extLst>
          </p:cNvPr>
          <p:cNvSpPr>
            <a:spLocks noGrp="1"/>
          </p:cNvSpPr>
          <p:nvPr/>
        </p:nvSpPr>
        <p:spPr>
          <a:xfrm>
            <a:off x="768096" y="5440680"/>
            <a:ext cx="106527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9350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221DFAFF-6707-43FF-AD9C-3137482AEF3F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Ejemplo completo: una columna a la vez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5C476A23-0013-44E4-B1DD-DCA2C7F92C48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83F37FBA-516E-4372-A323-72AAF4765E7F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Observe la tabla de R = (¬p ∨ q) ↔ ¬(p ∧ q) y verifique cómo se obtuvo cada columna.</a:t>
            </a:r>
            <a:endParaRPr/>
          </a:p>
        </p:txBody>
      </p:sp>
      <p:graphicFrame>
        <p:nvGraphicFramePr>
          <p:cNvPr id="117" name="Google Shape;108;p14"/>
          <p:cNvGraphicFramePr/>
          <p:nvPr/>
        </p:nvGraphicFramePr>
        <p:xfrm>
          <a:off x="768096" y="2377440"/>
          <a:ext cx="10652754" cy="2651760"/>
        </p:xfrm>
        <a:graphic>
          <a:graphicData uri="http://schemas.openxmlformats.org/drawingml/2006/table">
            <a:tbl>
              <a:tblPr/>
              <a:tblGrid>
                <a:gridCol w="1521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1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1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1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1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1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q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¬p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p ∧ q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¬(p ∧ q)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¬p ∨ q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</a:rPr>
                        <a:t>R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F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</a:rPr>
                        <a:t>V</a:t>
                      </a:r>
                      <a:endParaRPr/>
                    </a:p>
                  </a:txBody>
                  <a:tcPr marL="54864" marR="54864" marT="36576" marB="36576" anchor="ctr">
                    <a:lnL w="9525" cmpd="sng">
                      <a:solidFill>
                        <a:srgbClr val="DBE2EC"/>
                      </a:solidFill>
                    </a:lnL>
                    <a:lnR w="9525" cmpd="sng">
                      <a:solidFill>
                        <a:srgbClr val="DBE2EC"/>
                      </a:solidFill>
                    </a:lnR>
                    <a:lnT w="9525" cmpd="sng">
                      <a:solidFill>
                        <a:srgbClr val="DBE2EC"/>
                      </a:solidFill>
                    </a:lnT>
                    <a:lnB w="9525" cmpd="sng">
                      <a:solidFill>
                        <a:srgbClr val="DBE2EC"/>
                      </a:solidFill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984778BC-C8EE-41AD-9574-209FDEFEF901}"/>
              </a:ext>
            </a:extLst>
          </p:cNvPr>
          <p:cNvSpPr>
            <a:spLocks noGrp="1"/>
          </p:cNvSpPr>
          <p:nvPr/>
        </p:nvSpPr>
        <p:spPr>
          <a:xfrm>
            <a:off x="768096" y="5394960"/>
            <a:ext cx="106527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Orden seguido: p y q → ¬p → p ∧ q → ¬(p ∧ q) → ¬p ∨ q → R. Reconstruyan juntos la primera fila.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140933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614AFF50-40D9-446C-8258-B8ADD58B2C47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 dirty="0" err="1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Actividad</a:t>
            </a:r>
            <a:r>
              <a:rPr lang="es-ES" sz="3600" b="1" dirty="0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: </a:t>
            </a:r>
            <a:r>
              <a:rPr sz="3600" b="1" i="0" u="none" cap="none" dirty="0" err="1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construyan</a:t>
            </a:r>
            <a:r>
              <a:rPr sz="3600" b="1" i="0" u="none" cap="none" dirty="0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3600" b="1" i="0" u="none" cap="none" dirty="0" err="1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una</a:t>
            </a:r>
            <a:r>
              <a:rPr sz="3600" b="1" i="0" u="none" cap="none" dirty="0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3600" b="1" i="0" u="none" cap="none" dirty="0" err="1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tabla</a:t>
            </a:r>
            <a:endParaRPr dirty="0"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07159C6B-B960-44FE-9434-3ECA124D89FD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1A066240-81EC-43FB-9B37-20A7763716A5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430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r>
              <a:rPr lang="es-CO" sz="2800" b="1" dirty="0"/>
              <a:t>Construya la tabla de verdad de:</a:t>
            </a:r>
            <a:endParaRPr lang="es-CO" sz="2800" dirty="0"/>
          </a:p>
          <a:p>
            <a:pPr lvl="0"/>
            <a:endParaRPr lang="es-CO" sz="2800" dirty="0"/>
          </a:p>
          <a:p>
            <a:pPr lvl="0"/>
            <a:r>
              <a:rPr lang="es-CO" sz="2800" dirty="0"/>
              <a:t>R=(</a:t>
            </a:r>
            <a:r>
              <a:rPr lang="es-CO" sz="2800" dirty="0" err="1"/>
              <a:t>p→q</a:t>
            </a:r>
            <a:r>
              <a:rPr lang="es-CO" sz="2800" dirty="0"/>
              <a:t>)∧(¬</a:t>
            </a:r>
            <a:r>
              <a:rPr lang="es-CO" sz="2800" dirty="0" err="1"/>
              <a:t>q∨p</a:t>
            </a:r>
            <a:r>
              <a:rPr lang="es-CO" sz="2800" dirty="0"/>
              <a:t>) </a:t>
            </a:r>
          </a:p>
          <a:p>
            <a:pPr lvl="0"/>
            <a:endParaRPr lang="es-CO" sz="2800" dirty="0"/>
          </a:p>
          <a:p>
            <a:pPr lvl="0"/>
            <a:endParaRPr lang="es-CO" sz="2800" dirty="0"/>
          </a:p>
          <a:p>
            <a:pPr lvl="0"/>
            <a:r>
              <a:rPr lang="es-CO" sz="2800" dirty="0"/>
              <a:t>1. Identifique la conectiva principal. </a:t>
            </a:r>
          </a:p>
          <a:p>
            <a:pPr lvl="0"/>
            <a:r>
              <a:rPr lang="es-CO" sz="2800" dirty="0"/>
              <a:t>2. Determine el número de filas. </a:t>
            </a:r>
          </a:p>
          <a:p>
            <a:pPr lvl="0"/>
            <a:r>
              <a:rPr lang="es-CO" sz="2800" dirty="0"/>
              <a:t>3. Organice las combinaciones de p y q. </a:t>
            </a:r>
          </a:p>
          <a:p>
            <a:pPr lvl="0"/>
            <a:r>
              <a:rPr lang="es-CO" sz="2800" dirty="0"/>
              <a:t>4. Calcule una columna a la vez. </a:t>
            </a:r>
          </a:p>
          <a:p>
            <a:pPr lvl="0"/>
            <a:r>
              <a:rPr lang="es-CO" sz="2800" dirty="0"/>
              <a:t>5. Explique verbalmente una de las filas.</a:t>
            </a:r>
          </a:p>
        </p:txBody>
      </p:sp>
    </p:spTree>
    <p:extLst>
      <p:ext uri="{BB962C8B-B14F-4D97-AF65-F5344CB8AC3E}">
        <p14:creationId xmlns:p14="http://schemas.microsoft.com/office/powerpoint/2010/main" val="1259350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614AFF50-40D9-446C-8258-B8ADD58B2C47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Cierre: compruebe lo esencial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07159C6B-B960-44FE-9434-3ECA124D89FD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1A066240-81EC-43FB-9B37-20A7763716A5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Responda sin consultar las diapositivas.</a:t>
            </a:r>
            <a:endParaRPr/>
          </a:p>
        </p:txBody>
      </p:sp>
      <p:sp>
        <p:nvSpPr>
          <p:cNvPr id="109" name="Google Shape;107;p14">
            <a:extLst>
              <a:ext uri="{FF2B5EF4-FFF2-40B4-BE49-F238E27FC236}">
                <a16:creationId xmlns:a16="http://schemas.microsoft.com/office/drawing/2014/main" id="{2DE89B67-1590-4A8C-8333-A7483F1A98A2}"/>
              </a:ext>
            </a:extLst>
          </p:cNvPr>
          <p:cNvSpPr>
            <a:spLocks noGrp="1"/>
          </p:cNvSpPr>
          <p:nvPr/>
        </p:nvSpPr>
        <p:spPr>
          <a:xfrm>
            <a:off x="768096" y="2560320"/>
            <a:ext cx="475488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2200"/>
              </a:spcAft>
              <a:buNone/>
            </a:pPr>
            <a:r>
              <a:rPr sz="19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1. ¿Cuántas filas tiene una tabla con dos variables?</a:t>
            </a:r>
          </a:p>
          <a:p>
            <a:pPr>
              <a:spcAft>
                <a:spcPts val="2200"/>
              </a:spcAft>
              <a:buNone/>
            </a:pPr>
            <a:endParaRPr sz="1900" b="0" i="0" u="none" cap="none">
              <a:solidFill>
                <a:srgbClr val="475569"/>
              </a:solidFill>
              <a:latin typeface="Roboto"/>
              <a:ea typeface="Roboto"/>
              <a:cs typeface="Roboto"/>
            </a:endParaRPr>
          </a:p>
          <a:p>
            <a:pPr>
              <a:spcAft>
                <a:spcPts val="2200"/>
              </a:spcAft>
              <a:buNone/>
            </a:pPr>
            <a:r>
              <a:rPr sz="19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2. ¿Cuándo es verdadera p ∧ q?</a:t>
            </a:r>
          </a:p>
        </p:txBody>
      </p:sp>
      <p:sp>
        <p:nvSpPr>
          <p:cNvPr id="110" name="Google Shape;107;p14">
            <a:extLst>
              <a:ext uri="{FF2B5EF4-FFF2-40B4-BE49-F238E27FC236}">
                <a16:creationId xmlns:a16="http://schemas.microsoft.com/office/drawing/2014/main" id="{2C0BCA40-ED95-4892-99AF-52156BF04962}"/>
              </a:ext>
            </a:extLst>
          </p:cNvPr>
          <p:cNvSpPr>
            <a:spLocks noGrp="1"/>
          </p:cNvSpPr>
          <p:nvPr/>
        </p:nvSpPr>
        <p:spPr>
          <a:xfrm>
            <a:off x="6126480" y="2560320"/>
            <a:ext cx="475488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2200"/>
              </a:spcAft>
              <a:buNone/>
            </a:pPr>
            <a:r>
              <a:rPr sz="19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3. Con p: «estudio» y q: «descanso», formalice: «ni estudio ni descanso».</a:t>
            </a:r>
          </a:p>
          <a:p>
            <a:pPr>
              <a:spcAft>
                <a:spcPts val="2200"/>
              </a:spcAft>
              <a:buNone/>
            </a:pPr>
            <a:endParaRPr sz="1900" b="0" i="0" u="none" cap="none">
              <a:solidFill>
                <a:srgbClr val="475569"/>
              </a:solidFill>
              <a:latin typeface="Roboto"/>
              <a:ea typeface="Roboto"/>
              <a:cs typeface="Roboto"/>
            </a:endParaRPr>
          </a:p>
          <a:p>
            <a:pPr>
              <a:spcAft>
                <a:spcPts val="2200"/>
              </a:spcAft>
              <a:buNone/>
            </a:pPr>
            <a:r>
              <a:rPr sz="19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4. Reescriba «p a menos que q» usando «si…, entonces…».</a:t>
            </a:r>
          </a:p>
        </p:txBody>
      </p:sp>
      <p:sp>
        <p:nvSpPr>
          <p:cNvPr id="111" name="Google Shape;107;p14">
            <a:extLst>
              <a:ext uri="{FF2B5EF4-FFF2-40B4-BE49-F238E27FC236}">
                <a16:creationId xmlns:a16="http://schemas.microsoft.com/office/drawing/2014/main" id="{11C7CBE9-D7A9-4867-A8CE-77782D880F0D}"/>
              </a:ext>
            </a:extLst>
          </p:cNvPr>
          <p:cNvSpPr>
            <a:spLocks noGrp="1"/>
          </p:cNvSpPr>
          <p:nvPr/>
        </p:nvSpPr>
        <p:spPr>
          <a:xfrm>
            <a:off x="768096" y="5440680"/>
            <a:ext cx="106527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Entregue sus respuestas al salir. Se usarán para decidir el repaso de la próxima sesión.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5935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04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ACF64685-1DFA-46DE-8432-77D4D4017040}"/>
              </a:ext>
            </a:extLst>
          </p:cNvPr>
          <p:cNvSpPr>
            <a:spLocks noGrp="1"/>
          </p:cNvSpPr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1E293B"/>
                </a:solidFill>
                <a:latin typeface="Montserrat"/>
                <a:ea typeface="Montserrat"/>
                <a:cs typeface="Montserrat"/>
              </a:rPr>
              <a:t>Trabajo independiente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51B95179-EBD5-445D-919F-B1BFB9CE1276}"/>
              </a:ext>
            </a:extLst>
          </p:cNvPr>
          <p:cNvSpPr>
            <a:spLocks noGrp="1"/>
          </p:cNvSpPr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91BA3D82-DD8A-4CC0-ABFE-DB1E5796D1F5}"/>
              </a:ext>
            </a:extLst>
          </p:cNvPr>
          <p:cNvSpPr>
            <a:spLocks noGrp="1"/>
          </p:cNvSpPr>
          <p:nvPr/>
        </p:nvSpPr>
        <p:spPr>
          <a:xfrm>
            <a:off x="771525" y="1685925"/>
            <a:ext cx="1064895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475569"/>
                </a:solidFill>
                <a:latin typeface="Roboto"/>
                <a:ea typeface="Roboto"/>
                <a:cs typeface="Roboto"/>
              </a:rPr>
              <a:t>Para consolidar proposiciones, conectivas y tablas de verdad.</a:t>
            </a:r>
            <a:endParaRPr/>
          </a:p>
        </p:txBody>
      </p:sp>
      <p:sp>
        <p:nvSpPr>
          <p:cNvPr id="109" name="Google Shape;107;p14">
            <a:extLst>
              <a:ext uri="{FF2B5EF4-FFF2-40B4-BE49-F238E27FC236}">
                <a16:creationId xmlns:a16="http://schemas.microsoft.com/office/drawing/2014/main" id="{99C1B3C3-030E-4E0F-8DAD-99CFD60F8091}"/>
              </a:ext>
            </a:extLst>
          </p:cNvPr>
          <p:cNvSpPr>
            <a:spLocks noGrp="1"/>
          </p:cNvSpPr>
          <p:nvPr/>
        </p:nvSpPr>
        <p:spPr>
          <a:xfrm>
            <a:off x="768096" y="2377440"/>
            <a:ext cx="10652760" cy="372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spcAft>
                <a:spcPts val="2000"/>
              </a:spcAft>
              <a:buNone/>
              <a:defRPr sz="1350"/>
            </a:pPr>
            <a:r>
              <a:rPr sz="2400" b="0" i="0" u="none" cap="none" dirty="0">
                <a:latin typeface="Roboto"/>
                <a:ea typeface="Roboto"/>
                <a:cs typeface="Roboto"/>
              </a:rPr>
              <a:t>1. Lea las </a:t>
            </a:r>
            <a:r>
              <a:rPr sz="2400" b="0" i="0" u="none" cap="none" dirty="0" err="1">
                <a:latin typeface="Roboto"/>
                <a:ea typeface="Roboto"/>
                <a:cs typeface="Roboto"/>
              </a:rPr>
              <a:t>secciones</a:t>
            </a:r>
            <a:r>
              <a:rPr sz="2400" b="0" i="0" u="none" cap="none" dirty="0">
                <a:latin typeface="Roboto"/>
                <a:ea typeface="Roboto"/>
                <a:cs typeface="Roboto"/>
              </a:rPr>
              <a:t> 1.1 y 1.2 de Johnsonbaugh, </a:t>
            </a:r>
            <a:r>
              <a:rPr sz="2400" b="0" i="0" u="none" cap="none" dirty="0" err="1">
                <a:latin typeface="Roboto"/>
                <a:ea typeface="Roboto"/>
                <a:cs typeface="Roboto"/>
              </a:rPr>
              <a:t>Matemáticas</a:t>
            </a:r>
            <a:r>
              <a:rPr sz="2400" b="0" i="0" u="none" cap="none" dirty="0">
                <a:latin typeface="Roboto"/>
                <a:ea typeface="Roboto"/>
                <a:cs typeface="Roboto"/>
              </a:rPr>
              <a:t> </a:t>
            </a:r>
            <a:r>
              <a:rPr sz="2400" b="0" i="0" u="none" cap="none" dirty="0" err="1">
                <a:latin typeface="Roboto"/>
                <a:ea typeface="Roboto"/>
                <a:cs typeface="Roboto"/>
              </a:rPr>
              <a:t>discretas</a:t>
            </a:r>
            <a:r>
              <a:rPr sz="2400" b="0" i="0" u="none" cap="none" dirty="0">
                <a:latin typeface="Roboto"/>
                <a:ea typeface="Roboto"/>
                <a:cs typeface="Roboto"/>
              </a:rPr>
              <a:t> (6.ª ed.).</a:t>
            </a:r>
          </a:p>
          <a:p>
            <a:pPr>
              <a:spcAft>
                <a:spcPts val="2000"/>
              </a:spcAft>
              <a:buNone/>
              <a:defRPr sz="1350"/>
            </a:pPr>
            <a:r>
              <a:rPr sz="2400" b="0" i="0" u="none" cap="none" dirty="0">
                <a:latin typeface="Roboto"/>
                <a:ea typeface="Roboto"/>
                <a:cs typeface="Roboto"/>
              </a:rPr>
              <a:t>2. Escriba cuatro </a:t>
            </a:r>
            <a:r>
              <a:rPr sz="2400" b="0" i="0" u="none" cap="none" dirty="0" err="1">
                <a:latin typeface="Roboto"/>
                <a:ea typeface="Roboto"/>
                <a:cs typeface="Roboto"/>
              </a:rPr>
              <a:t>enunciados</a:t>
            </a:r>
            <a:r>
              <a:rPr sz="2400" b="0" i="0" u="none" cap="none" dirty="0">
                <a:latin typeface="Roboto"/>
                <a:ea typeface="Roboto"/>
                <a:cs typeface="Roboto"/>
              </a:rPr>
              <a:t> </a:t>
            </a:r>
            <a:r>
              <a:rPr sz="2400" b="0" i="0" u="none" cap="none" dirty="0" err="1">
                <a:latin typeface="Roboto"/>
                <a:ea typeface="Roboto"/>
                <a:cs typeface="Roboto"/>
              </a:rPr>
              <a:t>usando</a:t>
            </a:r>
            <a:r>
              <a:rPr sz="2400" b="0" i="0" u="none" cap="none" dirty="0">
                <a:latin typeface="Roboto"/>
                <a:ea typeface="Roboto"/>
                <a:cs typeface="Roboto"/>
              </a:rPr>
              <a:t> «</a:t>
            </a:r>
            <a:r>
              <a:rPr sz="2400" b="0" i="0" u="none" cap="none" dirty="0" err="1">
                <a:latin typeface="Roboto"/>
                <a:ea typeface="Roboto"/>
                <a:cs typeface="Roboto"/>
              </a:rPr>
              <a:t>pero</a:t>
            </a:r>
            <a:r>
              <a:rPr sz="2400" b="0" i="0" u="none" cap="none" dirty="0">
                <a:latin typeface="Roboto"/>
                <a:ea typeface="Roboto"/>
                <a:cs typeface="Roboto"/>
              </a:rPr>
              <a:t>», «</a:t>
            </a:r>
            <a:r>
              <a:rPr sz="2400" b="0" i="0" u="none" cap="none" dirty="0" err="1">
                <a:latin typeface="Roboto"/>
                <a:ea typeface="Roboto"/>
                <a:cs typeface="Roboto"/>
              </a:rPr>
              <a:t>ni</a:t>
            </a:r>
            <a:r>
              <a:rPr sz="2400" b="0" i="0" u="none" cap="none" dirty="0">
                <a:latin typeface="Roboto"/>
                <a:ea typeface="Roboto"/>
                <a:cs typeface="Roboto"/>
              </a:rPr>
              <a:t>… </a:t>
            </a:r>
            <a:r>
              <a:rPr sz="2400" b="0" i="0" u="none" cap="none" dirty="0" err="1">
                <a:latin typeface="Roboto"/>
                <a:ea typeface="Roboto"/>
                <a:cs typeface="Roboto"/>
              </a:rPr>
              <a:t>ni</a:t>
            </a:r>
            <a:r>
              <a:rPr sz="2400" b="0" i="0" u="none" cap="none" dirty="0">
                <a:latin typeface="Roboto"/>
                <a:ea typeface="Roboto"/>
                <a:cs typeface="Roboto"/>
              </a:rPr>
              <a:t>…», «solo </a:t>
            </a:r>
            <a:r>
              <a:rPr sz="2400" b="0" i="0" u="none" cap="none" dirty="0" err="1">
                <a:latin typeface="Roboto"/>
                <a:ea typeface="Roboto"/>
                <a:cs typeface="Roboto"/>
              </a:rPr>
              <a:t>si</a:t>
            </a:r>
            <a:r>
              <a:rPr sz="2400" b="0" i="0" u="none" cap="none" dirty="0">
                <a:latin typeface="Roboto"/>
                <a:ea typeface="Roboto"/>
                <a:cs typeface="Roboto"/>
              </a:rPr>
              <a:t>» y «a </a:t>
            </a:r>
            <a:r>
              <a:rPr sz="2400" b="0" i="0" u="none" cap="none" dirty="0" err="1">
                <a:latin typeface="Roboto"/>
                <a:ea typeface="Roboto"/>
                <a:cs typeface="Roboto"/>
              </a:rPr>
              <a:t>menos</a:t>
            </a:r>
            <a:r>
              <a:rPr sz="2400" b="0" i="0" u="none" cap="none" dirty="0">
                <a:latin typeface="Roboto"/>
                <a:ea typeface="Roboto"/>
                <a:cs typeface="Roboto"/>
              </a:rPr>
              <a:t> </a:t>
            </a:r>
            <a:r>
              <a:rPr sz="2400" b="0" i="0" u="none" cap="none" dirty="0" err="1">
                <a:latin typeface="Roboto"/>
                <a:ea typeface="Roboto"/>
                <a:cs typeface="Roboto"/>
              </a:rPr>
              <a:t>que</a:t>
            </a:r>
            <a:r>
              <a:rPr sz="2400" b="0" i="0" u="none" cap="none" dirty="0">
                <a:latin typeface="Roboto"/>
                <a:ea typeface="Roboto"/>
                <a:cs typeface="Roboto"/>
              </a:rPr>
              <a:t>»; </a:t>
            </a:r>
            <a:r>
              <a:rPr sz="2400" b="0" i="0" u="none" cap="none" dirty="0" err="1">
                <a:latin typeface="Roboto"/>
                <a:ea typeface="Roboto"/>
                <a:cs typeface="Roboto"/>
              </a:rPr>
              <a:t>defina</a:t>
            </a:r>
            <a:r>
              <a:rPr sz="2400" b="0" i="0" u="none" cap="none" dirty="0">
                <a:latin typeface="Roboto"/>
                <a:ea typeface="Roboto"/>
                <a:cs typeface="Roboto"/>
              </a:rPr>
              <a:t> sus </a:t>
            </a:r>
            <a:r>
              <a:rPr sz="2400" b="0" i="0" u="none" cap="none" dirty="0" err="1">
                <a:latin typeface="Roboto"/>
                <a:ea typeface="Roboto"/>
                <a:cs typeface="Roboto"/>
              </a:rPr>
              <a:t>proposiciones</a:t>
            </a:r>
            <a:r>
              <a:rPr sz="2400" b="0" i="0" u="none" cap="none" dirty="0">
                <a:latin typeface="Roboto"/>
                <a:ea typeface="Roboto"/>
                <a:cs typeface="Roboto"/>
              </a:rPr>
              <a:t> simples y </a:t>
            </a:r>
            <a:r>
              <a:rPr sz="2400" b="0" i="0" u="none" cap="none" dirty="0" err="1">
                <a:latin typeface="Roboto"/>
                <a:ea typeface="Roboto"/>
                <a:cs typeface="Roboto"/>
              </a:rPr>
              <a:t>simbolícelos</a:t>
            </a:r>
            <a:r>
              <a:rPr sz="2400" b="0" i="0" u="none" cap="none" dirty="0">
                <a:latin typeface="Roboto"/>
                <a:ea typeface="Roboto"/>
                <a:cs typeface="Roboto"/>
              </a:rPr>
              <a:t>.</a:t>
            </a:r>
          </a:p>
          <a:p>
            <a:pPr lvl="0"/>
            <a:r>
              <a:rPr sz="2400" b="0" i="0" u="none" cap="none" dirty="0">
                <a:latin typeface="Roboto"/>
                <a:ea typeface="Roboto"/>
                <a:cs typeface="Roboto"/>
              </a:rPr>
              <a:t>3. </a:t>
            </a:r>
            <a:r>
              <a:rPr lang="es-CO" sz="2400" dirty="0"/>
              <a:t>Compare las siguientes fórmulas construyendo una sola tabla de verdad: </a:t>
            </a:r>
          </a:p>
          <a:p>
            <a:r>
              <a:rPr lang="es-CO" sz="2400" dirty="0"/>
              <a:t>A=¬(</a:t>
            </a:r>
            <a:r>
              <a:rPr lang="es-CO" sz="2400" dirty="0" err="1"/>
              <a:t>p∧q</a:t>
            </a:r>
            <a:r>
              <a:rPr lang="es-CO" sz="2400" dirty="0"/>
              <a:t>)   B=¬p∧¬q</a:t>
            </a:r>
          </a:p>
          <a:p>
            <a:endParaRPr sz="2400" b="0" i="0" u="none" cap="none" dirty="0">
              <a:latin typeface="Roboto"/>
              <a:ea typeface="Roboto"/>
              <a:cs typeface="Roboto"/>
            </a:endParaRPr>
          </a:p>
          <a:p>
            <a:pPr>
              <a:spcAft>
                <a:spcPts val="2000"/>
              </a:spcAft>
              <a:buNone/>
              <a:defRPr sz="1350"/>
            </a:pPr>
            <a:r>
              <a:rPr sz="2400" b="0" i="0" u="none" cap="none" dirty="0">
                <a:latin typeface="Roboto"/>
                <a:ea typeface="Roboto"/>
                <a:cs typeface="Roboto"/>
              </a:rPr>
              <a:t>4. </a:t>
            </a:r>
            <a:r>
              <a:rPr sz="2400" b="0" i="0" u="none" cap="none" dirty="0" err="1">
                <a:latin typeface="Roboto"/>
                <a:ea typeface="Roboto"/>
                <a:cs typeface="Roboto"/>
              </a:rPr>
              <a:t>Construya</a:t>
            </a:r>
            <a:r>
              <a:rPr sz="2400" b="0" i="0" u="none" cap="none" dirty="0">
                <a:latin typeface="Roboto"/>
                <a:ea typeface="Roboto"/>
                <a:cs typeface="Roboto"/>
              </a:rPr>
              <a:t> la </a:t>
            </a:r>
            <a:r>
              <a:rPr sz="2400" b="0" i="0" u="none" cap="none" dirty="0" err="1">
                <a:latin typeface="Roboto"/>
                <a:ea typeface="Roboto"/>
                <a:cs typeface="Roboto"/>
              </a:rPr>
              <a:t>tabla</a:t>
            </a:r>
            <a:r>
              <a:rPr sz="2400" b="0" i="0" u="none" cap="none" dirty="0">
                <a:latin typeface="Roboto"/>
                <a:ea typeface="Roboto"/>
                <a:cs typeface="Roboto"/>
              </a:rPr>
              <a:t> de </a:t>
            </a:r>
            <a:r>
              <a:rPr sz="2400" b="0" i="0" u="none" cap="none" dirty="0" err="1">
                <a:latin typeface="Roboto"/>
                <a:ea typeface="Roboto"/>
                <a:cs typeface="Roboto"/>
              </a:rPr>
              <a:t>verdad</a:t>
            </a:r>
            <a:r>
              <a:rPr sz="2400" b="0" i="0" u="none" cap="none" dirty="0">
                <a:latin typeface="Roboto"/>
                <a:ea typeface="Roboto"/>
                <a:cs typeface="Roboto"/>
              </a:rPr>
              <a:t> de </a:t>
            </a:r>
            <a:r>
              <a:rPr lang="es-CO" sz="2400" b="0" i="0" u="none" cap="none" dirty="0">
                <a:latin typeface="Roboto"/>
                <a:ea typeface="Roboto"/>
                <a:cs typeface="Roboto"/>
              </a:rPr>
              <a:t>(</a:t>
            </a:r>
            <a:r>
              <a:rPr lang="es-CO" sz="2400" b="0" i="0" u="none" cap="none" dirty="0" err="1">
                <a:latin typeface="Roboto"/>
                <a:ea typeface="Roboto"/>
                <a:cs typeface="Roboto"/>
              </a:rPr>
              <a:t>p∧q</a:t>
            </a:r>
            <a:r>
              <a:rPr lang="es-CO" sz="2400" b="0" i="0" u="none" cap="none" dirty="0">
                <a:latin typeface="Roboto"/>
                <a:ea typeface="Roboto"/>
                <a:cs typeface="Roboto"/>
              </a:rPr>
              <a:t>)→r</a:t>
            </a:r>
            <a:endParaRPr sz="2400" b="0" i="0" u="none" cap="none" dirty="0"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4805106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60B8AF-6022-4E5B-06B9-24B4B78C8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Sesión 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1AB1FB-E3DC-2D26-6B2C-08A25A3B7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Matemáticas para la informática</a:t>
            </a:r>
          </a:p>
        </p:txBody>
      </p:sp>
      <p:pic>
        <p:nvPicPr>
          <p:cNvPr id="17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8" name="Imagen 5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85BB1BB9-F4AA-2D61-3C1B-74A58B29D078}"/>
              </a:ext>
            </a:extLst>
          </p:cNvPr>
          <p:cNvSpPr>
            <a:spLocks noGrp="1"/>
          </p:cNvSpPr>
          <p:nvPr/>
        </p:nvSpPr>
        <p:spPr>
          <a:xfrm>
            <a:off x="1330467" y="3166712"/>
            <a:ext cx="9531065" cy="1737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chemeClr val="lt1"/>
              </a:buClr>
              <a:buSzPts val="5400"/>
              <a:buNone/>
              <a:defRPr sz="2775"/>
            </a:pPr>
            <a:r>
              <a:rPr sz="2775" b="1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RECONOCER  •  CONECTAR  •  VERIFICAR</a:t>
            </a:r>
            <a:endParaRPr sz="5400" b="1">
              <a:latin typeface="Montserrat"/>
              <a:ea typeface="Montserrat"/>
              <a:cs typeface="Montserrat"/>
            </a:endParaRPr>
          </a:p>
        </p:txBody>
      </p:sp>
      <p:pic>
        <p:nvPicPr>
          <p:cNvPr id="20" name="Imagen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7410236" y="1629116"/>
            <a:ext cx="913016" cy="474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053338"/>
      </p:ext>
    </p:extLst>
  </p:cSld>
  <p:clrMapOvr>
    <a:masterClrMapping/>
  </p:clrMapOvr>
</p:sld>
</file>

<file path=ppt/theme/theme1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</TotalTime>
  <Words>4122</Words>
  <Application>Microsoft Office PowerPoint</Application>
  <DocSecurity>0</DocSecurity>
  <PresentationFormat>Panorámica</PresentationFormat>
  <Paragraphs>554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25</vt:i4>
      </vt:variant>
    </vt:vector>
  </HeadingPairs>
  <TitlesOfParts>
    <vt:vector size="35" baseType="lpstr">
      <vt:lpstr>Arial</vt:lpstr>
      <vt:lpstr>Calibri</vt:lpstr>
      <vt:lpstr>Calibri Light</vt:lpstr>
      <vt:lpstr>Courier New</vt:lpstr>
      <vt:lpstr>Inter</vt:lpstr>
      <vt:lpstr>Inter SemiBold</vt:lpstr>
      <vt:lpstr>Montserrat</vt:lpstr>
      <vt:lpstr>Roboto</vt:lpstr>
      <vt:lpstr>3_Tema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Sesión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SEBASTIAN MONTOYA VILLADA</cp:lastModifiedBy>
  <cp:revision>2</cp:revision>
  <dcterms:created xsi:type="dcterms:W3CDTF">2026-08-12T16:49:57Z</dcterms:created>
  <dcterms:modified xsi:type="dcterms:W3CDTF">2026-08-13T14:52:29Z</dcterms:modified>
</cp:coreProperties>
</file>