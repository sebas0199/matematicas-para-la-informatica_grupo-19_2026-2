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3" r:id="rId18"/>
    <p:sldId id="274" r:id="rId19"/>
    <p:sldId id="275" r:id="rId20"/>
    <p:sldId id="459" r:id="rId21"/>
    <p:sldId id="279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Apertura: conecte la sesión con la formalización y las tablas construidas en la sesión 2.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Ruta: anuncie tres productos observables: clasificar, comprobar y simplificar.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Compromiso_Academico_Matematica_para_la_Informatica_2026-II_v5.docx: RA1 and week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Johnsonbaugh, Richard. Matemáticas discretas, 6.ª ed., sections 1.2, 1.3 and 1.5 (course guide supplied by the user).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Repaso: pida reconocer el único caso falso del condicional antes de leer la tabla completa.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Clasificación: enfatice que solo se observa la última columna de la fórmula completa.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Diagnóstico: respuestas esperadas T, C, Ctg, T, C y T; solicite una justificación breve.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Equivalencia: aclare que ≡ relaciona fórmulas; no es una conectiva dentro de la fórmula.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Verificación: construya ambas columnas finales en paralelo y compare fila por fila.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Ejemplo: compare únicamente las dos columnas finales y verbalice qué significa que coincidan.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Leyes básicas: presente las leyes como equivalencias ya verificadas, no como reglas para memorizar sin sentido.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Leyes estructurales: verbalice De Morgan y compruebe una equivalencia con una tabla de verdad.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Condicionales: contraste la contrapositiva válida con la recíproca, que no es equivalente.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Método: modele el orden de trabajo; eliminar condicionales suele desbloquear los pasos posteriores.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guiado: pida que anticipen la ley de cada fila antes de mostrar la justificación.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Práctica: asigne dos ejercicios por pareja y exija el nombre de la ley en cada transformación.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Retroalimentación: acepte caminos alternativos si cada paso conserva equivalencia.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de tabla: resalte que una equivalencia exige coincidencia en todas las combinaciones.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resuelto: solicite anticipar la ley de la siguiente fila antes de mostrarla.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Errores comunes: use una asignación de valores para refutar el paso incorrecto.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Cierre: sintetice la progresión en tres verbos: clasificar, equivaler y simplificar.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3.</a:t>
            </a:r>
          </a:p>
          <a:p>
            <a:r>
              <a:t>- Johnsonbaugh, Richard. Matemáticas discretas, 6.ª ed., sections 1.2, 1.3 and 1.5 (course guide supplied by the user).</a:t>
            </a:r>
          </a:p>
          <a:p>
            <a:r>
              <a:t>- Clase 3 - Tablas de verdad, leyes y simplificacion.pptx: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103DF-AB1D-43F5-8B4C-6BA24E77A1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B63867-AB0F-48E9-B78E-B70B6D16B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553D22-56E1-49C4-879A-D13B85C354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C30E44-0792-4E53-8519-A80BA820D1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8BF76-E4E6-4EE5-8561-67E21D6D0D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59FBC-FA2C-4918-96E9-70A33EA5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EA5E93-5A9B-406E-B642-E56568FF7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A0763A-81E5-4EE2-B0BC-E2AA4C29B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0489D1-6729-40F7-AC6C-2F15540763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5355E4-4DFC-47FA-B1D7-C74C4E173B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8FF3B-15F0-45D1-88B5-74A79364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ACFB2-B5EC-4136-9EF0-7871A878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913CC-12EA-45C8-8666-A7323BEE65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950F06-4707-4717-8315-F9C85FF9B6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89A7A-1B7C-47D0-B35C-AEA6F43E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C40F0-3729-430A-8CBE-EAF96C41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47579C-B87F-474A-ADB6-105835D3E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844C8F-0EC3-4FD2-AC4A-633DF0FDB77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041927-F886-499E-A94A-FAB84B4789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F9731E-1EF3-47C9-903D-6C592F103F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1B51C5-95D1-4D39-9367-DA903B291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347E9-DB46-45DB-AC82-D954D809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E9BDF7-D97D-432B-B892-7A3AC9952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3BD9A3-A5E5-4C65-B5C0-A179AF46982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A1CA5D-805C-40F5-82B4-1AF10785E38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E93408-5102-48D3-994D-64F2617B082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651F402-1169-491E-8FC9-B93369CA85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827DCE-43A2-45E7-B5D4-C74619CF8C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8344D7-51CE-4B15-B53E-37473D6C8A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D3AD1-C0FB-4B16-B4DB-E496F4D5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38A5D2-2FA1-47BD-BA08-FFCEBDF246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AFBA03-E91D-4456-A6FC-C1002C87F4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1B49FA-D976-46A0-A6AA-9D088D511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E2D8B7-6491-4F9C-884A-68C58ED7D9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A6DA79-DD2C-46BB-A3B5-96A6AC7993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CFAD0F-C4B7-4170-A244-4A14BB9C49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EBFBF-744F-49B7-A15C-C6869CCD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7E01E-E79B-41FC-9A76-4EADA098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B73E59-AAF7-4F91-AAE7-AA0E23CCF6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19EC6F-7BCF-4CE4-8329-5FCDB1DEFB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7321E6-AFF6-49DD-A3BF-3F6093A747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078DB8-0692-4459-A07C-A979FB5D4A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819D9-2F08-40E4-8064-408A9A4D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237425-7C9D-4B84-81A8-70E68AF5E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908134-665A-4A95-973C-2DC3BB76C8B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408B1-C5D0-4FB9-A443-ADED992155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EF466B-ECB5-4777-97E2-B512C18A5C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9BE8A1-1B2A-47E4-BFB7-D4A9E900EB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5294B-D731-4605-9DF3-AE8FED6D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96E3B6-2A4E-4DD7-9628-285F5C507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BB8722-EC85-404A-9D70-DA9012ABBA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59836B-3660-4FDE-A6A6-B97048B13C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B0431-6030-4684-B9CF-DEEC8CF72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033F4D-EF6C-47BE-828A-81FE5C2B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B43822-7C51-4FA6-8FB3-0E34EEDDB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3F458-CA80-417C-A46F-FF8B4A64B5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C9FDB-64A6-46E5-8917-B0224E781B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CE8226-637B-47F8-990E-0A01B9368F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BD0B7-2B7E-4405-9991-023CC072D0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F8868C-EC08-4D00-B36F-B0B51F6CA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13F34D-E5C1-4EF3-B052-B7983A50D3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698C6B-9252-473E-AE8B-4562B7CE26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99D1C-2176-4065-922A-FDFC4E22D5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8FB85-5B95-4751-AEB8-7391DCD0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CD424-FCF2-4D76-82FB-BA10FA21A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B2B5C-2E12-49A0-BC49-0375369AB8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86B3D3-6D2E-457D-B0B8-E59661B1D6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869D11-86C5-4770-8165-825B3A9528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92B97-6F8F-4C9C-A33D-37CFE7A7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8AD9EE-F176-4356-B823-24D44FE97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4CDF0-3D05-489A-B2D6-DC7A3BB343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827FDF-1E76-411C-8631-829161E96C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4C44A-6DA6-48E2-9301-1271F8B64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1E8A6-9269-43BD-87D6-87AD3094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7134FB-4F8D-4060-8078-6894948E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E12BD2-5F81-4FFE-84B4-4F9D7CD901A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60765C-3272-4C54-B364-E03706FC87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960DF3-11E5-40C7-AECB-5205F407D8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FB9C83-6B70-428A-ACC0-4EC4887A0C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EA6BB-E7F5-4653-A4D3-6CF555A5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C1DA16-3AC6-4740-B3DD-1DC2AF604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6EF803-E9EA-4C37-8098-F2F2141D1F4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932463-E9A2-479F-B772-1D0F0759C1B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6D1358-262E-4B19-BF3C-6BFE78867A4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275A9D-E5E6-4957-9629-2564B7BCAA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A5A7AF-BF1E-4AC1-B842-651E804600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879D45-A67C-4539-9FB9-C11C096B27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137D9-99B5-4B3E-9C17-7D9D016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C9C343-F3A5-4038-AAC3-323B7F5837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47C161-DB0D-47E1-9F62-2897E1893B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200D74-4699-4171-9463-AC1CA8F548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7D0E70-0BE6-4256-9C1A-C6A57F1042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8730F4-373A-482A-A1E0-6439BC5704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0CF014-AD31-4DD5-8886-34FD0856F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F257A-3BDF-400B-9DCA-E103E689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F4A5C-1F83-47FE-8FF5-CED0B8B3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B29811-16EC-45BD-89A7-662E675534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EA5990-05DE-495D-9E1A-B48CB6D2C4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FFD626-5FAE-4B19-8DD2-4F02F81DA5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052FC8-B5B5-495B-B6C8-539B09F03C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CC4F9-CD35-4B55-A48A-91E84903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FF6218-F551-4A34-AA1D-E28932624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A75E91-4B88-44E1-A518-2C90887EC8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17FD1D-2AAD-4734-967E-F51DFFB0FD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C3B2A4-989A-4B17-9A8A-C5C0DED266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805399-59B2-4FBC-9BF9-967F466A24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B8FE0-A7ED-4547-A856-22094209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D15613-798D-4CDF-AE4A-49164D085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A35B2-98C4-48A7-B0A8-8F3C8BCCB8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5A6B66-1B00-4D2E-8DD1-280F352ED6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2EF757-5AB5-4F02-8083-ABECFEFB63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99A7F0-B3DB-472C-B9B1-E1B9F56C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122836-8089-44EA-9C0A-4AAD1805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D4169-A3CC-4A0E-B8FF-00911B0476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3715B8-CCF0-4646-92D2-0059C364AA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E8FAD6-2246-4EA3-9CC2-0A02CBE64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E144AA-5D3C-48F0-B436-8074C834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D74A88-ECC9-48F6-8EDE-228C37E4C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54752-E79B-4673-BE09-CF3A27662EB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73ACDF-F804-4D0D-90DE-661E317878C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D1FDF0-BB01-4ABA-8D71-0C738FFF7A0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89A882-FF09-4685-97E2-8FA47D02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914C55-96A8-4AC0-B8E9-632F75589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E4CC4-EEB1-4C42-AC14-6DCEB99AE4D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14/08/2026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CE891F-B1D9-4219-B6D6-A7EB0462021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E3911B-7E75-419A-BFB7-7FABB090C61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Sesión 3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200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97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6AF3FF09-B3AB-47AB-8803-A42298C7BA0D}"/>
              </a:ext>
            </a:extLst>
          </p:cNvPr>
          <p:cNvSpPr>
            <a:spLocks noGrp="1"/>
          </p:cNvSpPr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Inter"/>
                <a:ea typeface="Inter"/>
                <a:cs typeface="Inter"/>
              </a:rPr>
              <a:t>Contenido</a:t>
            </a:r>
            <a:endParaRPr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E8787EEE-6A49-48F2-8027-0D013D01C61B}"/>
              </a:ext>
            </a:extLst>
          </p:cNvPr>
          <p:cNvSpPr>
            <a:spLocks noGrp="1"/>
          </p:cNvSpPr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AGENDA</a:t>
            </a:r>
            <a:endParaRPr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587E30D0-B39D-4221-8B03-57BBBE386009}"/>
              </a:ext>
            </a:extLst>
          </p:cNvPr>
          <p:cNvSpPr>
            <a:spLocks noGrp="1"/>
          </p:cNvSpPr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03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E6FFB479-465E-4D94-A9F2-1A8DDDE61104}"/>
              </a:ext>
            </a:extLst>
          </p:cNvPr>
          <p:cNvSpPr>
            <a:spLocks noGrp="1"/>
          </p:cNvSpPr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Clasificación mediante tablas de verdad</a:t>
            </a:r>
            <a:endParaRPr sz="240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359DD79F-F307-47A2-8EBD-456FE263CB9C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3C1F7E12-0DD7-4B7E-8147-964DD5196F31}"/>
              </a:ext>
            </a:extLst>
          </p:cNvPr>
          <p:cNvSpPr>
            <a:spLocks noGrp="1"/>
          </p:cNvSpPr>
          <p:nvPr/>
        </p:nvSpPr>
        <p:spPr>
          <a:xfrm>
            <a:off x="1071562" y="3583930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Equivalencia lógica y leyes fundamentales</a:t>
            </a:r>
            <a:endParaRPr sz="240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E9F8DF5-F806-4E61-908A-828C90463DD8}"/>
              </a:ext>
            </a:extLst>
          </p:cNvPr>
          <p:cNvSpPr>
            <a:spLocks noGrp="1"/>
          </p:cNvSpPr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B64BA496-4AEA-4B3D-A1CB-B3B9C0223687}"/>
              </a:ext>
            </a:extLst>
          </p:cNvPr>
          <p:cNvSpPr>
            <a:spLocks noGrp="1"/>
          </p:cNvSpPr>
          <p:nvPr/>
        </p:nvSpPr>
        <p:spPr>
          <a:xfrm>
            <a:off x="1071562" y="4331643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Simplificación de proposiciones compuestas</a:t>
            </a:r>
            <a:endParaRPr sz="2400"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037FBBC-A4E7-46B3-ADE9-EF70CB7A7934}"/>
              </a:ext>
            </a:extLst>
          </p:cNvPr>
          <p:cNvSpPr>
            <a:spLocks noGrp="1"/>
          </p:cNvSpPr>
          <p:nvPr/>
        </p:nvSpPr>
        <p:spPr>
          <a:xfrm>
            <a:off x="6634163" y="2831455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Verificación de equivalencias con tablas de verdad</a:t>
            </a:r>
            <a:endParaRPr sz="240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B5ABC989-4A35-49AD-9AEA-668995665CD2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29F96510-8878-47DB-A8C8-4A863AE00F62}"/>
              </a:ext>
            </a:extLst>
          </p:cNvPr>
          <p:cNvSpPr>
            <a:spLocks noGrp="1"/>
          </p:cNvSpPr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Práctica guiada de leyes y simplificación</a:t>
            </a:r>
            <a:endParaRPr sz="2400"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41480E2E-D9B0-4B3C-8D6B-1AB7ECDFC745}"/>
              </a:ext>
            </a:extLst>
          </p:cNvPr>
          <p:cNvSpPr>
            <a:spLocks noGrp="1"/>
          </p:cNvSpPr>
          <p:nvPr/>
        </p:nvSpPr>
        <p:spPr>
          <a:xfrm>
            <a:off x="6362222" y="5133202"/>
            <a:ext cx="442912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Objetivo: clasificar fórmulas, comprobar equivalencias y simplificar proposiciones compuestas justificando cada transformación.</a:t>
            </a:r>
            <a:endParaRPr sz="2400"/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2E6DF0ED-4728-40F9-B325-8A16C9146879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AE6E4996-B848-4454-945F-238FA703FA07}"/>
              </a:ext>
            </a:extLst>
          </p:cNvPr>
          <p:cNvSpPr>
            <a:spLocks noGrp="1"/>
          </p:cNvSpPr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4D4B654A-6503-4333-B0AA-86CF43F6AF8C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6" name="Google Shape;114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7" name="Google Shape;115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8" name="Google Shape;116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9" name="Google Shape;117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40" name="Google Shape;118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039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1C6C50C0-C299-41E2-979F-47E1E498A342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Repaso: las cinco conectivas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E8368F8-B5DB-4ACB-942F-FD59CEDF85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F63D64C-E209-4CB0-9507-6C312CEC5F0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Punto de partida: toda tabla y toda ley de hoy se apoya en estas cinco definiciones.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4" cy="2651760"/>
        </p:xfrm>
        <a:graphic>
          <a:graphicData uri="http://schemas.openxmlformats.org/drawingml/2006/table">
            <a:tbl>
              <a:tblPr/>
              <a:tblGrid>
                <a:gridCol w="1521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∧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∨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→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↔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6CB25B42-2F7B-4566-8657-4E4941C6447D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Con dos proposiciones simples siempre hay 4 combinaciones posibles. En general, con n proposiciones la tabla tiene 2ⁿ filas.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465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5472A488-A20D-46FD-8AC1-3986140A3868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Tautología, contradicción y contingencia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D000C29-E075-4CAB-894D-455605AA7A1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F920AF54-60A9-4D30-A558-A99EF307F76E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Toda fórmula bien formada cae en uno de estos tres tipos, según su última columna.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377440"/>
          <a:ext cx="6583679" cy="2286000"/>
        </p:xfrm>
        <a:graphic>
          <a:graphicData uri="http://schemas.openxmlformats.org/drawingml/2006/table">
            <a:tbl>
              <a:tblPr/>
              <a:tblGrid>
                <a:gridCol w="2238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Tipo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 última columna...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Tautología (T)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es V en todas las filas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¬p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Contradicción (C)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es F en todas las filas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¬p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Contingencia (Ctg)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tiene V y 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B57105D-5918-4335-98D2-1BD74746C530}"/>
              </a:ext>
            </a:extLst>
          </p:cNvPr>
          <p:cNvSpPr>
            <a:spLocks noGrp="1"/>
          </p:cNvSpPr>
          <p:nvPr/>
        </p:nvSpPr>
        <p:spPr>
          <a:xfrm>
            <a:off x="7680960" y="2514600"/>
            <a:ext cx="374903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Para clasificar una fórmula basta construir su tabla y mirar la última columna.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64E03E7-FB0F-4A4B-A144-B9EEEB20F7E0}"/>
              </a:ext>
            </a:extLst>
          </p:cNvPr>
          <p:cNvSpPr>
            <a:spLocks noGrp="1"/>
          </p:cNvSpPr>
          <p:nvPr/>
        </p:nvSpPr>
        <p:spPr>
          <a:xfrm>
            <a:off x="7680960" y="3749039"/>
            <a:ext cx="374903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mayoría de las fórmulas son contingencias. Las tautologías son las que interesan en las demostraciones: son verdaderas siempre.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82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5E16AE93-94EF-4820-820E-1B2103837E6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Activación: clasifique por la columna final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1197415-EDC1-4365-B6C9-E13729AC205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6C600865-CDBE-4848-BAE7-5542706BAFED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Anticipe el tipo de cada fórmula y justifique: tautología, contradicción o contingencia.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A036F1EC-2CBB-4FB0-9C3D-54F2984BA7A1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  p ∨ ¬p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  p ∧ ¬p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  p → q</a:t>
            </a: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B8932907-63FF-4EE7-80B2-3E8FEC6CB515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  (p ∧ q) → p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5.   p ↔ ¬p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6.   (p → q) ∨ (q → p)</a:t>
            </a:r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6C67925-0A03-4BE7-A018-242E1AB1948B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Compruebe sus predicciones con la última columna de una tabla de verdad.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569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294DCBB-6DBC-489F-A0E5-E4EA9974E20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Equivalencia lógica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67556AB-1FFC-4EEB-8884-C71DC73B36F1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48CE82BC-3DAA-4812-B4C3-EFEF53BD55F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Dos fórmulas son equivalentes si coinciden en todas las filas de su tabla de verdad.</a:t>
            </a:r>
            <a:endParaRPr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084A05C2-D6BB-4258-BC35-64AEC4FC213F}"/>
              </a:ext>
            </a:extLst>
          </p:cNvPr>
          <p:cNvSpPr>
            <a:spLocks noGrp="1"/>
          </p:cNvSpPr>
          <p:nvPr/>
        </p:nvSpPr>
        <p:spPr>
          <a:xfrm>
            <a:off x="768096" y="2514600"/>
            <a:ext cx="4663440" cy="105156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EC456018-9A30-4B27-88C7-ED3AD5DB509F}"/>
              </a:ext>
            </a:extLst>
          </p:cNvPr>
          <p:cNvSpPr>
            <a:spLocks noGrp="1"/>
          </p:cNvSpPr>
          <p:nvPr/>
        </p:nvSpPr>
        <p:spPr>
          <a:xfrm>
            <a:off x="1005840" y="27889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P  ≡  Q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F160CE4-D965-4671-8439-41A3AFE6B2FF}"/>
              </a:ext>
            </a:extLst>
          </p:cNvPr>
          <p:cNvSpPr>
            <a:spLocks noGrp="1"/>
          </p:cNvSpPr>
          <p:nvPr/>
        </p:nvSpPr>
        <p:spPr>
          <a:xfrm>
            <a:off x="5943600" y="25146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30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 lee: «P es lógicamente equivalente a Q».</a:t>
            </a:r>
          </a:p>
          <a:p>
            <a:pPr>
              <a:spcAft>
                <a:spcPts val="130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No es una conectiva más: es una relación entre dos fórmulas.</a:t>
            </a:r>
          </a:p>
          <a:p>
            <a:pPr>
              <a:spcAft>
                <a:spcPts val="130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 verifica comparando columna con columna.</a:t>
            </a:r>
          </a:p>
          <a:p>
            <a:pPr>
              <a:spcAft>
                <a:spcPts val="130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Basta una fila distinta para que no sean equivalentes.</a:t>
            </a:r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B7F7194A-A144-4370-BCC7-2AC3D4C857FA}"/>
              </a:ext>
            </a:extLst>
          </p:cNvPr>
          <p:cNvSpPr>
            <a:spLocks noGrp="1"/>
          </p:cNvSpPr>
          <p:nvPr/>
        </p:nvSpPr>
        <p:spPr>
          <a:xfrm>
            <a:off x="768096" y="3977639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Definición 1.2.10 del texto guía. Las equivalencias ya demostradas se convierten en leyes, y las leyes permiten transformar fórmulas sin volver a construir la tabla.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20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22FE8A3-188C-4DED-813E-793153D7BD92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Verificar una equivalencia con tabla de verdad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15C09C9C-F3DE-4C5A-AB88-8333864F00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B9D0973-7C7A-44E5-9F48-E3F9B8E1C6EE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Dos fórmulas son equivalentes si sus columnas finales coinciden fila por fila.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10652758" cy="2926080"/>
        </p:xfrm>
        <a:graphic>
          <a:graphicData uri="http://schemas.openxmlformats.org/drawingml/2006/table">
            <a:tbl>
              <a:tblPr/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Comprobación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1. Identificar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Liste las proposiciones simples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Cantidad: 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2. Enumerar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Construya las 2ⁿ combinaciones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Todas las filas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3. Calcular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Evalúe la primera fórmula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Columna final 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4. Comparar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Evalúe la segunda fórmula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Columna final B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5. Decidir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Compare A y B fila por fila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Iguales: A ≡ B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6BB8EA91-AD7C-4604-92B0-4E189935D185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las columnas difieren en una sola fila, las fórmulas no son equivalentes.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585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3E16B7D-0D6D-4E76-9BCB-2F000808210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Ejemplo: p → q equivale a ¬p ∨ q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9EBAD2C9-E832-4FA9-BD4B-A533D904424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CD1BADE-1A63-4A4B-BA20-76090A234EB8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«Hoy es lunes» · q: «Voy al colegio»</a:t>
            </a:r>
            <a:endParaRPr/>
          </a:p>
        </p:txBody>
      </p:sp>
      <p:graphicFrame>
        <p:nvGraphicFramePr>
          <p:cNvPr id="119" name="Google Shape;108;p14"/>
          <p:cNvGraphicFramePr/>
          <p:nvPr/>
        </p:nvGraphicFramePr>
        <p:xfrm>
          <a:off x="768096" y="2377440"/>
          <a:ext cx="7498075" cy="2651760"/>
        </p:xfrm>
        <a:graphic>
          <a:graphicData uri="http://schemas.openxmlformats.org/drawingml/2006/table">
            <a:tbl>
              <a:tblPr/>
              <a:tblGrid>
                <a:gridCol w="149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→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 ∨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F0596CF-70B4-4100-B902-808E8E94E2B5}"/>
              </a:ext>
            </a:extLst>
          </p:cNvPr>
          <p:cNvSpPr>
            <a:spLocks noGrp="1"/>
          </p:cNvSpPr>
          <p:nvPr/>
        </p:nvSpPr>
        <p:spPr>
          <a:xfrm>
            <a:off x="8503920" y="265176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Las columnas p → q y ¬p ∨ q coinciden en las cuatro filas: son lógicamente equivalentes.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2C5C27C-C66F-40A9-B316-378EBA3DFCAA}"/>
              </a:ext>
            </a:extLst>
          </p:cNvPr>
          <p:cNvSpPr>
            <a:spLocks noGrp="1"/>
          </p:cNvSpPr>
          <p:nvPr/>
        </p:nvSpPr>
        <p:spPr>
          <a:xfrm>
            <a:off x="768096" y="52578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 → q: «Si hoy es lunes, entonces voy al colegio».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FD0B465A-530C-4BCB-B9CE-1DF3A19D764E}"/>
              </a:ext>
            </a:extLst>
          </p:cNvPr>
          <p:cNvSpPr>
            <a:spLocks noGrp="1"/>
          </p:cNvSpPr>
          <p:nvPr/>
        </p:nvSpPr>
        <p:spPr>
          <a:xfrm>
            <a:off x="6126480" y="52578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¬p ∨ q: «No es lunes o voy al colegio».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52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22FE8A3-188C-4DED-813E-793153D7BD92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Leyes básicas de las proposiciones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15C09C9C-F3DE-4C5A-AB88-8333864F00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B9D0973-7C7A-44E5-9F48-E3F9B8E1C6EE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Cada ley es una equivalencia ya demostrada con tablas. V = tautología, F = contradicción.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10652758" cy="2926080"/>
        </p:xfrm>
        <a:graphic>
          <a:graphicData uri="http://schemas.openxmlformats.org/drawingml/2006/table">
            <a:tbl>
              <a:tblPr/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Ley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 la conjunción  ∧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 la disyunción  ∨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Identidad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V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F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Dominación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F  ≡  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V  ≡  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Idempotencia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p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p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Negación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¬p  ≡  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¬p  ≡  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Doble negación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¬(¬p)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¬(¬p)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6BB8EA91-AD7C-4604-92B0-4E189935D185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ley de negación con ∨ es el principio del tercero excluido; con ∧ es el principio de no contradicción.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585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303E606-8FA4-42F0-AB2F-F9EFFEB0C19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Leyes estructurales y De Morgan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B108373-B6F1-4A4C-B0F5-3C3D51F582F4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4C234C95-CD88-4839-80A1-F04C11FE9238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Permiten reordenar, reagrupar, distribuir y negar fórmulas compuestas.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10652759" cy="2926080"/>
        </p:xfrm>
        <a:graphic>
          <a:graphicData uri="http://schemas.openxmlformats.org/drawingml/2006/table">
            <a:tbl>
              <a:tblPr/>
              <a:tblGrid>
                <a:gridCol w="234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4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Ley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 la conjunción  ∧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 la disyunción  ∨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Conmutativa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q  ≡  q ∧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q  ≡  q ∨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Asociativa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(p ∧ q) ∧ r  ≡  p ∧ (q ∧ r)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(p ∨ q) ∨ r  ≡  p ∨ (q ∨ r)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Distributiva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(q ∨ r)  ≡  (p ∧ q) ∨ (p ∧ r)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(q ∧ r)  ≡  (p ∨ q) ∧ (p ∨ r)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 Morgan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¬(p ∧ q)  ≡  ¬p ∨ ¬q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¬(p ∨ q)  ≡  ¬p ∧ ¬q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Absorción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(p ∨ q)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(p ∧ q)  ≡ 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B1082E3-4B71-4AAD-B85C-E4240D5EE8EF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 Morgan transforma la negación de una conjunción en una disyunción de negaciones, y viceversa.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351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B75C9FC4-45EC-411E-ADC2-0AEF0ADDFA4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Leyes del condicional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BAF2177-E1BB-4217-835A-BED89D43570A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3D44F681-D8E3-4135-B6A6-1E03FE10BA6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Permiten eliminar el condicional y el bicondicional, reescribiéndolos con las conectivas básicas.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7315200" cy="2926080"/>
        </p:xfrm>
        <a:graphic>
          <a:graphicData uri="http://schemas.openxmlformats.org/drawingml/2006/table">
            <a:tbl>
              <a:tblPr/>
              <a:tblGrid>
                <a:gridCol w="3364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Nombre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Equivalencia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Definición del 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  ≡  ¬p ∨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Contrapositiva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  ≡  ¬q → ¬p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Negación del 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¬(p → q)  ≡  p ∧ ¬q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Definición del bicondicional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↔ q  ≡  (p → q) ∧ (q → p)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Negación del bicondicional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¬(p ↔ q)  ≡  p ↔ ¬q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B463DC85-5A30-4A9E-B3C4-EB28F6EDBD04}"/>
              </a:ext>
            </a:extLst>
          </p:cNvPr>
          <p:cNvSpPr>
            <a:spLocks noGrp="1"/>
          </p:cNvSpPr>
          <p:nvPr/>
        </p:nvSpPr>
        <p:spPr>
          <a:xfrm>
            <a:off x="8412480" y="26060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La recíproca q → p NO equivale a p → q.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65FAF9D-F968-4C95-8183-C97C43A52277}"/>
              </a:ext>
            </a:extLst>
          </p:cNvPr>
          <p:cNvSpPr>
            <a:spLocks noGrp="1"/>
          </p:cNvSpPr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primera ley es la más útil: convierte cualquier condicional en una disyunción y habilita el resto de las leyes.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636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90704D46-22E3-40B2-8B78-41721285A582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Cómo simplificar una fórmula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ADFE7979-BBE0-479A-891F-AA86184F7FA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49C9A1F6-2374-4373-9B92-78859B9526A9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Simplificar es hallar una fórmula equivalente más corta, aplicando leyes paso a paso.</a:t>
            </a:r>
            <a:endParaRPr/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3CAC517D-A13E-4FAB-A2E1-8D9C80BB0F94}"/>
              </a:ext>
            </a:extLst>
          </p:cNvPr>
          <p:cNvSpPr>
            <a:spLocks noGrp="1"/>
          </p:cNvSpPr>
          <p:nvPr/>
        </p:nvSpPr>
        <p:spPr>
          <a:xfrm>
            <a:off x="768096" y="2468880"/>
            <a:ext cx="67665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 Elimine condicionales y bicondicionales con sus definiciones.</a:t>
            </a:r>
          </a:p>
          <a:p>
            <a:pPr>
              <a:spcAft>
                <a:spcPts val="150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 Introduzca las negaciones con De Morgan y doble negación.</a:t>
            </a:r>
          </a:p>
          <a:p>
            <a:pPr>
              <a:spcAft>
                <a:spcPts val="150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 Reagrupe con conmutativa, asociativa y distributiva.</a:t>
            </a:r>
          </a:p>
          <a:p>
            <a:pPr>
              <a:spcAft>
                <a:spcPts val="150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 Reduzca con absorción, idempotencia, negación e identidad.</a:t>
            </a:r>
          </a:p>
          <a:p>
            <a:pPr>
              <a:spcAft>
                <a:spcPts val="1500"/>
              </a:spcAft>
              <a:buNone/>
            </a:pPr>
            <a:r>
              <a:rPr sz="16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5.  Justifique cada paso con el nombre de la ley usada.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0F0FBCD5-2BCB-40E3-A222-DB86A8512427}"/>
              </a:ext>
            </a:extLst>
          </p:cNvPr>
          <p:cNvSpPr>
            <a:spLocks noGrp="1"/>
          </p:cNvSpPr>
          <p:nvPr/>
        </p:nvSpPr>
        <p:spPr>
          <a:xfrm>
            <a:off x="7772400" y="25146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13526D95-E68A-4EAB-82FD-9FFD80A2D34D}"/>
              </a:ext>
            </a:extLst>
          </p:cNvPr>
          <p:cNvSpPr>
            <a:spLocks noGrp="1"/>
          </p:cNvSpPr>
          <p:nvPr/>
        </p:nvSpPr>
        <p:spPr>
          <a:xfrm>
            <a:off x="8046720" y="2697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Regla práctica</a:t>
            </a:r>
            <a:endParaRPr/>
          </a:p>
        </p:txBody>
      </p:sp>
      <p:sp>
        <p:nvSpPr>
          <p:cNvPr id="112" name="Google Shape;107;p14">
            <a:extLst>
              <a:ext uri="{FF2B5EF4-FFF2-40B4-BE49-F238E27FC236}">
                <a16:creationId xmlns:a16="http://schemas.microsoft.com/office/drawing/2014/main" id="{0313D843-B9FB-47B5-AE4E-D22B4294B655}"/>
              </a:ext>
            </a:extLst>
          </p:cNvPr>
          <p:cNvSpPr>
            <a:spLocks noGrp="1"/>
          </p:cNvSpPr>
          <p:nvPr/>
        </p:nvSpPr>
        <p:spPr>
          <a:xfrm>
            <a:off x="8046720" y="32461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no ve el camino, empiece por el paso 1: sin condicionales, la fórmula es mucho más fácil de manipular.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9473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6D1C2E1-F4EB-4A93-83B7-D151231A2BAB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resuelto 1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7F12C8F-EAD0-43F2-B738-1A62F1C83CC1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31E8353-D421-481D-80E1-71225B4D6010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Simplifique:   ¬(p ∨ q) ∨ (¬p ∧ q)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8595360" cy="2926080"/>
        </p:xfrm>
        <a:graphic>
          <a:graphicData uri="http://schemas.openxmlformats.org/drawingml/2006/table">
            <a:tbl>
              <a:tblPr/>
              <a:tblGrid>
                <a:gridCol w="4727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¬(p ∨ q) ∨ (¬p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Fórmula original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(¬p ∧ ¬q) ∨ (¬p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 Morgan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¬p ∧ (¬q ∨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Distributiva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¬p ∧ 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Negación (tercero excluido)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Identidad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87F5665-17F0-4B31-A246-7DEC982C02B8}"/>
              </a:ext>
            </a:extLst>
          </p:cNvPr>
          <p:cNvSpPr>
            <a:spLocks noGrp="1"/>
          </p:cNvSpPr>
          <p:nvPr/>
        </p:nvSpPr>
        <p:spPr>
          <a:xfrm>
            <a:off x="9601200" y="3566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Resultado: ¬p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003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5E16AE93-94EF-4820-820E-1B2103837E6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Ejercicios de simplificación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1197415-EDC1-4365-B6C9-E13729AC205B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6C600865-CDBE-4848-BAE7-5542706BAFED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Simplifique cada fórmula justificando la ley usada en cada paso.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A036F1EC-2CBB-4FB0-9C3D-54F2984BA7A1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93776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  p ∨ (p ∧ q)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  ¬(¬p ∧ q) ∧ (p ∨ q)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 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p∧q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)∨(p∧¬q)∨(¬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p∧q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B8932907-63FF-4EE7-80B2-3E8FEC6CB515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93776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 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¬</a:t>
            </a: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(p → q)</a:t>
            </a:r>
            <a:r>
              <a:rPr lang="es-CO" sz="1900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∨ q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5. </a:t>
            </a:r>
            <a:r>
              <a:rPr lang="es-CO" sz="1900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(p → q) ∧ (p → ¬q) 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6.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p↔q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)∧(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p∨q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06C67925-0A03-4BE7-A018-242E1AB1948B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Sugerencia: en los puntos 4 y 5 empiece eliminando el condicional con p → q ≡ ¬p ∨ q.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5698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62E1E30-2792-458B-B614-3E24DB4F999F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Soluciones de los ejercicios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BD8F8CA1-057A-4BF1-8BF3-49790B117CFE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29F76B2-D807-48FE-8179-326A408DF304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 camino </a:t>
            </a:r>
            <a:r>
              <a:rPr sz="165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posible</a:t>
            </a:r>
            <a:r>
              <a:rPr sz="165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para </a:t>
            </a:r>
            <a:r>
              <a:rPr sz="165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cada</a:t>
            </a:r>
            <a:r>
              <a:rPr sz="165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uno.</a:t>
            </a:r>
            <a:endParaRPr dirty="0"/>
          </a:p>
        </p:txBody>
      </p:sp>
      <p:graphicFrame>
        <p:nvGraphicFramePr>
          <p:cNvPr id="117" name="Google Shape;108;p14"/>
          <p:cNvGraphicFramePr/>
          <p:nvPr>
            <p:extLst>
              <p:ext uri="{D42A27DB-BD31-4B8C-83A1-F6EECF244321}">
                <p14:modId xmlns:p14="http://schemas.microsoft.com/office/powerpoint/2010/main" val="3631444212"/>
              </p:ext>
            </p:extLst>
          </p:nvPr>
        </p:nvGraphicFramePr>
        <p:xfrm>
          <a:off x="768096" y="2331720"/>
          <a:ext cx="10652758" cy="3485605"/>
        </p:xfrm>
        <a:graphic>
          <a:graphicData uri="http://schemas.openxmlformats.org/drawingml/2006/table">
            <a:tbl>
              <a:tblPr/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0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+mj-lt"/>
                          <a:ea typeface="Montserrat"/>
                          <a:cs typeface="Montserrat"/>
                        </a:rPr>
                        <a:t>#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+mj-lt"/>
                          <a:ea typeface="Montserrat"/>
                          <a:cs typeface="Montserrat"/>
                        </a:rPr>
                        <a:t>Resultado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+mj-lt"/>
                          <a:ea typeface="Montserrat"/>
                          <a:cs typeface="Montserrat"/>
                        </a:rPr>
                        <a:t>Leyes aplicadas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1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p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Absorción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2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p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De Morgan, doble negación, distributiva, negación, identidad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3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dirty="0" err="1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p∨q</a:t>
                      </a:r>
                      <a:endParaRPr sz="1200" dirty="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dirty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Distributiva, complemento, identidad, absorción/distributiva</a:t>
                      </a:r>
                      <a:endParaRPr sz="1200" dirty="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4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dirty="0" err="1">
                          <a:latin typeface="+mj-lt"/>
                        </a:rPr>
                        <a:t>p∨q</a:t>
                      </a:r>
                      <a:endParaRPr sz="1200" dirty="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>
                          <a:latin typeface="+mj-lt"/>
                        </a:rPr>
                        <a:t>Definición del condicional, De Morgan, doble negación, distributiva, complemento, identidad</a:t>
                      </a:r>
                      <a:endParaRPr lang="es-CO" sz="1200" dirty="0">
                        <a:latin typeface="+mj-lt"/>
                      </a:endParaRPr>
                    </a:p>
                  </a:txBody>
                  <a:tcPr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65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5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dirty="0">
                          <a:latin typeface="+mj-lt"/>
                        </a:rPr>
                        <a:t>¬p</a:t>
                      </a:r>
                      <a:endParaRPr sz="1200" dirty="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Definición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 del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condicional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conmutativa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contrapositiva</a:t>
                      </a:r>
                      <a:endParaRPr sz="1200" dirty="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+mj-lt"/>
                          <a:ea typeface="Roboto"/>
                          <a:cs typeface="Roboto"/>
                        </a:rPr>
                        <a:t>6</a:t>
                      </a:r>
                      <a:endParaRPr sz="1200">
                        <a:latin typeface="+mj-lt"/>
                      </a:endParaRPr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 err="1"/>
                        <a:t>p∧q</a:t>
                      </a:r>
                      <a:endParaRPr lang="es-CO" sz="1200" dirty="0">
                        <a:latin typeface="+mj-lt"/>
                      </a:endParaRPr>
                    </a:p>
                  </a:txBody>
                  <a:tcPr anchor="ctr">
                    <a:lnL w="9525" cmpd="sng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Definición del bicondicional, distributiva, complemento e identidad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4858CF2-F0FE-43FF-AC08-A432735DC427}"/>
              </a:ext>
            </a:extLst>
          </p:cNvPr>
          <p:cNvSpPr>
            <a:spLocks noGrp="1"/>
          </p:cNvSpPr>
          <p:nvPr/>
        </p:nvSpPr>
        <p:spPr>
          <a:xfrm>
            <a:off x="774192" y="6002655"/>
            <a:ext cx="10652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Puede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haber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más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de un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procedimiento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correcto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: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cada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paso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debe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justificarse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con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una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ley de </a:t>
            </a:r>
            <a:r>
              <a:rPr sz="13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equivalencia</a:t>
            </a:r>
            <a:r>
              <a:rPr sz="13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906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303E606-8FA4-42F0-AB2F-F9EFFEB0C195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Ejemplo: comprobar una equivalencia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B108373-B6F1-4A4C-B0F5-3C3D51F582F4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4C234C95-CD88-4839-80A1-F04C11FE9238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Compruebe con una tabla de verdad: ¬(p ∧ q) ≡ ¬p ∨ ¬q.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10652759" cy="2926080"/>
        </p:xfrm>
        <a:graphic>
          <a:graphicData uri="http://schemas.openxmlformats.org/drawingml/2006/table">
            <a:tbl>
              <a:tblPr/>
              <a:tblGrid>
                <a:gridCol w="234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4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Valores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¬(p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 ∨ ¬q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p=V, q=V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p=V, q=F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p=F, q=V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p=F, q=F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Resultado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Columnas iguales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Sí son equivalentes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B1082E3-4B71-4AAD-B85C-E4240D5EE8EF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coincidencia de las cuatro filas demuestra la equivalencia para todos los valores posibles de p y q.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351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6D1C2E1-F4EB-4A93-83B7-D151231A2BAB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resuelto: simplificar paso a paso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7F12C8F-EAD0-43F2-B738-1A62F1C83CC1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31E8353-D421-481D-80E1-71225B4D6010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Simplifique: ¬(p → q) ∨ (p ∧ q).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468880"/>
          <a:ext cx="8595360" cy="2926080"/>
        </p:xfrm>
        <a:graphic>
          <a:graphicData uri="http://schemas.openxmlformats.org/drawingml/2006/table">
            <a:tbl>
              <a:tblPr/>
              <a:tblGrid>
                <a:gridCol w="4727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1. ¬(p → q) ∨ (p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Fórmula original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2. ¬(¬p ∨ q) ∨ (p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Definición del 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3. (p ∧ ¬q) ∨ (p ∧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 Morgan y doble negación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4. p ∧ (¬q ∨ q)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Distributiva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5.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Negación e identidad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87F5665-17F0-4B31-A246-7DEC982C02B8}"/>
              </a:ext>
            </a:extLst>
          </p:cNvPr>
          <p:cNvSpPr>
            <a:spLocks noGrp="1"/>
          </p:cNvSpPr>
          <p:nvPr/>
        </p:nvSpPr>
        <p:spPr>
          <a:xfrm>
            <a:off x="9601200" y="3566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Resultado: 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0034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B75C9FC4-45EC-411E-ADC2-0AEF0ADDFA4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Errores frecuentes al simplificar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BAF2177-E1BB-4217-835A-BED89D43570A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3D44F681-D8E3-4135-B6A6-1E03FE10BA6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Una transformación solo es correcta cuando aplica una equivalencia completa.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7315200" cy="2926080"/>
        </p:xfrm>
        <a:graphic>
          <a:graphicData uri="http://schemas.openxmlformats.org/drawingml/2006/table">
            <a:tbl>
              <a:tblPr/>
              <a:tblGrid>
                <a:gridCol w="3364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Error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Revisión correcta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Cambiar ∧ por ∨ sin negar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 Morgan exige negar cada término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Cancelar letras diferentes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Solo p ∨ ¬p ≡ V y p ∧ ¬p ≡ 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Distribuir de forma incompleta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Multiplique por todos los términos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Confundir recíproca y equivalencia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 no equivale a q →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Omitir la justificación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Nombre la ley en cada 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B463DC85-5A30-4A9E-B3C4-EB28F6EDBD04}"/>
              </a:ext>
            </a:extLst>
          </p:cNvPr>
          <p:cNvSpPr>
            <a:spLocks noGrp="1"/>
          </p:cNvSpPr>
          <p:nvPr/>
        </p:nvSpPr>
        <p:spPr>
          <a:xfrm>
            <a:off x="8412480" y="26060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E3A8A"/>
                </a:solidFill>
                <a:latin typeface="Roboto"/>
                <a:ea typeface="Roboto"/>
                <a:cs typeface="Roboto"/>
              </a:rPr>
              <a:t>Control recomendado: pruebe una fila cuando dude de un paso.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65FAF9D-F968-4C95-8183-C97C43A52277}"/>
              </a:ext>
            </a:extLst>
          </p:cNvPr>
          <p:cNvSpPr>
            <a:spLocks noGrp="1"/>
          </p:cNvSpPr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Paso incorrecto: p ∨ (p ∧ q) ≡ p ∧ q.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Con p=V y q=F, la izquierda es V y la derecha F; no son equivalentes.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6361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Resuelva en el cuaderno. En simplificación, escriba la ley usada en cada paso.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286000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A.  Verifique con tabla de verdad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2670048"/>
            <a:ext cx="4937760" cy="8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 ¬(p ∧ q)  ≡  ¬p ∨ ¬q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pt-BR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 ∨ (q ∧ r) ≡ (p ∨ q) ∧ (p ∨ r)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 ¬(p → q)  ≡  p ∧ ¬q</a:t>
            </a:r>
          </a:p>
        </p:txBody>
      </p:sp>
      <p:sp>
        <p:nvSpPr>
          <p:cNvPr id="6" name="Google Shape;107;p14"/>
          <p:cNvSpPr txBox="1"/>
          <p:nvPr/>
        </p:nvSpPr>
        <p:spPr>
          <a:xfrm>
            <a:off x="6309360" y="2286000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B.  Simplifique justificando cada paso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309360" y="2670048"/>
            <a:ext cx="4937760" cy="144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(. p ∧ q) ∨ ¬p → ¬p ∨ q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5. ¬(p ∧ ¬q) → ¬p ∨ q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6. (p → q) ∧ (¬p → q) → q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7. p → (p ∧ q) → p → q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8. ¬((p ∨ q) ∧ ¬p) → p ∨ ¬q)</a:t>
            </a:r>
          </a:p>
        </p:txBody>
      </p:sp>
      <p:sp>
        <p:nvSpPr>
          <p:cNvPr id="8" name="Google Shape;107;p14"/>
          <p:cNvSpPr txBox="1"/>
          <p:nvPr/>
        </p:nvSpPr>
        <p:spPr>
          <a:xfrm>
            <a:off x="6309360" y="4160520"/>
            <a:ext cx="493776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400" b="1" i="0" u="none" strike="noStrike" cap="none" dirty="0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.  Reto</a:t>
            </a:r>
            <a:endParaRPr dirty="0"/>
          </a:p>
        </p:txBody>
      </p:sp>
      <p:sp>
        <p:nvSpPr>
          <p:cNvPr id="9" name="Google Shape;107;p14"/>
          <p:cNvSpPr txBox="1"/>
          <p:nvPr/>
        </p:nvSpPr>
        <p:spPr>
          <a:xfrm>
            <a:off x="6309360" y="4544568"/>
            <a:ext cx="4937760" cy="27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2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CO" sz="1200"/>
              <a:t>Demuestre </a:t>
            </a:r>
            <a:r>
              <a:rPr lang="es-CO" sz="1200" dirty="0"/>
              <a:t>con leyes que ¬(p ↔ q) ≡ (p ∧ ¬q) ∨ (¬p ∧ q)</a:t>
            </a:r>
            <a:endParaRPr lang="en-US" sz="1200" b="0" i="0" u="none" strike="noStrike" cap="none" dirty="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07;p14"/>
          <p:cNvSpPr txBox="1"/>
          <p:nvPr/>
        </p:nvSpPr>
        <p:spPr>
          <a:xfrm>
            <a:off x="768096" y="5897880"/>
            <a:ext cx="10469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sección 1.2 de Johnsonbaugh.    Próxima sesión: validez de argumentos y reglas de inferencia.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Sesión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Matemáticas para la informática</a:t>
            </a:r>
          </a:p>
        </p:txBody>
      </p:sp>
      <p:pic>
        <p:nvPicPr>
          <p:cNvPr id="17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Imagen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>
            <a:spLocks noGrp="1"/>
          </p:cNvSpPr>
          <p:nvPr/>
        </p:nvSpPr>
        <p:spPr>
          <a:xfrm>
            <a:off x="1000267" y="1794864"/>
            <a:ext cx="9531065" cy="173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  <a:buNone/>
            </a:pPr>
            <a:r>
              <a:rPr sz="5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CLASIFICAR • EQUIVALER • SIMPLIFICAR</a:t>
            </a:r>
            <a:endParaRPr sz="5400" b="1" dirty="0">
              <a:latin typeface="Montserrat"/>
              <a:ea typeface="Montserrat"/>
              <a:cs typeface="Montserrat"/>
            </a:endParaRPr>
          </a:p>
        </p:txBody>
      </p:sp>
      <p:pic>
        <p:nvPicPr>
          <p:cNvPr id="20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3669</Words>
  <Application>Microsoft Office PowerPoint</Application>
  <DocSecurity>0</DocSecurity>
  <PresentationFormat>Panorámica</PresentationFormat>
  <Paragraphs>437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Sesión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MONTOYA VILLADA</cp:lastModifiedBy>
  <cp:revision>2</cp:revision>
  <dcterms:created xsi:type="dcterms:W3CDTF">2026-08-12T15:49:39Z</dcterms:created>
  <dcterms:modified xsi:type="dcterms:W3CDTF">2026-08-14T14:44:45Z</dcterms:modified>
</cp:coreProperties>
</file>