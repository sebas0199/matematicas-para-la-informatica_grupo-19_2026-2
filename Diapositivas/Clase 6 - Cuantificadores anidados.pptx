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E6066-5C9C-4088-8A49-599B5E22A9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32E7B9-2706-4A07-B778-D32A48EB4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03AF50-6DCC-4131-90A9-529D399A0E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8F1541-3E1E-499F-BC68-853389D50F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535C71-8E86-476C-A3D6-39A653905A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CC5620-5390-42BF-A3F3-2DA83460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2A6AA0-27C2-487D-9178-EEE1016D6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0F7CCF-5989-4E5C-8789-5B072347C6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B6185F-BF01-4FD1-B6B9-1AAD12D1AC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9E9754-1728-47E4-86ED-A0A9BDEFB4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09BF1-975F-4CD8-8A83-638545730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B86B4A-4FA5-4352-B4DF-D00A4EE52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ADC50B-A4A9-425C-BDFC-5C49A10DF9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02A3F1-27CB-4950-885F-312B65D9A2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AAAE3F-BBF1-4ADF-A731-2B2C0CE604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38177-B641-4187-B228-01FF77689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356954-B699-4B56-B08D-5C234D810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C45744-C4F7-4E0F-A284-467096C9AD2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46B78D-CA8B-4C6D-9348-D471616B6F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E622F5-8C42-4B5D-B963-042D1358BA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B81664-778D-4319-9E42-F81F6C6CB0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EA564-B006-4079-A67F-916D17370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0ED9E1-C868-4AB1-872C-CCB6FFFC9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C05540-79FB-4B7B-9CB6-2CA34C07D97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BA11FC-BE65-4AA1-B542-C5B7825D782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091C8BE-6781-41B8-831D-577FACE2564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0A5172-8DE8-4D54-8785-1DAD77C7A26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771C4B-702F-4C82-B44F-3A5A570DF7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D988D91-B8BA-407C-A5B5-24F6DA2481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EAB27-EA82-44B9-9C9F-0E09468F7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CB4FEDE-109D-4AF8-8F88-20F58BE98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E599186-68CD-4B39-B8AA-258B40AFE8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A04043B-D8E0-43CA-B085-A7FB30DBA4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B72B099-2C55-4B93-BEC3-A9DDA11AEA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85432F2-1814-4CF0-9C71-DEE95E13C7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5AFA17-28C2-4121-8DBA-210149C1CB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8898B-4296-4B86-B19A-0C0DA5190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01C53B-245D-44E8-AF01-199C0F5C6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0479AD-F3D3-4E7D-B852-1C60E5F60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9C6E3F-C2A5-4D52-A6D7-C4CFB120A9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FE527D-F614-47A0-A030-F5C3C5B61C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F1A408-AB30-4403-AD02-8BCD948E7F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96A99-4C0F-42E6-B23E-E462C001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A0EF584-87AA-4EB2-AF51-816B48D70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90D8605-674C-4DF6-935E-407847E6CE2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B31AD2-D5B6-4130-B632-AFE2723582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C62A63-8794-48F2-BF12-1B4A7D738ED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8F45C4-8B34-4072-91C9-CC6DE74FA0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51A07-D73E-461F-8E67-A156E1914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6F070D-E6F9-416E-99BE-88C65FB6E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316492-DBE0-4517-995A-D51B721766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5CC3CE-B42C-46F6-ACB0-DD0A0B61AF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78A024-5FA9-4EF4-8922-2954CA0B5B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547AA9-B0C9-42A8-B381-338FA43F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2151BA4-180B-4767-AC70-2C3615E9B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2B2A21-653E-457E-B9FD-5BF04F2110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F703D4-B100-4C7F-868A-B1D53BD9DF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AA95FA-4D6C-401F-9203-465DC46A8C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5ABC8-F713-44AB-8EA3-2B2F793D5F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FB1654-F1CC-48E4-B479-7FC78E8B9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4A99A0-FE23-4B6A-8509-64597BE96A3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B4E825-5908-4483-A81F-8D035B58FC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227D5B-ACFA-4B06-B360-C3A6B9C1C7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19DDC-CCEE-48E7-95B6-66D943C88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B9FA5B-B0C0-49F0-994D-3F54D2344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A302E5-1541-4B7F-80DE-8608D63B90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DFAAD1-7776-46B1-8682-30753A642F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5F52C9-AFCA-4D21-987F-FBF463EB54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1C03A-C907-48EA-AAD8-C649AB2E3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E69ECD-CE5F-4AEF-BD2E-B3791BBFD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FB9CE8-CBE5-456A-BE85-797D5053C0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B9379A-3F31-4545-BA20-B53A7CBAB8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581381-0C78-4592-9B49-D1EFC5D129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6367B-0816-402B-A105-75D5E11E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80E2F8-2CCC-430F-AF77-E44BF1EFF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093BD3-8041-407E-B82D-DB67BD77F21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3559D0-7DFA-4893-916D-170E5744BAF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B1E86B-5055-4B48-B0D7-7B79EA6800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13A1F7-35C4-423E-BE34-7E776AF459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80F45-C3F6-43E4-9EF6-E56AC56CA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E26878-BB65-4F41-9311-DF271271B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2625E6F-7F58-472B-A627-15C4ABCAC49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7DEE7B-C91A-4281-9A52-069B1E6321D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82BA32-32FC-4A55-925F-A2B36967FD6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EA32123-699F-4AD6-B844-3ED541C0C1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B26B22D-74D8-4DE6-86F2-E16ADCFB14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727DCA9-8C65-494D-A380-7D7273C365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12B63-D21E-43F7-B12A-77B0832F9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7C2644F-0B28-489B-91A9-EC9CC9EEE2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F322EB-EE82-4754-B715-22D7CADB32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C34B2A-A97A-4BCF-8334-E4FC01089A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749DCF5-009E-4453-99CB-D861B398F3F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5A3079-783E-4832-BE38-A320A27CFC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C75A70-F241-4209-8443-07CC635AC1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4EC85-736D-467C-BBB2-96D6C977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2A51B1-2842-4BC9-AAA8-62306286F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BB1024-0495-49E9-BB42-9032F261E8E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F07177-2034-4DED-863B-AF54D411FE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458E7-2871-478E-B00A-9CFEA6DB1E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A5556F-F40B-4707-8601-9D2490A735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94870-444D-4C0E-B239-1EAFB6D43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9C8667C-6469-46CA-89E1-EC6960FF1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A33E29-D9C4-4884-B0CD-8EF64DDF786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BF1563-8F79-4FBC-B2EC-F6729F02A8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1C7A3A-5F5D-4BAB-825A-8450656A06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2DA304-E790-47DC-ACA6-75C8A0AD81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7397A-71DC-446E-942D-73675CF72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E3A52C-C927-4E85-9A0E-54AC315DB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7D3E7A-11FF-4FBA-A1CF-03122553C9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F47FF7-D2C0-461F-A3D4-2CC5EDBAB3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26F9D3-899A-4F89-9642-591493B571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1538D0-B501-4498-A33F-A8C9B922D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4D59C4-5E13-4AC8-8A1D-15F503C6A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FF927A-BA01-47F3-9F5A-7284FABF5B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F3B106-B6D0-4410-86A8-C16746F7BE1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0A5475-6504-49F0-82A6-15AEF298AA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D4C2CBC-731D-40A8-9A30-5A0749620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9B71AB-93F6-4AE8-AA7D-A6E124E46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4365ED-08AA-44A4-8136-5330E31B9F4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4E4575-373F-495A-A32A-5AC6078215C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C3E821-5172-46D5-A093-236AF29914E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t>‹Nº›</a:t>
            </a:fld>
            <a:endParaRPr/>
          </a:p>
        </p:txBody>
      </p:sp>
      <p:pic>
        <p:nvPicPr>
          <p:cNvPr id="13" name="Imagen 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8D8E8C9-7FAD-4D6F-843A-466A21AD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30DD27-7B74-4530-A852-96634497B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D3346C-0E53-4C29-B280-3F80E6A9A1E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t>26/08/2026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70A42D-6874-4B82-A486-DB9C9A7095E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8EEF2C-3653-4C00-A07B-53F0894C24E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t>‹Nº›</a:t>
            </a:fld>
            <a:endParaRPr/>
          </a:p>
        </p:txBody>
      </p:sp>
      <p:pic>
        <p:nvPicPr>
          <p:cNvPr id="13" name="Imagen 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sz="5400">
                <a:solidFill>
                  <a:schemeClr val="lt1"/>
                </a:solidFill>
              </a:rPr>
              <a:t>Matemáticas para la informática</a:t>
            </a: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sz="5400">
              <a:solidFill>
                <a:schemeClr val="lt1"/>
              </a:solidFill>
            </a:endParaRP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sz="5400">
                <a:solidFill>
                  <a:schemeClr val="lt1"/>
                </a:solidFill>
              </a:rPr>
              <a:t>Sesión 6</a:t>
            </a: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sz="5400">
              <a:solidFill>
                <a:schemeClr val="lt1"/>
              </a:solidFill>
            </a:endParaRP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sz="200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97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105525"/>
            <a:ext cx="10648950" cy="361950"/>
          </a:xfrm>
          <a:prstGeom prst="rect">
            <a:avLst/>
          </a:prstGeom>
          <a:ln>
            <a:noFill/>
          </a:ln>
        </p:spPr>
      </p:pic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859BAC77-4809-4AC3-879C-ECA3AB0686BD}"/>
              </a:ext>
            </a:extLst>
          </p:cNvPr>
          <p:cNvSpPr>
            <a:spLocks noGrp="1"/>
          </p:cNvSpPr>
          <p:nvPr/>
        </p:nvSpPr>
        <p:spPr>
          <a:xfrm>
            <a:off x="771524" y="1870256"/>
            <a:ext cx="1118139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Inter"/>
                <a:ea typeface="Inter"/>
                <a:cs typeface="Inter"/>
              </a:rPr>
              <a:t>Contenido</a:t>
            </a:r>
            <a:endParaRPr/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B066E7F7-F167-42F4-AC04-1AE0F6228F14}"/>
              </a:ext>
            </a:extLst>
          </p:cNvPr>
          <p:cNvSpPr>
            <a:spLocks noGrp="1"/>
          </p:cNvSpPr>
          <p:nvPr/>
        </p:nvSpPr>
        <p:spPr>
          <a:xfrm>
            <a:off x="771525" y="6305550"/>
            <a:ext cx="600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</a:rPr>
              <a:t>AGENDA</a:t>
            </a:r>
            <a:endParaRPr/>
          </a:p>
        </p:txBody>
      </p:sp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25ED978E-5AB0-4DC0-A61A-2493A7F1A9EC}"/>
              </a:ext>
            </a:extLst>
          </p:cNvPr>
          <p:cNvSpPr>
            <a:spLocks noGrp="1"/>
          </p:cNvSpPr>
          <p:nvPr/>
        </p:nvSpPr>
        <p:spPr>
          <a:xfrm>
            <a:off x="11229975" y="6305550"/>
            <a:ext cx="190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</a:rPr>
              <a:t>06</a:t>
            </a:r>
            <a:endParaRPr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3EC7C283-604F-4578-A6E2-F71AF6A7B5B7}"/>
              </a:ext>
            </a:extLst>
          </p:cNvPr>
          <p:cNvSpPr>
            <a:spLocks noGrp="1"/>
          </p:cNvSpPr>
          <p:nvPr/>
        </p:nvSpPr>
        <p:spPr>
          <a:xfrm>
            <a:off x="1071562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Predicados con dos variables</a:t>
            </a:r>
            <a:endParaRPr sz="2400"/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606A9795-BEBE-496A-BE6D-12BE3D4F0762}"/>
              </a:ext>
            </a:extLst>
          </p:cNvPr>
          <p:cNvSpPr>
            <a:spLocks noGrp="1"/>
          </p:cNvSpPr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98F2DB4D-089E-4EC6-ABE6-04021F5FF558}"/>
              </a:ext>
            </a:extLst>
          </p:cNvPr>
          <p:cNvSpPr>
            <a:spLocks noGrp="1"/>
          </p:cNvSpPr>
          <p:nvPr/>
        </p:nvSpPr>
        <p:spPr>
          <a:xfrm>
            <a:off x="1071562" y="3583930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Los cuatro patrones de anidamiento</a:t>
            </a:r>
            <a:endParaRPr sz="240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0ECD9C82-4F81-401B-AA42-483E7E508CC9}"/>
              </a:ext>
            </a:extLst>
          </p:cNvPr>
          <p:cNvSpPr>
            <a:spLocks noGrp="1"/>
          </p:cNvSpPr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97B8E680-FE42-4877-854E-5B2A7DFD3709}"/>
              </a:ext>
            </a:extLst>
          </p:cNvPr>
          <p:cNvSpPr>
            <a:spLocks noGrp="1"/>
          </p:cNvSpPr>
          <p:nvPr/>
        </p:nvSpPr>
        <p:spPr>
          <a:xfrm>
            <a:off x="1071562" y="4331643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El orden y las conectivas dentro del cuantificador</a:t>
            </a:r>
            <a:endParaRPr sz="2400"/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16C69E7F-A7E2-4BC4-8599-3B7BFA602F79}"/>
              </a:ext>
            </a:extLst>
          </p:cNvPr>
          <p:cNvSpPr>
            <a:spLocks noGrp="1"/>
          </p:cNvSpPr>
          <p:nvPr/>
        </p:nvSpPr>
        <p:spPr>
          <a:xfrm>
            <a:off x="6634163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Traducción y comprobación</a:t>
            </a:r>
            <a:endParaRPr sz="2400"/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08B272AB-D351-4894-B36B-4ABDADED572C}"/>
              </a:ext>
            </a:extLst>
          </p:cNvPr>
          <p:cNvSpPr>
            <a:spLocks noGrp="1"/>
          </p:cNvSpPr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DB1F8D79-54FF-4BB1-A605-033CC3D61DDF}"/>
              </a:ext>
            </a:extLst>
          </p:cNvPr>
          <p:cNvSpPr>
            <a:spLocks noGrp="1"/>
          </p:cNvSpPr>
          <p:nvPr/>
        </p:nvSpPr>
        <p:spPr>
          <a:xfrm>
            <a:off x="6634163" y="3505498"/>
            <a:ext cx="47720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Negación de cuantificadores anidados</a:t>
            </a:r>
            <a:endParaRPr sz="2400"/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1235E4F8-AB67-4664-B7BB-2285A678CD0A}"/>
              </a:ext>
            </a:extLst>
          </p:cNvPr>
          <p:cNvSpPr>
            <a:spLocks noGrp="1"/>
          </p:cNvSpPr>
          <p:nvPr/>
        </p:nvSpPr>
        <p:spPr>
          <a:xfrm>
            <a:off x="6362222" y="5133202"/>
            <a:ext cx="4429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Objetivo: formalizar y negar enunciados con dos cuantificadores, y distinguir el efecto de su orden.</a:t>
            </a:r>
            <a:endParaRPr sz="2400"/>
          </a:p>
        </p:txBody>
      </p: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8C4FE53A-7E7A-4FC8-B228-057A8528898A}"/>
              </a:ext>
            </a:extLst>
          </p:cNvPr>
          <p:cNvSpPr>
            <a:spLocks noGrp="1"/>
          </p:cNvSpPr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D9542807-9B11-4D48-8EA0-974A8FCF00AF}"/>
              </a:ext>
            </a:extLst>
          </p:cNvPr>
          <p:cNvSpPr>
            <a:spLocks noGrp="1"/>
          </p:cNvSpPr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CD64645F-D32D-4FDC-82D8-C016375DDD24}"/>
              </a:ext>
            </a:extLst>
          </p:cNvPr>
          <p:cNvSpPr>
            <a:spLocks noGrp="1"/>
          </p:cNvSpPr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6" name="Google Shape;114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2957512"/>
            <a:ext cx="123825" cy="200025"/>
          </a:xfrm>
          <a:prstGeom prst="rect">
            <a:avLst/>
          </a:prstGeom>
          <a:ln>
            <a:noFill/>
          </a:ln>
        </p:spPr>
      </p:pic>
      <p:pic>
        <p:nvPicPr>
          <p:cNvPr id="137" name="Google Shape;115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4" y="3720917"/>
            <a:ext cx="123825" cy="200025"/>
          </a:xfrm>
          <a:prstGeom prst="rect">
            <a:avLst/>
          </a:prstGeom>
          <a:ln>
            <a:noFill/>
          </a:ln>
        </p:spPr>
      </p:pic>
      <p:pic>
        <p:nvPicPr>
          <p:cNvPr id="138" name="Google Shape;116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4462462"/>
            <a:ext cx="123825" cy="200025"/>
          </a:xfrm>
          <a:prstGeom prst="rect">
            <a:avLst/>
          </a:prstGeom>
          <a:ln>
            <a:noFill/>
          </a:ln>
        </p:spPr>
      </p:pic>
      <p:pic>
        <p:nvPicPr>
          <p:cNvPr id="139" name="Google Shape;117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2957512"/>
            <a:ext cx="123825" cy="200025"/>
          </a:xfrm>
          <a:prstGeom prst="rect">
            <a:avLst/>
          </a:prstGeom>
          <a:ln>
            <a:noFill/>
          </a:ln>
        </p:spPr>
      </p:pic>
      <p:pic>
        <p:nvPicPr>
          <p:cNvPr id="140" name="Google Shape;118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3867149"/>
            <a:ext cx="123825" cy="2000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3920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2386DCEE-AAAE-43E8-AE55-7F708D7E3B4E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Repaso: de dónde venimos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D1506600-20D2-4A32-BA53-419A1E476A15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1DA3E225-6399-4C78-A0C3-AB9C0B79DE13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Todo lo de hoy se apoya en lo que ya trabajamos ayer.</a:t>
            </a:r>
            <a:endParaRPr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7196B415-CAF2-4B0E-A70F-BE3B09C8B822}"/>
              </a:ext>
            </a:extLst>
          </p:cNvPr>
          <p:cNvSpPr>
            <a:spLocks noGrp="1"/>
          </p:cNvSpPr>
          <p:nvPr/>
        </p:nvSpPr>
        <p:spPr>
          <a:xfrm>
            <a:off x="768096" y="237744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3" name="Google Shape;107;p14">
            <a:extLst>
              <a:ext uri="{FF2B5EF4-FFF2-40B4-BE49-F238E27FC236}">
                <a16:creationId xmlns:a16="http://schemas.microsoft.com/office/drawing/2014/main" id="{C34A5FA9-B611-4890-A46B-83E288DB7C6F}"/>
              </a:ext>
            </a:extLst>
          </p:cNvPr>
          <p:cNvSpPr>
            <a:spLocks noGrp="1"/>
          </p:cNvSpPr>
          <p:nvPr/>
        </p:nvSpPr>
        <p:spPr>
          <a:xfrm>
            <a:off x="996696" y="252374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Predicado y dominio</a:t>
            </a:r>
            <a:endParaRPr/>
          </a:p>
        </p:txBody>
      </p:sp>
      <p:sp>
        <p:nvSpPr>
          <p:cNvPr id="114" name="Google Shape;107;p14">
            <a:extLst>
              <a:ext uri="{FF2B5EF4-FFF2-40B4-BE49-F238E27FC236}">
                <a16:creationId xmlns:a16="http://schemas.microsoft.com/office/drawing/2014/main" id="{FEB13696-6EB8-4ACC-B1BA-070BC8EFBB78}"/>
              </a:ext>
            </a:extLst>
          </p:cNvPr>
          <p:cNvSpPr>
            <a:spLocks noGrp="1"/>
          </p:cNvSpPr>
          <p:nvPr/>
        </p:nvSpPr>
        <p:spPr>
          <a:xfrm>
            <a:off x="996696" y="2944368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P(x) se vuelve proposición al fijar x, o al cuantificarla sobre un dominio.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13D9D439-B9A2-4B91-AE34-935F68592D77}"/>
              </a:ext>
            </a:extLst>
          </p:cNvPr>
          <p:cNvSpPr>
            <a:spLocks noGrp="1"/>
          </p:cNvSpPr>
          <p:nvPr/>
        </p:nvSpPr>
        <p:spPr>
          <a:xfrm>
            <a:off x="4425696" y="237744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5" name="Google Shape;107;p14">
            <a:extLst>
              <a:ext uri="{FF2B5EF4-FFF2-40B4-BE49-F238E27FC236}">
                <a16:creationId xmlns:a16="http://schemas.microsoft.com/office/drawing/2014/main" id="{CF958FFE-F023-451B-8822-0C1E63A05DC9}"/>
              </a:ext>
            </a:extLst>
          </p:cNvPr>
          <p:cNvSpPr>
            <a:spLocks noGrp="1"/>
          </p:cNvSpPr>
          <p:nvPr/>
        </p:nvSpPr>
        <p:spPr>
          <a:xfrm>
            <a:off x="4654296" y="252374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Los dos cuantificadores</a:t>
            </a:r>
            <a:endParaRPr/>
          </a:p>
        </p:txBody>
      </p:sp>
      <p:sp>
        <p:nvSpPr>
          <p:cNvPr id="116" name="Google Shape;107;p14">
            <a:extLst>
              <a:ext uri="{FF2B5EF4-FFF2-40B4-BE49-F238E27FC236}">
                <a16:creationId xmlns:a16="http://schemas.microsoft.com/office/drawing/2014/main" id="{52FD761A-16DD-4F43-97ED-861AEFEF5A0C}"/>
              </a:ext>
            </a:extLst>
          </p:cNvPr>
          <p:cNvSpPr>
            <a:spLocks noGrp="1"/>
          </p:cNvSpPr>
          <p:nvPr/>
        </p:nvSpPr>
        <p:spPr>
          <a:xfrm>
            <a:off x="4654296" y="2944368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∀x ∈ A (P(x)): se cumple en todo el dominio.</a:t>
            </a:r>
          </a:p>
          <a:p>
            <a:pPr>
              <a:spcAft>
                <a:spcPts val="6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∃x ∈ A (P(x)): se cumple en al menos uno.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FEDB4828-8ACE-4E08-A969-F11DDD204F64}"/>
              </a:ext>
            </a:extLst>
          </p:cNvPr>
          <p:cNvSpPr>
            <a:spLocks noGrp="1"/>
          </p:cNvSpPr>
          <p:nvPr/>
        </p:nvSpPr>
        <p:spPr>
          <a:xfrm>
            <a:off x="8083296" y="237744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7" name="Google Shape;107;p14">
            <a:extLst>
              <a:ext uri="{FF2B5EF4-FFF2-40B4-BE49-F238E27FC236}">
                <a16:creationId xmlns:a16="http://schemas.microsoft.com/office/drawing/2014/main" id="{933C8780-14C9-4195-8491-156595345AC7}"/>
              </a:ext>
            </a:extLst>
          </p:cNvPr>
          <p:cNvSpPr>
            <a:spLocks noGrp="1"/>
          </p:cNvSpPr>
          <p:nvPr/>
        </p:nvSpPr>
        <p:spPr>
          <a:xfrm>
            <a:off x="8311896" y="252374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Negación</a:t>
            </a:r>
            <a:endParaRPr/>
          </a:p>
        </p:txBody>
      </p:sp>
      <p:sp>
        <p:nvSpPr>
          <p:cNvPr id="118" name="Google Shape;107;p14">
            <a:extLst>
              <a:ext uri="{FF2B5EF4-FFF2-40B4-BE49-F238E27FC236}">
                <a16:creationId xmlns:a16="http://schemas.microsoft.com/office/drawing/2014/main" id="{73B04200-D5A7-45CB-A383-4A9CD2285FA7}"/>
              </a:ext>
            </a:extLst>
          </p:cNvPr>
          <p:cNvSpPr>
            <a:spLocks noGrp="1"/>
          </p:cNvSpPr>
          <p:nvPr/>
        </p:nvSpPr>
        <p:spPr>
          <a:xfrm>
            <a:off x="8311896" y="2944368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Al negar, ∀ se vuelve ∃ y viceversa; el dominio no cambia.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9D1F366E-F109-43B5-B936-F0FE797EA8A4}"/>
              </a:ext>
            </a:extLst>
          </p:cNvPr>
          <p:cNvSpPr>
            <a:spLocks noGrp="1"/>
          </p:cNvSpPr>
          <p:nvPr/>
        </p:nvSpPr>
        <p:spPr>
          <a:xfrm>
            <a:off x="768096" y="4480560"/>
            <a:ext cx="10652760" cy="160020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9" name="Google Shape;107;p14">
            <a:extLst>
              <a:ext uri="{FF2B5EF4-FFF2-40B4-BE49-F238E27FC236}">
                <a16:creationId xmlns:a16="http://schemas.microsoft.com/office/drawing/2014/main" id="{500980F3-D503-4572-8749-3F9536CAF583}"/>
              </a:ext>
            </a:extLst>
          </p:cNvPr>
          <p:cNvSpPr>
            <a:spLocks noGrp="1"/>
          </p:cNvSpPr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Lo que agregamos hoy</a:t>
            </a:r>
            <a:endParaRPr/>
          </a:p>
        </p:txBody>
      </p:sp>
      <p:sp>
        <p:nvSpPr>
          <p:cNvPr id="120" name="Google Shape;107;p14">
            <a:extLst>
              <a:ext uri="{FF2B5EF4-FFF2-40B4-BE49-F238E27FC236}">
                <a16:creationId xmlns:a16="http://schemas.microsoft.com/office/drawing/2014/main" id="{1F05CD03-A36F-477C-B927-A047ECAFCE1C}"/>
              </a:ext>
            </a:extLst>
          </p:cNvPr>
          <p:cNvSpPr>
            <a:spLocks noGrp="1"/>
          </p:cNvSpPr>
          <p:nvPr/>
        </p:nvSpPr>
        <p:spPr>
          <a:xfrm>
            <a:off x="1051560" y="5029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Hasta ayer cada fórmula hablaba de un objeto a la vez. Hoy necesitamos hablar de dos: relaciones entre elementos, como «x conoce a y» o «x + y = 0». Para eso hacen falta dos cuantificadores, y su orden va a resultar decisivo.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3108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4FD810FC-D01B-478A-A925-C1A3FF160958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Predicados con dos variables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1B11DBCF-CA68-4FB7-8F4D-A207CE1BCFEB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BEED975D-61F5-4B89-A4ED-CF1FA63AD389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Un predicado puede relacionar dos objetos a la vez.</a:t>
            </a:r>
            <a:endParaRPr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F5772A83-4C36-441D-AA77-7ECF309B2879}"/>
              </a:ext>
            </a:extLst>
          </p:cNvPr>
          <p:cNvSpPr>
            <a:spLocks noGrp="1"/>
          </p:cNvSpPr>
          <p:nvPr/>
        </p:nvSpPr>
        <p:spPr>
          <a:xfrm>
            <a:off x="768096" y="2331720"/>
            <a:ext cx="10652760" cy="10058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3" name="Google Shape;107;p14">
            <a:extLst>
              <a:ext uri="{FF2B5EF4-FFF2-40B4-BE49-F238E27FC236}">
                <a16:creationId xmlns:a16="http://schemas.microsoft.com/office/drawing/2014/main" id="{78891B1D-E812-4EEB-A81E-628590CC6193}"/>
              </a:ext>
            </a:extLst>
          </p:cNvPr>
          <p:cNvSpPr>
            <a:spLocks noGrp="1"/>
          </p:cNvSpPr>
          <p:nvPr/>
        </p:nvSpPr>
        <p:spPr>
          <a:xfrm>
            <a:off x="1097280" y="2560320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P(x, y) es un predicado con dos variables: se vuelve proposición cuando se fijan las dos, o cuando las dos quedan cuantificadas.</a:t>
            </a:r>
            <a:endParaRPr/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88252853-F318-4559-93E2-5415941C1A5A}"/>
              </a:ext>
            </a:extLst>
          </p:cNvPr>
          <p:cNvSpPr>
            <a:spLocks noGrp="1"/>
          </p:cNvSpPr>
          <p:nvPr/>
        </p:nvSpPr>
        <p:spPr>
          <a:xfrm>
            <a:off x="768096" y="3520440"/>
            <a:ext cx="5212080" cy="17373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4" name="Google Shape;107;p14">
            <a:extLst>
              <a:ext uri="{FF2B5EF4-FFF2-40B4-BE49-F238E27FC236}">
                <a16:creationId xmlns:a16="http://schemas.microsoft.com/office/drawing/2014/main" id="{970E08F4-9543-426C-AE07-2B2EC6865779}"/>
              </a:ext>
            </a:extLst>
          </p:cNvPr>
          <p:cNvSpPr>
            <a:spLocks noGrp="1"/>
          </p:cNvSpPr>
          <p:nvPr/>
        </p:nvSpPr>
        <p:spPr>
          <a:xfrm>
            <a:off x="996696" y="3666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Ejemplo numérico</a:t>
            </a:r>
            <a:endParaRPr/>
          </a:p>
        </p:txBody>
      </p:sp>
      <p:sp>
        <p:nvSpPr>
          <p:cNvPr id="115" name="Google Shape;107;p14">
            <a:extLst>
              <a:ext uri="{FF2B5EF4-FFF2-40B4-BE49-F238E27FC236}">
                <a16:creationId xmlns:a16="http://schemas.microsoft.com/office/drawing/2014/main" id="{632F6BAB-DC6A-4B2F-9624-92EF5E6BD0CC}"/>
              </a:ext>
            </a:extLst>
          </p:cNvPr>
          <p:cNvSpPr>
            <a:spLocks noGrp="1"/>
          </p:cNvSpPr>
          <p:nvPr/>
        </p:nvSpPr>
        <p:spPr>
          <a:xfrm>
            <a:off x="996696" y="4087368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S(x, y):  «x + y = 0»   sobre los enteros</a:t>
            </a:r>
          </a:p>
          <a:p>
            <a:pPr>
              <a:spcAft>
                <a:spcPts val="8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S(3, −3) es verdadera   ·   S(3, 5) es falsa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D01B167C-7661-4B2B-A395-6FB9C57D2DC2}"/>
              </a:ext>
            </a:extLst>
          </p:cNvPr>
          <p:cNvSpPr>
            <a:spLocks noGrp="1"/>
          </p:cNvSpPr>
          <p:nvPr/>
        </p:nvSpPr>
        <p:spPr>
          <a:xfrm>
            <a:off x="6208776" y="3520440"/>
            <a:ext cx="5212080" cy="17373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6" name="Google Shape;107;p14">
            <a:extLst>
              <a:ext uri="{FF2B5EF4-FFF2-40B4-BE49-F238E27FC236}">
                <a16:creationId xmlns:a16="http://schemas.microsoft.com/office/drawing/2014/main" id="{DDF50718-9F60-42A4-ABDA-185AF3AB1E73}"/>
              </a:ext>
            </a:extLst>
          </p:cNvPr>
          <p:cNvSpPr>
            <a:spLocks noGrp="1"/>
          </p:cNvSpPr>
          <p:nvPr/>
        </p:nvSpPr>
        <p:spPr>
          <a:xfrm>
            <a:off x="6437376" y="3666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Ejemplo cotidiano</a:t>
            </a:r>
            <a:endParaRPr/>
          </a:p>
        </p:txBody>
      </p:sp>
      <p:sp>
        <p:nvSpPr>
          <p:cNvPr id="117" name="Google Shape;107;p14">
            <a:extLst>
              <a:ext uri="{FF2B5EF4-FFF2-40B4-BE49-F238E27FC236}">
                <a16:creationId xmlns:a16="http://schemas.microsoft.com/office/drawing/2014/main" id="{D5016A07-EF12-4EFA-B5A5-387E4DBB98CB}"/>
              </a:ext>
            </a:extLst>
          </p:cNvPr>
          <p:cNvSpPr>
            <a:spLocks noGrp="1"/>
          </p:cNvSpPr>
          <p:nvPr/>
        </p:nvSpPr>
        <p:spPr>
          <a:xfrm>
            <a:off x="6437376" y="4087368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C(x, y):  «x conoce a y»   sobre las personas</a:t>
            </a:r>
          </a:p>
          <a:p>
            <a:pPr>
              <a:spcAft>
                <a:spcPts val="8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C(Ana, Luis) es verdadera o falsa según el caso.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5DC71D8D-B1F2-4778-9A9C-8C0161D2D38A}"/>
              </a:ext>
            </a:extLst>
          </p:cNvPr>
          <p:cNvSpPr>
            <a:spLocks noGrp="1"/>
          </p:cNvSpPr>
          <p:nvPr/>
        </p:nvSpPr>
        <p:spPr>
          <a:xfrm>
            <a:off x="768096" y="5440680"/>
            <a:ext cx="10652760" cy="7315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8" name="Google Shape;107;p14">
            <a:extLst>
              <a:ext uri="{FF2B5EF4-FFF2-40B4-BE49-F238E27FC236}">
                <a16:creationId xmlns:a16="http://schemas.microsoft.com/office/drawing/2014/main" id="{59EEC137-263C-4D4F-BBE0-D60B9BC88EBC}"/>
              </a:ext>
            </a:extLst>
          </p:cNvPr>
          <p:cNvSpPr>
            <a:spLocks noGrp="1"/>
          </p:cNvSpPr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Cuidado: si solo cuantifica una variable, la fórmula sigue sin ser proposición. ∀x S(x, y) todavía depende de y.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77115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13708D89-DCEB-4AEF-8A50-4A5F1781511E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Los cuatro patrones de anidamiento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22770AE6-684D-4C82-8B76-DEF8B6856779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9448FD11-B5F3-457A-B676-877679E228F4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Con dos cuantificadores hay cuatro combinaciones posibles.</a:t>
            </a:r>
            <a:endParaRPr/>
          </a:p>
        </p:txBody>
      </p:sp>
      <p:graphicFrame>
        <p:nvGraphicFramePr>
          <p:cNvPr id="119" name="Google Shape;108;p14"/>
          <p:cNvGraphicFramePr/>
          <p:nvPr/>
        </p:nvGraphicFramePr>
        <p:xfrm>
          <a:off x="768096" y="2468880"/>
          <a:ext cx="10652759" cy="2743200"/>
        </p:xfrm>
        <a:graphic>
          <a:graphicData uri="http://schemas.openxmlformats.org/drawingml/2006/table">
            <a:tbl>
              <a:tblPr/>
              <a:tblGrid>
                <a:gridCol w="2556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5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0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Patrón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 lee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Qué afirma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∀x ∀y P(x,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Para todo x y todo y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Se cumple en todas las parejas.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 ∃y P(x,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Existe x y existe y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Hay al menos una pareja que lo cumple.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∀x ∃y P(x,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Para todo x existe un y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Cada x tiene su propio y, que puede ser distinto.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 ∀y P(x,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Existe un x que sirve para todo y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Un mismo x funciona con todos los y.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834E0FA1-397E-4BCF-BBDD-952EBB6F1C0C}"/>
              </a:ext>
            </a:extLst>
          </p:cNvPr>
          <p:cNvSpPr>
            <a:spLocks noGrp="1"/>
          </p:cNvSpPr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F3154C04-7CAC-4BB9-BF29-E04A0BB1C5D5}"/>
              </a:ext>
            </a:extLst>
          </p:cNvPr>
          <p:cNvSpPr>
            <a:spLocks noGrp="1"/>
          </p:cNvSpPr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Los dos últimos son los que se confunden, y la diferencia entre ellos es el tema central de la sesión.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54605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D5838BA9-501D-4F0A-9FE5-624F6DD14488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Cómo se demuestra y cómo se refuta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D4C23CEC-7671-475E-9639-146C6DB683B3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736A2B3B-C50B-4F3D-AE98-8A7BFD6BC7E9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La estrategia cambia con cada patrón.</a:t>
            </a:r>
            <a:endParaRPr/>
          </a:p>
        </p:txBody>
      </p:sp>
      <p:graphicFrame>
        <p:nvGraphicFramePr>
          <p:cNvPr id="119" name="Google Shape;108;p14"/>
          <p:cNvGraphicFramePr/>
          <p:nvPr/>
        </p:nvGraphicFramePr>
        <p:xfrm>
          <a:off x="768096" y="2468880"/>
          <a:ext cx="10652758" cy="2743200"/>
        </p:xfrm>
        <a:graphic>
          <a:graphicData uri="http://schemas.openxmlformats.org/drawingml/2006/table">
            <a:tbl>
              <a:tblPr/>
              <a:tblGrid>
                <a:gridCol w="2556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Patrón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Para demostrarla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Para refutarla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∀x ∀y P(x,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Argumentar con x e y arbitrarios.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Exhibir una pareja que falle.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 ∃y P(x,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Exhibir una pareja concreta.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Probar que ninguna pareja funciona.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∀x ∃y P(x,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Dado un x cualquiera, construir un y que sirva.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Hallar un x para el que ningún y sirva.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 ∀y P(x,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Exhibir un x y probar que sirve para todo y.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Probar que ningún x sirve para todos.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F2AE04F0-EC7A-40A8-8893-6AB6ACFF460E}"/>
              </a:ext>
            </a:extLst>
          </p:cNvPr>
          <p:cNvSpPr>
            <a:spLocks noGrp="1"/>
          </p:cNvSpPr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5FB58923-05BD-4E17-A739-B7E6EE18489E}"/>
              </a:ext>
            </a:extLst>
          </p:cNvPr>
          <p:cNvSpPr>
            <a:spLocks noGrp="1"/>
          </p:cNvSpPr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Note la clave del tercer patrón: el y puede depender del x. En el cuarto, en cambio, el x debe ser el mismo para todos.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2850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C729AF48-A1ED-48D5-80C2-C2A09D1A3CE5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Actividad 1: ¿qué afirma cada uno?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5D5C34A9-F87D-45E6-9B26-69ED0213CD47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DAB102B3-4DC7-43E8-86FB-63454B280B21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Escriba en español, con sus palabras, qué dice cada fórmula.</a:t>
            </a:r>
            <a:endParaRPr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C00F0B8C-8DB6-484A-AC33-14D984C221E0}"/>
              </a:ext>
            </a:extLst>
          </p:cNvPr>
          <p:cNvSpPr>
            <a:spLocks noGrp="1"/>
          </p:cNvSpPr>
          <p:nvPr/>
        </p:nvSpPr>
        <p:spPr>
          <a:xfrm>
            <a:off x="768096" y="2286000"/>
            <a:ext cx="10652760" cy="5486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09493375-824A-4AFB-A10D-FAF637E3D193}"/>
              </a:ext>
            </a:extLst>
          </p:cNvPr>
          <p:cNvSpPr>
            <a:spLocks noGrp="1"/>
          </p:cNvSpPr>
          <p:nvPr/>
        </p:nvSpPr>
        <p:spPr>
          <a:xfrm>
            <a:off x="1051560" y="2377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Dominio:  P = personas   ·   C(x, y): «x conoce a y»</a:t>
            </a:r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3C34461C-0102-442A-9560-FF71B593145D}"/>
              </a:ext>
            </a:extLst>
          </p:cNvPr>
          <p:cNvSpPr>
            <a:spLocks noGrp="1"/>
          </p:cNvSpPr>
          <p:nvPr/>
        </p:nvSpPr>
        <p:spPr>
          <a:xfrm>
            <a:off x="768096" y="3108960"/>
            <a:ext cx="512064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1)   ∀x ∈ P ∀y ∈ P  C(x, y)</a:t>
            </a:r>
          </a:p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2)   ∃x ∈ P ∃y ∈ P  C(x, y)</a:t>
            </a:r>
          </a:p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3)   ∀x ∈ P ∃y ∈ P  C(x, y)</a:t>
            </a:r>
          </a:p>
        </p:txBody>
      </p:sp>
      <p:sp>
        <p:nvSpPr>
          <p:cNvPr id="113" name="Google Shape;107;p14">
            <a:extLst>
              <a:ext uri="{FF2B5EF4-FFF2-40B4-BE49-F238E27FC236}">
                <a16:creationId xmlns:a16="http://schemas.microsoft.com/office/drawing/2014/main" id="{156B669D-0A01-4EE9-9DA6-BF7A70FB3CEC}"/>
              </a:ext>
            </a:extLst>
          </p:cNvPr>
          <p:cNvSpPr>
            <a:spLocks noGrp="1"/>
          </p:cNvSpPr>
          <p:nvPr/>
        </p:nvSpPr>
        <p:spPr>
          <a:xfrm>
            <a:off x="6217920" y="3108960"/>
            <a:ext cx="52120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4)   ∃x ∈ P ∀y ∈ P  C(x, y)</a:t>
            </a:r>
          </a:p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5)   ∃y ∈ P ∀x ∈ P  C(x, y)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30AAE884-4665-4B69-9A9D-B8983EFE0097}"/>
              </a:ext>
            </a:extLst>
          </p:cNvPr>
          <p:cNvSpPr>
            <a:spLocks noGrp="1"/>
          </p:cNvSpPr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4" name="Google Shape;107;p14">
            <a:extLst>
              <a:ext uri="{FF2B5EF4-FFF2-40B4-BE49-F238E27FC236}">
                <a16:creationId xmlns:a16="http://schemas.microsoft.com/office/drawing/2014/main" id="{98DA499D-E8B9-4DDC-9EF1-50808B589445}"/>
              </a:ext>
            </a:extLst>
          </p:cNvPr>
          <p:cNvSpPr>
            <a:spLocks noGrp="1"/>
          </p:cNvSpPr>
          <p:nvPr/>
        </p:nvSpPr>
        <p:spPr>
          <a:xfrm>
            <a:off x="1051560" y="5532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Preste atención a los puntos 4 y 5: se parecen mucho, pero no dicen lo mismo. ¿Quién es el que se repite en cada caso?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57515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C5B784E3-6DF0-4277-BE7A-1A0EABE8B1C3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Actividad 1 — Solución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0468D2F8-AF04-4998-8F12-24F6B7C0327E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026227BD-072A-4EB8-967F-685C48CBEDD7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Lectura de cada fórmula.</a:t>
            </a:r>
            <a:endParaRPr/>
          </a:p>
        </p:txBody>
      </p:sp>
      <p:graphicFrame>
        <p:nvGraphicFramePr>
          <p:cNvPr id="119" name="Google Shape;108;p14"/>
          <p:cNvGraphicFramePr/>
          <p:nvPr/>
        </p:nvGraphicFramePr>
        <p:xfrm>
          <a:off x="768096" y="2423160"/>
          <a:ext cx="10652758" cy="3017520"/>
        </p:xfrm>
        <a:graphic>
          <a:graphicData uri="http://schemas.openxmlformats.org/drawingml/2006/table">
            <a:tbl>
              <a:tblPr/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9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3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Fórmula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Qué afirma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1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∀x ∀y C(x,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Todo el mundo conoce a todo el mundo.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 ∃y C(x,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Alguien conoce a alguien.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∀x ∃y C(x,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Toda persona conoce al menos a una persona; esa persona puede variar según x.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 ∀y C(x,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Hay alguien que conoce a todo el mundo.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∃y ∀x C(x,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Hay alguien a quien todo el mundo conoce.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B4FB834B-86B9-4D7D-BA24-17767BC78BFE}"/>
              </a:ext>
            </a:extLst>
          </p:cNvPr>
          <p:cNvSpPr>
            <a:spLocks noGrp="1"/>
          </p:cNvSpPr>
          <p:nvPr/>
        </p:nvSpPr>
        <p:spPr>
          <a:xfrm>
            <a:off x="768096" y="5577840"/>
            <a:ext cx="10652760" cy="68580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F3130787-76FA-427D-9FEF-515CE508D9E7}"/>
              </a:ext>
            </a:extLst>
          </p:cNvPr>
          <p:cNvSpPr>
            <a:spLocks noGrp="1"/>
          </p:cNvSpPr>
          <p:nvPr/>
        </p:nvSpPr>
        <p:spPr>
          <a:xfrm>
            <a:off x="1051560" y="5715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En el 4 se repite quien conoce: es una persona muy sociable. En el 5 se repite el conocido: es una persona famosa. Son afirmaciones distintas.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15671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9422B7F6-238B-4995-B5A2-816DBAD1E51F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El orden de los cuantificadores importa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3E9C3CB1-4568-412F-9382-3D52DF0AA78A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9FF71003-85F8-4A0B-B5D3-C4CFAB9978F9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La idea central de la sesión.</a:t>
            </a:r>
            <a:endParaRPr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7C84B87F-66C9-497A-9B12-F1C52963C6C7}"/>
              </a:ext>
            </a:extLst>
          </p:cNvPr>
          <p:cNvSpPr>
            <a:spLocks noGrp="1"/>
          </p:cNvSpPr>
          <p:nvPr/>
        </p:nvSpPr>
        <p:spPr>
          <a:xfrm>
            <a:off x="768096" y="2286000"/>
            <a:ext cx="10652760" cy="91440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3" name="Google Shape;107;p14">
            <a:extLst>
              <a:ext uri="{FF2B5EF4-FFF2-40B4-BE49-F238E27FC236}">
                <a16:creationId xmlns:a16="http://schemas.microsoft.com/office/drawing/2014/main" id="{B987FE7A-73F9-4377-938D-03ADE3CB8462}"/>
              </a:ext>
            </a:extLst>
          </p:cNvPr>
          <p:cNvSpPr>
            <a:spLocks noGrp="1"/>
          </p:cNvSpPr>
          <p:nvPr/>
        </p:nvSpPr>
        <p:spPr>
          <a:xfrm>
            <a:off x="1097280" y="2487168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∀x ∃y P(x, y)      y      ∃y ∀x P(x, y)      no son equivalentes.</a:t>
            </a:r>
            <a:endParaRPr/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26272065-A239-4145-8262-D6E581568AB9}"/>
              </a:ext>
            </a:extLst>
          </p:cNvPr>
          <p:cNvSpPr>
            <a:spLocks noGrp="1"/>
          </p:cNvSpPr>
          <p:nvPr/>
        </p:nvSpPr>
        <p:spPr>
          <a:xfrm>
            <a:off x="768096" y="338328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4" name="Google Shape;107;p14">
            <a:extLst>
              <a:ext uri="{FF2B5EF4-FFF2-40B4-BE49-F238E27FC236}">
                <a16:creationId xmlns:a16="http://schemas.microsoft.com/office/drawing/2014/main" id="{84AD29B1-6CE7-4F51-9CBB-E61098C524A6}"/>
              </a:ext>
            </a:extLst>
          </p:cNvPr>
          <p:cNvSpPr>
            <a:spLocks noGrp="1"/>
          </p:cNvSpPr>
          <p:nvPr/>
        </p:nvSpPr>
        <p:spPr>
          <a:xfrm>
            <a:off x="996696" y="352958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∀x ∃y  P(x, y)</a:t>
            </a:r>
            <a:endParaRPr/>
          </a:p>
        </p:txBody>
      </p:sp>
      <p:sp>
        <p:nvSpPr>
          <p:cNvPr id="115" name="Google Shape;107;p14">
            <a:extLst>
              <a:ext uri="{FF2B5EF4-FFF2-40B4-BE49-F238E27FC236}">
                <a16:creationId xmlns:a16="http://schemas.microsoft.com/office/drawing/2014/main" id="{8B743332-DAD5-4393-BB80-766FE64B2089}"/>
              </a:ext>
            </a:extLst>
          </p:cNvPr>
          <p:cNvSpPr>
            <a:spLocks noGrp="1"/>
          </p:cNvSpPr>
          <p:nvPr/>
        </p:nvSpPr>
        <p:spPr>
          <a:xfrm>
            <a:off x="996696" y="395020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Primero se fija un x cualquiera y después se busca el y.</a:t>
            </a:r>
          </a:p>
          <a:p>
            <a:pPr>
              <a:spcAft>
                <a:spcPts val="8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El y puede ser distinto para cada x.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D83C4F16-F3A6-49A2-8B32-AA1E2F52B0CD}"/>
              </a:ext>
            </a:extLst>
          </p:cNvPr>
          <p:cNvSpPr>
            <a:spLocks noGrp="1"/>
          </p:cNvSpPr>
          <p:nvPr/>
        </p:nvSpPr>
        <p:spPr>
          <a:xfrm>
            <a:off x="6208776" y="338328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6" name="Google Shape;107;p14">
            <a:extLst>
              <a:ext uri="{FF2B5EF4-FFF2-40B4-BE49-F238E27FC236}">
                <a16:creationId xmlns:a16="http://schemas.microsoft.com/office/drawing/2014/main" id="{9E78A104-5D04-457D-A07A-DE01082DD950}"/>
              </a:ext>
            </a:extLst>
          </p:cNvPr>
          <p:cNvSpPr>
            <a:spLocks noGrp="1"/>
          </p:cNvSpPr>
          <p:nvPr/>
        </p:nvSpPr>
        <p:spPr>
          <a:xfrm>
            <a:off x="6437376" y="352958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∃y ∀x  P(x, y)</a:t>
            </a:r>
            <a:endParaRPr/>
          </a:p>
        </p:txBody>
      </p:sp>
      <p:sp>
        <p:nvSpPr>
          <p:cNvPr id="117" name="Google Shape;107;p14">
            <a:extLst>
              <a:ext uri="{FF2B5EF4-FFF2-40B4-BE49-F238E27FC236}">
                <a16:creationId xmlns:a16="http://schemas.microsoft.com/office/drawing/2014/main" id="{F7BF4749-8D1A-4EBC-B00B-3B46E154828B}"/>
              </a:ext>
            </a:extLst>
          </p:cNvPr>
          <p:cNvSpPr>
            <a:spLocks noGrp="1"/>
          </p:cNvSpPr>
          <p:nvPr/>
        </p:nvSpPr>
        <p:spPr>
          <a:xfrm>
            <a:off x="6437376" y="395020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Primero se fija un y y después debe servir para todos los x.</a:t>
            </a:r>
          </a:p>
          <a:p>
            <a:pPr>
              <a:spcAft>
                <a:spcPts val="8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El y es uno solo, el mismo para todos.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5E6716A6-93A3-4A46-9232-A1D57F59F3AA}"/>
              </a:ext>
            </a:extLst>
          </p:cNvPr>
          <p:cNvSpPr>
            <a:spLocks noGrp="1"/>
          </p:cNvSpPr>
          <p:nvPr/>
        </p:nvSpPr>
        <p:spPr>
          <a:xfrm>
            <a:off x="768096" y="544068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8" name="Google Shape;107;p14">
            <a:extLst>
              <a:ext uri="{FF2B5EF4-FFF2-40B4-BE49-F238E27FC236}">
                <a16:creationId xmlns:a16="http://schemas.microsoft.com/office/drawing/2014/main" id="{1722B5CD-7878-44DF-B334-4242080623E7}"/>
              </a:ext>
            </a:extLst>
          </p:cNvPr>
          <p:cNvSpPr>
            <a:spLocks noGrp="1"/>
          </p:cNvSpPr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Una dirección sí vale siempre: si existe un y que sirve para todos, entonces cada x tiene el suyo. Es decir, ∃y ∀x P → ∀x ∃y P. La recíproca no.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8719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7E3E2A44-9E03-45F7-A8D5-B2339D1298D1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Ejemplo resuelto 1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EA9023BA-ECAE-4A99-BC01-65631143ADCB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90BA23A8-B6EB-40BC-A324-0F424C0A1B7A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¿Es verdadera  ∀x ∈ ℤ ∃y ∈ ℤ (x + y = 0)?</a:t>
            </a:r>
            <a:endParaRPr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81ECB4C-9DA6-46AC-96C9-AED60C529B30}"/>
              </a:ext>
            </a:extLst>
          </p:cNvPr>
          <p:cNvSpPr>
            <a:spLocks noGrp="1"/>
          </p:cNvSpPr>
          <p:nvPr/>
        </p:nvSpPr>
        <p:spPr>
          <a:xfrm>
            <a:off x="768096" y="256032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16" name="Google Shape;107;p14">
            <a:extLst>
              <a:ext uri="{FF2B5EF4-FFF2-40B4-BE49-F238E27FC236}">
                <a16:creationId xmlns:a16="http://schemas.microsoft.com/office/drawing/2014/main" id="{EDC997A0-5F34-44BC-9B34-72893C0294C1}"/>
              </a:ext>
            </a:extLst>
          </p:cNvPr>
          <p:cNvSpPr>
            <a:spLocks noGrp="1"/>
          </p:cNvSpPr>
          <p:nvPr/>
        </p:nvSpPr>
        <p:spPr>
          <a:xfrm>
            <a:off x="1280160" y="2578608"/>
            <a:ext cx="579729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Tomo un entero x cualquiera, sin suponer nada sobre él.</a:t>
            </a:r>
            <a:endParaRPr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06E5CB9A-0D1D-4C1B-B52C-1E8C7EC5018D}"/>
              </a:ext>
            </a:extLst>
          </p:cNvPr>
          <p:cNvSpPr>
            <a:spLocks noGrp="1"/>
          </p:cNvSpPr>
          <p:nvPr/>
        </p:nvSpPr>
        <p:spPr>
          <a:xfrm>
            <a:off x="768096" y="3182112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7" name="Google Shape;107;p14">
            <a:extLst>
              <a:ext uri="{FF2B5EF4-FFF2-40B4-BE49-F238E27FC236}">
                <a16:creationId xmlns:a16="http://schemas.microsoft.com/office/drawing/2014/main" id="{022B85F6-B84B-446F-9156-F1A4E4BBC098}"/>
              </a:ext>
            </a:extLst>
          </p:cNvPr>
          <p:cNvSpPr>
            <a:spLocks noGrp="1"/>
          </p:cNvSpPr>
          <p:nvPr/>
        </p:nvSpPr>
        <p:spPr>
          <a:xfrm>
            <a:off x="1280160" y="3200400"/>
            <a:ext cx="579729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Debo construir un y que cumpla x + y = 0.</a:t>
            </a:r>
            <a:endParaRPr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12F6C43-258F-4F5F-AEF1-37BF65EF7710}"/>
              </a:ext>
            </a:extLst>
          </p:cNvPr>
          <p:cNvSpPr>
            <a:spLocks noGrp="1"/>
          </p:cNvSpPr>
          <p:nvPr/>
        </p:nvSpPr>
        <p:spPr>
          <a:xfrm>
            <a:off x="768096" y="3803904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18" name="Google Shape;107;p14">
            <a:extLst>
              <a:ext uri="{FF2B5EF4-FFF2-40B4-BE49-F238E27FC236}">
                <a16:creationId xmlns:a16="http://schemas.microsoft.com/office/drawing/2014/main" id="{BE123C90-F4F2-4BBD-AC2B-9162E3706D0D}"/>
              </a:ext>
            </a:extLst>
          </p:cNvPr>
          <p:cNvSpPr>
            <a:spLocks noGrp="1"/>
          </p:cNvSpPr>
          <p:nvPr/>
        </p:nvSpPr>
        <p:spPr>
          <a:xfrm>
            <a:off x="1280160" y="3822192"/>
            <a:ext cx="579729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Elijo y = −x, que también es entero.</a:t>
            </a:r>
            <a:endParaRPr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38F4704-5891-4DF9-97DD-9FBDE8F0281A}"/>
              </a:ext>
            </a:extLst>
          </p:cNvPr>
          <p:cNvSpPr>
            <a:spLocks noGrp="1"/>
          </p:cNvSpPr>
          <p:nvPr/>
        </p:nvSpPr>
        <p:spPr>
          <a:xfrm>
            <a:off x="768096" y="4425696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19" name="Google Shape;107;p14">
            <a:extLst>
              <a:ext uri="{FF2B5EF4-FFF2-40B4-BE49-F238E27FC236}">
                <a16:creationId xmlns:a16="http://schemas.microsoft.com/office/drawing/2014/main" id="{063BD5A5-B9D7-46A1-8942-1DE485C40F11}"/>
              </a:ext>
            </a:extLst>
          </p:cNvPr>
          <p:cNvSpPr>
            <a:spLocks noGrp="1"/>
          </p:cNvSpPr>
          <p:nvPr/>
        </p:nvSpPr>
        <p:spPr>
          <a:xfrm>
            <a:off x="1280160" y="4443984"/>
            <a:ext cx="579729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Se cumple: x + (−x) = 0.</a:t>
            </a:r>
            <a:endParaRPr/>
          </a:p>
        </p:txBody>
      </p:sp>
      <p:graphicFrame>
        <p:nvGraphicFramePr>
          <p:cNvPr id="137" name="Table 112"/>
          <p:cNvGraphicFramePr/>
          <p:nvPr/>
        </p:nvGraphicFramePr>
        <p:xfrm>
          <a:off x="7589520" y="2651760"/>
          <a:ext cx="384048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x</a:t>
                      </a:r>
                    </a:p>
                  </a:txBody>
                  <a:tcPr marL="64008" marR="64008" marT="27432" marB="27432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y = −x</a:t>
                      </a:r>
                    </a:p>
                  </a:txBody>
                  <a:tcPr marL="64008" marR="64008" marT="27432" marB="27432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x + y</a:t>
                      </a:r>
                    </a:p>
                  </a:txBody>
                  <a:tcPr marL="64008" marR="64008" marT="27432" marB="27432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</a:p>
                  </a:txBody>
                  <a:tcPr marL="64008" marR="64008" marT="27432" marB="27432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−5</a:t>
                      </a:r>
                    </a:p>
                  </a:txBody>
                  <a:tcPr marL="64008" marR="64008" marT="27432" marB="27432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0</a:t>
                      </a:r>
                    </a:p>
                  </a:txBody>
                  <a:tcPr marL="64008" marR="64008" marT="27432" marB="27432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−3</a:t>
                      </a:r>
                    </a:p>
                  </a:txBody>
                  <a:tcPr marL="64008" marR="64008" marT="27432" marB="27432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</a:p>
                  </a:txBody>
                  <a:tcPr marL="64008" marR="64008" marT="27432" marB="27432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0</a:t>
                      </a:r>
                    </a:p>
                  </a:txBody>
                  <a:tcPr marL="64008" marR="64008" marT="27432" marB="27432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0</a:t>
                      </a:r>
                    </a:p>
                  </a:txBody>
                  <a:tcPr marL="64008" marR="64008" marT="27432" marB="27432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0</a:t>
                      </a:r>
                    </a:p>
                  </a:txBody>
                  <a:tcPr marL="64008" marR="64008" marT="27432" marB="27432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0</a:t>
                      </a:r>
                    </a:p>
                  </a:txBody>
                  <a:tcPr marL="64008" marR="64008" marT="27432" marB="27432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489D282E-76E7-456E-9389-48F096A6CD91}"/>
              </a:ext>
            </a:extLst>
          </p:cNvPr>
          <p:cNvSpPr>
            <a:spLocks noGrp="1"/>
          </p:cNvSpPr>
          <p:nvPr/>
        </p:nvSpPr>
        <p:spPr>
          <a:xfrm>
            <a:off x="7589520" y="470916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21" name="Google Shape;107;p14">
            <a:extLst>
              <a:ext uri="{FF2B5EF4-FFF2-40B4-BE49-F238E27FC236}">
                <a16:creationId xmlns:a16="http://schemas.microsoft.com/office/drawing/2014/main" id="{FB04011D-49A3-49F4-8B0E-DFFE99AC9E0F}"/>
              </a:ext>
            </a:extLst>
          </p:cNvPr>
          <p:cNvSpPr>
            <a:spLocks noGrp="1"/>
          </p:cNvSpPr>
          <p:nvPr/>
        </p:nvSpPr>
        <p:spPr>
          <a:xfrm>
            <a:off x="7818120" y="4855464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Veredicto</a:t>
            </a:r>
            <a:endParaRPr/>
          </a:p>
        </p:txBody>
      </p:sp>
      <p:sp>
        <p:nvSpPr>
          <p:cNvPr id="122" name="Google Shape;107;p14">
            <a:extLst>
              <a:ext uri="{FF2B5EF4-FFF2-40B4-BE49-F238E27FC236}">
                <a16:creationId xmlns:a16="http://schemas.microsoft.com/office/drawing/2014/main" id="{26F3B17F-4134-405A-8BAC-24D0C6E3670C}"/>
              </a:ext>
            </a:extLst>
          </p:cNvPr>
          <p:cNvSpPr>
            <a:spLocks noGrp="1"/>
          </p:cNvSpPr>
          <p:nvPr/>
        </p:nvSpPr>
        <p:spPr>
          <a:xfrm>
            <a:off x="7818120" y="5276088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Verdadera. El y depende de x, y eso está permitido en este patrón.</a:t>
            </a:r>
          </a:p>
        </p:txBody>
      </p:sp>
    </p:spTree>
    <p:extLst>
      <p:ext uri="{BB962C8B-B14F-4D97-AF65-F5344CB8AC3E}">
        <p14:creationId xmlns:p14="http://schemas.microsoft.com/office/powerpoint/2010/main" val="1084712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DCFCCC28-6BC2-4FE7-A375-EB1B27A16CD3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Ejemplo resuelto 2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F4FB30D4-9D70-409B-9866-A7FED34DDA0C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BC76264B-68ED-4C3C-874A-7B23AC05C779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¿Es verdadera  ∃y ∈ ℤ ∀x ∈ ℤ (x + y = 0)?</a:t>
            </a:r>
            <a:endParaRPr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E121F850-F4B5-4DF6-B276-A78472A34C1E}"/>
              </a:ext>
            </a:extLst>
          </p:cNvPr>
          <p:cNvSpPr>
            <a:spLocks noGrp="1"/>
          </p:cNvSpPr>
          <p:nvPr/>
        </p:nvSpPr>
        <p:spPr>
          <a:xfrm>
            <a:off x="768096" y="256032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16" name="Google Shape;107;p14">
            <a:extLst>
              <a:ext uri="{FF2B5EF4-FFF2-40B4-BE49-F238E27FC236}">
                <a16:creationId xmlns:a16="http://schemas.microsoft.com/office/drawing/2014/main" id="{54AFBAFF-A02D-4A07-97B8-AFD713BD7FE6}"/>
              </a:ext>
            </a:extLst>
          </p:cNvPr>
          <p:cNvSpPr>
            <a:spLocks noGrp="1"/>
          </p:cNvSpPr>
          <p:nvPr/>
        </p:nvSpPr>
        <p:spPr>
          <a:xfrm>
            <a:off x="1280160" y="2578608"/>
            <a:ext cx="579729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Ahora el y se fija primero y debe servir para todos los x.</a:t>
            </a:r>
            <a:endParaRPr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6FF573E7-9014-4F30-BAB1-D967E0811CBE}"/>
              </a:ext>
            </a:extLst>
          </p:cNvPr>
          <p:cNvSpPr>
            <a:spLocks noGrp="1"/>
          </p:cNvSpPr>
          <p:nvPr/>
        </p:nvSpPr>
        <p:spPr>
          <a:xfrm>
            <a:off x="768096" y="3182112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7" name="Google Shape;107;p14">
            <a:extLst>
              <a:ext uri="{FF2B5EF4-FFF2-40B4-BE49-F238E27FC236}">
                <a16:creationId xmlns:a16="http://schemas.microsoft.com/office/drawing/2014/main" id="{475000BA-CF7B-4548-B420-2BDB31E215FD}"/>
              </a:ext>
            </a:extLst>
          </p:cNvPr>
          <p:cNvSpPr>
            <a:spLocks noGrp="1"/>
          </p:cNvSpPr>
          <p:nvPr/>
        </p:nvSpPr>
        <p:spPr>
          <a:xfrm>
            <a:off x="1280160" y="3200400"/>
            <a:ext cx="579729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Pruebo con y = 0: falla con x = 1, porque 1 + 0 ≠ 0.</a:t>
            </a:r>
            <a:endParaRPr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1F941D27-68E4-470C-BC4F-262B68F8A4FD}"/>
              </a:ext>
            </a:extLst>
          </p:cNvPr>
          <p:cNvSpPr>
            <a:spLocks noGrp="1"/>
          </p:cNvSpPr>
          <p:nvPr/>
        </p:nvSpPr>
        <p:spPr>
          <a:xfrm>
            <a:off x="768096" y="3803904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18" name="Google Shape;107;p14">
            <a:extLst>
              <a:ext uri="{FF2B5EF4-FFF2-40B4-BE49-F238E27FC236}">
                <a16:creationId xmlns:a16="http://schemas.microsoft.com/office/drawing/2014/main" id="{F7EE50ED-A976-447F-A41B-6C549C811198}"/>
              </a:ext>
            </a:extLst>
          </p:cNvPr>
          <p:cNvSpPr>
            <a:spLocks noGrp="1"/>
          </p:cNvSpPr>
          <p:nvPr/>
        </p:nvSpPr>
        <p:spPr>
          <a:xfrm>
            <a:off x="1280160" y="3822192"/>
            <a:ext cx="579729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Pruebo con y = 7: falla con x = 1, porque 1 + 7 ≠ 0.</a:t>
            </a:r>
            <a:endParaRPr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825D988-F937-411E-884D-62FF6969877C}"/>
              </a:ext>
            </a:extLst>
          </p:cNvPr>
          <p:cNvSpPr>
            <a:spLocks noGrp="1"/>
          </p:cNvSpPr>
          <p:nvPr/>
        </p:nvSpPr>
        <p:spPr>
          <a:xfrm>
            <a:off x="768096" y="4425696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19" name="Google Shape;107;p14">
            <a:extLst>
              <a:ext uri="{FF2B5EF4-FFF2-40B4-BE49-F238E27FC236}">
                <a16:creationId xmlns:a16="http://schemas.microsoft.com/office/drawing/2014/main" id="{E6A99F4E-F81A-4A0A-ADFB-844BF18E7EFC}"/>
              </a:ext>
            </a:extLst>
          </p:cNvPr>
          <p:cNvSpPr>
            <a:spLocks noGrp="1"/>
          </p:cNvSpPr>
          <p:nvPr/>
        </p:nvSpPr>
        <p:spPr>
          <a:xfrm>
            <a:off x="1280160" y="4443984"/>
            <a:ext cx="579729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En general, cualquier y falla con todo x distinto de −y.</a:t>
            </a:r>
            <a:endParaRPr/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01C69A1B-875D-42B0-98B6-C4FD9A5EC21A}"/>
              </a:ext>
            </a:extLst>
          </p:cNvPr>
          <p:cNvSpPr>
            <a:spLocks noGrp="1"/>
          </p:cNvSpPr>
          <p:nvPr/>
        </p:nvSpPr>
        <p:spPr>
          <a:xfrm>
            <a:off x="7589520" y="2651760"/>
            <a:ext cx="3840480" cy="155448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20" name="Google Shape;107;p14">
            <a:extLst>
              <a:ext uri="{FF2B5EF4-FFF2-40B4-BE49-F238E27FC236}">
                <a16:creationId xmlns:a16="http://schemas.microsoft.com/office/drawing/2014/main" id="{B191F122-199A-462B-8139-FB564673AC1A}"/>
              </a:ext>
            </a:extLst>
          </p:cNvPr>
          <p:cNvSpPr>
            <a:spLocks noGrp="1"/>
          </p:cNvSpPr>
          <p:nvPr/>
        </p:nvSpPr>
        <p:spPr>
          <a:xfrm>
            <a:off x="7818120" y="2798064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Veredicto</a:t>
            </a:r>
            <a:endParaRPr/>
          </a:p>
        </p:txBody>
      </p:sp>
      <p:sp>
        <p:nvSpPr>
          <p:cNvPr id="121" name="Google Shape;107;p14">
            <a:extLst>
              <a:ext uri="{FF2B5EF4-FFF2-40B4-BE49-F238E27FC236}">
                <a16:creationId xmlns:a16="http://schemas.microsoft.com/office/drawing/2014/main" id="{627F4A80-8E71-47D1-852E-0796904B313E}"/>
              </a:ext>
            </a:extLst>
          </p:cNvPr>
          <p:cNvSpPr>
            <a:spLocks noGrp="1"/>
          </p:cNvSpPr>
          <p:nvPr/>
        </p:nvSpPr>
        <p:spPr>
          <a:xfrm>
            <a:off x="7818120" y="3218688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Falsa. Ningún entero fijo sirve para todos los demás.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D7D30ECC-BAF7-4E15-B546-8A53ECE9A289}"/>
              </a:ext>
            </a:extLst>
          </p:cNvPr>
          <p:cNvSpPr>
            <a:spLocks noGrp="1"/>
          </p:cNvSpPr>
          <p:nvPr/>
        </p:nvSpPr>
        <p:spPr>
          <a:xfrm>
            <a:off x="7589520" y="434340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22" name="Google Shape;107;p14">
            <a:extLst>
              <a:ext uri="{FF2B5EF4-FFF2-40B4-BE49-F238E27FC236}">
                <a16:creationId xmlns:a16="http://schemas.microsoft.com/office/drawing/2014/main" id="{765CD00D-6279-426B-BF82-734D62876BDD}"/>
              </a:ext>
            </a:extLst>
          </p:cNvPr>
          <p:cNvSpPr>
            <a:spLocks noGrp="1"/>
          </p:cNvSpPr>
          <p:nvPr/>
        </p:nvSpPr>
        <p:spPr>
          <a:xfrm>
            <a:off x="7818120" y="4489704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Lo que hay que ver</a:t>
            </a:r>
            <a:endParaRPr/>
          </a:p>
        </p:txBody>
      </p:sp>
      <p:sp>
        <p:nvSpPr>
          <p:cNvPr id="123" name="Google Shape;107;p14">
            <a:extLst>
              <a:ext uri="{FF2B5EF4-FFF2-40B4-BE49-F238E27FC236}">
                <a16:creationId xmlns:a16="http://schemas.microsoft.com/office/drawing/2014/main" id="{A8F1886D-C08B-40EE-9CA6-6807EA72191B}"/>
              </a:ext>
            </a:extLst>
          </p:cNvPr>
          <p:cNvSpPr>
            <a:spLocks noGrp="1"/>
          </p:cNvSpPr>
          <p:nvPr/>
        </p:nvSpPr>
        <p:spPr>
          <a:xfrm>
            <a:off x="7818120" y="4910328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Es la misma fórmula del ejemplo anterior. Solo cambió el orden de los cuantificadores, y pasó de verdadera a falsa.</a:t>
            </a:r>
          </a:p>
        </p:txBody>
      </p:sp>
    </p:spTree>
    <p:extLst>
      <p:ext uri="{BB962C8B-B14F-4D97-AF65-F5344CB8AC3E}">
        <p14:creationId xmlns:p14="http://schemas.microsoft.com/office/powerpoint/2010/main" val="1027626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22450ED3-9F1A-4DA0-A0B3-A0A91DB83040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¿Cuándo sí se pueden intercambiar?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52FE0C6B-6146-44A5-9235-F59A412FB1B6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8621FE35-E91F-433C-ACEE-B43088827215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No siempre el orden cambia el significado.</a:t>
            </a:r>
            <a:endParaRPr/>
          </a:p>
        </p:txBody>
      </p:sp>
      <p:graphicFrame>
        <p:nvGraphicFramePr>
          <p:cNvPr id="120" name="Google Shape;108;p14"/>
          <p:cNvGraphicFramePr/>
          <p:nvPr/>
        </p:nvGraphicFramePr>
        <p:xfrm>
          <a:off x="768096" y="2468880"/>
          <a:ext cx="10652759" cy="2377440"/>
        </p:xfrm>
        <a:graphic>
          <a:graphicData uri="http://schemas.openxmlformats.org/drawingml/2006/table">
            <a:tbl>
              <a:tblPr/>
              <a:tblGrid>
                <a:gridCol w="2982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6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Caso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¿Se pueden intercambiar?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 qué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∀x ∀y  ≡  ∀y ∀x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Sí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Ambos recorren todo el dominio; el orden no altera nada.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 ∃y  ≡  ∃y ∃x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Sí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Se busca una pareja; da igual cuál se nombre primero.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∀x ∃y   frente a   ∃y ∀x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No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El segundo exige un mismo y para todos; el primero no.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2E05CDCE-D49A-4C7C-BA40-34BC4462A712}"/>
              </a:ext>
            </a:extLst>
          </p:cNvPr>
          <p:cNvSpPr>
            <a:spLocks noGrp="1"/>
          </p:cNvSpPr>
          <p:nvPr/>
        </p:nvSpPr>
        <p:spPr>
          <a:xfrm>
            <a:off x="768096" y="5029200"/>
            <a:ext cx="10652760" cy="114300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E6F395E5-C9FB-468C-A932-354BDCDD7883}"/>
              </a:ext>
            </a:extLst>
          </p:cNvPr>
          <p:cNvSpPr>
            <a:spLocks noGrp="1"/>
          </p:cNvSpPr>
          <p:nvPr/>
        </p:nvSpPr>
        <p:spPr>
          <a:xfrm>
            <a:off x="1051560" y="51663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Regla para recordar</a:t>
            </a:r>
            <a:endParaRPr/>
          </a:p>
        </p:txBody>
      </p:sp>
      <p:sp>
        <p:nvSpPr>
          <p:cNvPr id="113" name="Google Shape;107;p14">
            <a:extLst>
              <a:ext uri="{FF2B5EF4-FFF2-40B4-BE49-F238E27FC236}">
                <a16:creationId xmlns:a16="http://schemas.microsoft.com/office/drawing/2014/main" id="{ED68E7F5-4814-48D2-8BB6-108722A34B75}"/>
              </a:ext>
            </a:extLst>
          </p:cNvPr>
          <p:cNvSpPr>
            <a:spLocks noGrp="1"/>
          </p:cNvSpPr>
          <p:nvPr/>
        </p:nvSpPr>
        <p:spPr>
          <a:xfrm>
            <a:off x="1051560" y="5532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Cuantificadores iguales conmutan; los distintos no conmutan en general. Además, ∃∀ es más fuerte: implica a ∀∃, pero no al revés.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93760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AA43E222-ABFD-40FA-966C-D3BCE23E9562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Conectivas dentro de un cuantificador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82386571-9F97-499A-A2B4-69600987BB1B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94B8AB07-3A20-46DA-B71C-1436E268D3E5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¿Cuáles conectivas se pueden sacar del cuantificador y cuáles no?</a:t>
            </a:r>
            <a:endParaRPr/>
          </a:p>
        </p:txBody>
      </p:sp>
      <p:graphicFrame>
        <p:nvGraphicFramePr>
          <p:cNvPr id="126" name="Google Shape;108;p14"/>
          <p:cNvGraphicFramePr/>
          <p:nvPr/>
        </p:nvGraphicFramePr>
        <p:xfrm>
          <a:off x="768096" y="2377440"/>
          <a:ext cx="6126479" cy="2377440"/>
        </p:xfrm>
        <a:graphic>
          <a:graphicData uri="http://schemas.openxmlformats.org/drawingml/2006/table">
            <a:tbl>
              <a:tblPr/>
              <a:tblGrid>
                <a:gridCol w="4778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Equivalencia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¿Vale?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∀x (P(x) ∧ Q(x))   ≡   ∀x P(x) ∧ ∀x Q(x)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Sí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 (P(x) ∨ Q(x))   ≡   ∃x P(x) ∨ ∃x Q(x)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Sí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∀x (P(x) ∨ Q(x))   ≡   ∀x P(x) ∨ ∀x Q(x)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No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 (P(x) ∧ Q(x))   ≡   ∃x P(x) ∧ ∃x Q(x)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No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39C921CD-A8C3-46BC-9846-D5D032F2873B}"/>
              </a:ext>
            </a:extLst>
          </p:cNvPr>
          <p:cNvSpPr>
            <a:spLocks noGrp="1"/>
          </p:cNvSpPr>
          <p:nvPr/>
        </p:nvSpPr>
        <p:spPr>
          <a:xfrm>
            <a:off x="7086600" y="2377440"/>
            <a:ext cx="4334256" cy="11430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4" name="Google Shape;107;p14">
            <a:extLst>
              <a:ext uri="{FF2B5EF4-FFF2-40B4-BE49-F238E27FC236}">
                <a16:creationId xmlns:a16="http://schemas.microsoft.com/office/drawing/2014/main" id="{FDCF32F3-623A-4856-86CE-15665D446B80}"/>
              </a:ext>
            </a:extLst>
          </p:cNvPr>
          <p:cNvSpPr>
            <a:spLocks noGrp="1"/>
          </p:cNvSpPr>
          <p:nvPr/>
        </p:nvSpPr>
        <p:spPr>
          <a:xfrm>
            <a:off x="7315200" y="2523744"/>
            <a:ext cx="387705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El ∀ no distribuye sobre ∨</a:t>
            </a:r>
            <a:endParaRPr/>
          </a:p>
        </p:txBody>
      </p:sp>
      <p:sp>
        <p:nvSpPr>
          <p:cNvPr id="115" name="Google Shape;107;p14">
            <a:extLst>
              <a:ext uri="{FF2B5EF4-FFF2-40B4-BE49-F238E27FC236}">
                <a16:creationId xmlns:a16="http://schemas.microsoft.com/office/drawing/2014/main" id="{FA9F956F-D57A-4848-96D1-72A8422B45F3}"/>
              </a:ext>
            </a:extLst>
          </p:cNvPr>
          <p:cNvSpPr>
            <a:spLocks noGrp="1"/>
          </p:cNvSpPr>
          <p:nvPr/>
        </p:nvSpPr>
        <p:spPr>
          <a:xfrm>
            <a:off x="7315200" y="2944368"/>
            <a:ext cx="38770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2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«Todo entero es par o impar» es verdadero, pero ni todos son pares ni todos son impares.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35D313C7-DE5A-4EC8-8357-5B369FAB3FE2}"/>
              </a:ext>
            </a:extLst>
          </p:cNvPr>
          <p:cNvSpPr>
            <a:spLocks noGrp="1"/>
          </p:cNvSpPr>
          <p:nvPr/>
        </p:nvSpPr>
        <p:spPr>
          <a:xfrm>
            <a:off x="7086600" y="3611880"/>
            <a:ext cx="4334256" cy="11430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6" name="Google Shape;107;p14">
            <a:extLst>
              <a:ext uri="{FF2B5EF4-FFF2-40B4-BE49-F238E27FC236}">
                <a16:creationId xmlns:a16="http://schemas.microsoft.com/office/drawing/2014/main" id="{ECD50E97-3097-4522-A4DF-B347340B1366}"/>
              </a:ext>
            </a:extLst>
          </p:cNvPr>
          <p:cNvSpPr>
            <a:spLocks noGrp="1"/>
          </p:cNvSpPr>
          <p:nvPr/>
        </p:nvSpPr>
        <p:spPr>
          <a:xfrm>
            <a:off x="7315200" y="3758184"/>
            <a:ext cx="387705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El ∃ no distribuye sobre ∧</a:t>
            </a:r>
            <a:endParaRPr/>
          </a:p>
        </p:txBody>
      </p:sp>
      <p:sp>
        <p:nvSpPr>
          <p:cNvPr id="117" name="Google Shape;107;p14">
            <a:extLst>
              <a:ext uri="{FF2B5EF4-FFF2-40B4-BE49-F238E27FC236}">
                <a16:creationId xmlns:a16="http://schemas.microsoft.com/office/drawing/2014/main" id="{F828AA4F-0F50-4BD6-852C-6609DF826074}"/>
              </a:ext>
            </a:extLst>
          </p:cNvPr>
          <p:cNvSpPr>
            <a:spLocks noGrp="1"/>
          </p:cNvSpPr>
          <p:nvPr/>
        </p:nvSpPr>
        <p:spPr>
          <a:xfrm>
            <a:off x="7315200" y="4178808"/>
            <a:ext cx="38770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2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Existe un par y existe un impar, pero ningún entero es par e impar a la vez.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1E1ECC7D-325D-4717-A062-FA003591400E}"/>
              </a:ext>
            </a:extLst>
          </p:cNvPr>
          <p:cNvSpPr>
            <a:spLocks noGrp="1"/>
          </p:cNvSpPr>
          <p:nvPr/>
        </p:nvSpPr>
        <p:spPr>
          <a:xfrm>
            <a:off x="768096" y="4937760"/>
            <a:ext cx="10652760" cy="12344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8" name="Google Shape;107;p14">
            <a:extLst>
              <a:ext uri="{FF2B5EF4-FFF2-40B4-BE49-F238E27FC236}">
                <a16:creationId xmlns:a16="http://schemas.microsoft.com/office/drawing/2014/main" id="{031A0E2C-1ADD-4277-ABE0-705E70374FFF}"/>
              </a:ext>
            </a:extLst>
          </p:cNvPr>
          <p:cNvSpPr>
            <a:spLocks noGrp="1"/>
          </p:cNvSpPr>
          <p:nvPr/>
        </p:nvSpPr>
        <p:spPr>
          <a:xfrm>
            <a:off x="1051560" y="5074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Por qué</a:t>
            </a:r>
            <a:endParaRPr/>
          </a:p>
        </p:txBody>
      </p:sp>
      <p:sp>
        <p:nvSpPr>
          <p:cNvPr id="119" name="Google Shape;107;p14">
            <a:extLst>
              <a:ext uri="{FF2B5EF4-FFF2-40B4-BE49-F238E27FC236}">
                <a16:creationId xmlns:a16="http://schemas.microsoft.com/office/drawing/2014/main" id="{BBD7D95C-8974-4753-866C-E948919CDF0F}"/>
              </a:ext>
            </a:extLst>
          </p:cNvPr>
          <p:cNvSpPr>
            <a:spLocks noGrp="1"/>
          </p:cNvSpPr>
          <p:nvPr/>
        </p:nvSpPr>
        <p:spPr>
          <a:xfrm>
            <a:off x="1051560" y="54406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El ∀ es una conjunción infinita y el ∃ una disyunción infinita. Por eso cada uno distribuye sobre su propia conectiva y no sobre la otra. Es la misma idea de las leyes de la sesión 3, llevada a un dominio con infinitos elementos.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0085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DF99320F-D12D-45DE-9E28-933F3C30B50B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Actividad 2: ¿se puede sacar del cuantificador?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4780E61D-BD4F-4F44-AA1A-3DDD83346E37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58CB40D6-F45C-4398-BF99-A72E1573146A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Decida si cada par de fórmulas es equivalente. Si no lo es, dé un contraejemplo.</a:t>
            </a:r>
            <a:endParaRPr/>
          </a:p>
        </p:txBody>
      </p:sp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8017F8C6-8D38-4435-A080-2971FC33D545}"/>
              </a:ext>
            </a:extLst>
          </p:cNvPr>
          <p:cNvSpPr>
            <a:spLocks noGrp="1"/>
          </p:cNvSpPr>
          <p:nvPr/>
        </p:nvSpPr>
        <p:spPr>
          <a:xfrm>
            <a:off x="768096" y="2606040"/>
            <a:ext cx="10652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1)   ∀x (P(x) ∧ Q(x))        y        ∀x P(x) ∧ ∀x Q(x)</a:t>
            </a:r>
          </a:p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2)   ∃x (P(x) ∧ Q(x))        y        ∃x P(x) ∧ ∃x Q(x)</a:t>
            </a:r>
          </a:p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3)   ∃x (P(x) ∨ Q(x))        y        ∃x P(x) ∨ ∃x Q(x)</a:t>
            </a:r>
          </a:p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4)   ∀x (P(x) ∨ Q(x))        y        ∀x P(x) ∨ ∀x Q(x)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9B368431-21A1-4D94-84FB-07450956125F}"/>
              </a:ext>
            </a:extLst>
          </p:cNvPr>
          <p:cNvSpPr>
            <a:spLocks noGrp="1"/>
          </p:cNvSpPr>
          <p:nvPr/>
        </p:nvSpPr>
        <p:spPr>
          <a:xfrm>
            <a:off x="768096" y="4754880"/>
            <a:ext cx="10652760" cy="14173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13BF3FC4-4D79-474A-A0E9-3AD2DF005011}"/>
              </a:ext>
            </a:extLst>
          </p:cNvPr>
          <p:cNvSpPr>
            <a:spLocks noGrp="1"/>
          </p:cNvSpPr>
          <p:nvPr/>
        </p:nvSpPr>
        <p:spPr>
          <a:xfrm>
            <a:off x="1051560" y="4892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5)  Un caso concreto</a:t>
            </a:r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8A09D183-69FD-41AE-844E-65508767198C}"/>
              </a:ext>
            </a:extLst>
          </p:cNvPr>
          <p:cNvSpPr>
            <a:spLocks noGrp="1"/>
          </p:cNvSpPr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Sobre los enteros, decida el valor de verdad de  ∀x ∈ ℤ (x ≥ 0 ∨ x ≤ 0)  y el de  ∀x ∈ ℤ (x ≥ 0) ∨ ∀x ∈ ℤ (x ≤ 0). ¿Coinciden?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61093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32D76F0B-ADED-4346-8D2A-5192DBD43936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Actividad 2 — Solución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C06573A2-F616-48F3-B1FB-0DA43B6CAF8B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091BFEC2-8C18-419D-B10D-7C965481902F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Con P(x): «x es par» y Q(x): «x es impar», sobre los enteros.</a:t>
            </a:r>
            <a:endParaRPr/>
          </a:p>
        </p:txBody>
      </p:sp>
      <p:graphicFrame>
        <p:nvGraphicFramePr>
          <p:cNvPr id="119" name="Google Shape;108;p14"/>
          <p:cNvGraphicFramePr/>
          <p:nvPr/>
        </p:nvGraphicFramePr>
        <p:xfrm>
          <a:off x="768096" y="2423160"/>
          <a:ext cx="10652758" cy="3200400"/>
        </p:xfrm>
        <a:graphic>
          <a:graphicData uri="http://schemas.openxmlformats.org/drawingml/2006/table">
            <a:tbl>
              <a:tblPr/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¿Equivalentes?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Justificación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1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Sí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El ∀ distribuye sobre la conjunción.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No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∃xP ∧ ∃xQ es verdadera (hay pares y hay impares), pero ∃x(P ∧ Q) es falsa: ninguno es ambos.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Sí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El ∃ distribuye sobre la disyunción.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No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∀x(P ∨ Q) es verdadera (todo entero es par o impar), pero ∀xP ∨ ∀xQ es falsa.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No coinciden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La primera es verdadera: todo entero es ≥ 0 o ≤ 0. La segunda es falsa: ni todos son ≥ 0 ni todos son ≤ 0.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B7F8B7E4-A980-4A11-90AD-42256B84226F}"/>
              </a:ext>
            </a:extLst>
          </p:cNvPr>
          <p:cNvSpPr>
            <a:spLocks noGrp="1"/>
          </p:cNvSpPr>
          <p:nvPr/>
        </p:nvSpPr>
        <p:spPr>
          <a:xfrm>
            <a:off x="768096" y="5715000"/>
            <a:ext cx="10652760" cy="548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FC6AC170-B0A2-4837-88C8-6CE905778373}"/>
              </a:ext>
            </a:extLst>
          </p:cNvPr>
          <p:cNvSpPr>
            <a:spLocks noGrp="1"/>
          </p:cNvSpPr>
          <p:nvPr/>
        </p:nvSpPr>
        <p:spPr>
          <a:xfrm>
            <a:off x="1051560" y="582472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En los dos casos que no valen, la implicación sí se cumple en una dirección: ∀xP ∨ ∀xQ  →  ∀x(P ∨ Q), y  ∃x(P ∧ Q)  →  ∃xP ∧ ∃xQ.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56152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975963A7-CDF4-458E-889E-803F6972D3B1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Traducción de enunciados con dos variables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EA036944-A082-48E0-A866-352292DB46D3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AB330DC5-D2D4-4958-BDE4-5909DB2CAB40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 = personas · C(x, y): «x conoce a y». Escriba primero la forma desplegada.</a:t>
            </a:r>
            <a:endParaRPr/>
          </a:p>
        </p:txBody>
      </p:sp>
      <p:graphicFrame>
        <p:nvGraphicFramePr>
          <p:cNvPr id="119" name="Google Shape;108;p14"/>
          <p:cNvGraphicFramePr/>
          <p:nvPr/>
        </p:nvGraphicFramePr>
        <p:xfrm>
          <a:off x="768096" y="2423160"/>
          <a:ext cx="10652759" cy="2834640"/>
        </p:xfrm>
        <a:graphic>
          <a:graphicData uri="http://schemas.openxmlformats.org/drawingml/2006/table">
            <a:tbl>
              <a:tblPr/>
              <a:tblGrid>
                <a:gridCol w="2556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0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5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Enunciado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Forma desplegada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En símbolos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Todos conocen a alguien.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Para toda persona x existe una persona y tal que x conoce a y.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∀x ∈ P ∃y ∈ P  C(x,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Alguien conoce a todos.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Existe una persona x tal que para toda persona y, x conoce a y.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 ∈ P ∀y ∈ P  C(x,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Nadie se conoce a sí mismo.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Para toda persona x: x no conoce a x.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∀x ∈ P  ¬C(x, x)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Todos son conocidos por alguien.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Para toda persona y existe una persona x tal que x conoce a y.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∀y ∈ P ∃x ∈ P  C(x,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A216164E-8480-4CE3-91AF-0A86DFD7BC6E}"/>
              </a:ext>
            </a:extLst>
          </p:cNvPr>
          <p:cNvSpPr>
            <a:spLocks noGrp="1"/>
          </p:cNvSpPr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670472C2-5E26-4527-8956-671080DC1834}"/>
              </a:ext>
            </a:extLst>
          </p:cNvPr>
          <p:cNvSpPr>
            <a:spLocks noGrp="1"/>
          </p:cNvSpPr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La forma desplegada es el paso que hace visible el orden: quien se nombra primero es el que se cuantifica primero.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48966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FEABADF9-068A-4BBB-A191-48D06FD7DDB3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Actividad 3: verdadero o falso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18E1D249-58D9-4231-BE37-C3F946DA99E5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7283AFC7-3F60-431A-BE84-0653FD0EAC1C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Determine el valor de verdad de cada enunciado y justifique su respuesta.</a:t>
            </a:r>
            <a:endParaRPr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9DB11831-AC8E-456B-9086-E5B526103FC3}"/>
              </a:ext>
            </a:extLst>
          </p:cNvPr>
          <p:cNvSpPr>
            <a:spLocks noGrp="1"/>
          </p:cNvSpPr>
          <p:nvPr/>
        </p:nvSpPr>
        <p:spPr>
          <a:xfrm>
            <a:off x="768096" y="2286000"/>
            <a:ext cx="10652760" cy="5486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5266393C-C229-432F-8FBD-227623345F0C}"/>
              </a:ext>
            </a:extLst>
          </p:cNvPr>
          <p:cNvSpPr>
            <a:spLocks noGrp="1"/>
          </p:cNvSpPr>
          <p:nvPr/>
        </p:nvSpPr>
        <p:spPr>
          <a:xfrm>
            <a:off x="1051560" y="2377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Dominios:  ℕ = números naturales   ·   ℤ = números enteros</a:t>
            </a:r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B21946E8-EBC8-4BE5-B6D9-9AD970B1FAF4}"/>
              </a:ext>
            </a:extLst>
          </p:cNvPr>
          <p:cNvSpPr>
            <a:spLocks noGrp="1"/>
          </p:cNvSpPr>
          <p:nvPr/>
        </p:nvSpPr>
        <p:spPr>
          <a:xfrm>
            <a:off x="768096" y="3108960"/>
            <a:ext cx="512064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1)   ∀x ∈ ℕ ∃y ∈ ℕ (y &gt; x)</a:t>
            </a:r>
          </a:p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2)   ∃y ∈ ℕ ∀x ∈ ℕ (y &gt; x)</a:t>
            </a:r>
          </a:p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3)   ∃x ∈ ℤ ∀y ∈ ℤ (x + y = y)</a:t>
            </a:r>
          </a:p>
        </p:txBody>
      </p:sp>
      <p:sp>
        <p:nvSpPr>
          <p:cNvPr id="113" name="Google Shape;107;p14">
            <a:extLst>
              <a:ext uri="{FF2B5EF4-FFF2-40B4-BE49-F238E27FC236}">
                <a16:creationId xmlns:a16="http://schemas.microsoft.com/office/drawing/2014/main" id="{5D1D65FC-38ED-408D-A882-C0E41903787A}"/>
              </a:ext>
            </a:extLst>
          </p:cNvPr>
          <p:cNvSpPr>
            <a:spLocks noGrp="1"/>
          </p:cNvSpPr>
          <p:nvPr/>
        </p:nvSpPr>
        <p:spPr>
          <a:xfrm>
            <a:off x="6217920" y="3108960"/>
            <a:ext cx="52120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4)   ∀x ∈ ℤ ∀y ∈ ℤ (x &lt; y ∨ y &lt; x)</a:t>
            </a:r>
          </a:p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5)   ∃x ∈ ℤ ∃y ∈ ℤ (x² + y² = 25)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8E01E1E4-32F6-4315-9EE7-CDA24226DCEA}"/>
              </a:ext>
            </a:extLst>
          </p:cNvPr>
          <p:cNvSpPr>
            <a:spLocks noGrp="1"/>
          </p:cNvSpPr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4" name="Google Shape;107;p14">
            <a:extLst>
              <a:ext uri="{FF2B5EF4-FFF2-40B4-BE49-F238E27FC236}">
                <a16:creationId xmlns:a16="http://schemas.microsoft.com/office/drawing/2014/main" id="{1524CA98-4058-4D4F-A2F0-B2ACD84AFF25}"/>
              </a:ext>
            </a:extLst>
          </p:cNvPr>
          <p:cNvSpPr>
            <a:spLocks noGrp="1"/>
          </p:cNvSpPr>
          <p:nvPr/>
        </p:nvSpPr>
        <p:spPr>
          <a:xfrm>
            <a:off x="1051560" y="5532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Justifique: use una regla o testigo si es verdadera, y un contraejemplo si es falsa.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94236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2E7B9E2A-EE97-44D3-99A9-86E6BC8E0525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Actividad 3 — Solución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776C4AC2-0D1B-41DC-8B8F-960B15EECCC5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B26D96A2-481B-4419-B7F2-BAB3ED557EF8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Resultado y justificación.</a:t>
            </a:r>
            <a:endParaRPr/>
          </a:p>
        </p:txBody>
      </p:sp>
      <p:graphicFrame>
        <p:nvGraphicFramePr>
          <p:cNvPr id="119" name="Google Shape;108;p14"/>
          <p:cNvGraphicFramePr/>
          <p:nvPr/>
        </p:nvGraphicFramePr>
        <p:xfrm>
          <a:off x="768096" y="2423160"/>
          <a:ext cx="10652759" cy="3108960"/>
        </p:xfrm>
        <a:graphic>
          <a:graphicData uri="http://schemas.openxmlformats.org/drawingml/2006/table">
            <a:tbl>
              <a:tblPr/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9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4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Veredicto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Justificación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1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Verdadera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Tome y = x + 1. Entonces y ∈ ℕ y y &gt; x.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Falsa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Para cualquier y, elija x = y + 1; así y &gt; x es falsa.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Verdadera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Elija x = 0. Para todo y ∈ ℤ, 0 + y = y.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Falsa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Contraejemplo: x = y = 0. Ninguna desigualdad es cierta.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Verdadera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Testigo: x = 3, y = 4; 3² + 4² = 25.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CD6E0ACF-A208-45A6-A380-A6EDB2D1D152}"/>
              </a:ext>
            </a:extLst>
          </p:cNvPr>
          <p:cNvSpPr>
            <a:spLocks noGrp="1"/>
          </p:cNvSpPr>
          <p:nvPr/>
        </p:nvSpPr>
        <p:spPr>
          <a:xfrm>
            <a:off x="768096" y="5669280"/>
            <a:ext cx="10652760" cy="5943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1572F15D-5586-4A81-A965-03B728C64909}"/>
              </a:ext>
            </a:extLst>
          </p:cNvPr>
          <p:cNvSpPr>
            <a:spLocks noGrp="1"/>
          </p:cNvSpPr>
          <p:nvPr/>
        </p:nvSpPr>
        <p:spPr>
          <a:xfrm>
            <a:off x="1051560" y="578815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Los puntos 1 y 2 usan la misma relación: al invertir los cuantificadores, cambia el valor de verdad.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675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4B0ABB13-762F-436E-8128-2A6088F5B89E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Negación de cuantificadores anidados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EB4F05A6-2A27-4E69-A119-F4425CFD3A6F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57AEC749-D708-43FC-9AAD-FA5B675832E6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Se aplica la misma ley de ayer, una vez por cada cuantificador.</a:t>
            </a:r>
            <a:endParaRPr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291FB743-7038-41DD-9362-B8CA2E974850}"/>
              </a:ext>
            </a:extLst>
          </p:cNvPr>
          <p:cNvSpPr>
            <a:spLocks noGrp="1"/>
          </p:cNvSpPr>
          <p:nvPr/>
        </p:nvSpPr>
        <p:spPr>
          <a:xfrm>
            <a:off x="768096" y="2286000"/>
            <a:ext cx="10652760" cy="10515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5" name="Google Shape;107;p14">
            <a:extLst>
              <a:ext uri="{FF2B5EF4-FFF2-40B4-BE49-F238E27FC236}">
                <a16:creationId xmlns:a16="http://schemas.microsoft.com/office/drawing/2014/main" id="{18DE93C5-3F4F-45BD-A6CC-337641CBD46B}"/>
              </a:ext>
            </a:extLst>
          </p:cNvPr>
          <p:cNvSpPr>
            <a:spLocks noGrp="1"/>
          </p:cNvSpPr>
          <p:nvPr/>
        </p:nvSpPr>
        <p:spPr>
          <a:xfrm>
            <a:off x="2377440" y="2450592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7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¬ ∀x ∃y  P(x, y)   ≡   ∃x ∀y  ¬P(x, y)</a:t>
            </a:r>
          </a:p>
          <a:p>
            <a:pPr>
              <a:spcAft>
                <a:spcPts val="600"/>
              </a:spcAft>
              <a:buNone/>
            </a:pPr>
            <a:r>
              <a:rPr sz="17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¬ ∃x ∀y  P(x, y)   ≡   ∀x ∃y  ¬P(x, y)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4FFD3D2D-5846-46BF-9441-0B6ABA856B07}"/>
              </a:ext>
            </a:extLst>
          </p:cNvPr>
          <p:cNvSpPr>
            <a:spLocks noGrp="1"/>
          </p:cNvSpPr>
          <p:nvPr/>
        </p:nvSpPr>
        <p:spPr>
          <a:xfrm>
            <a:off x="768096" y="356616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16" name="Google Shape;107;p14">
            <a:extLst>
              <a:ext uri="{FF2B5EF4-FFF2-40B4-BE49-F238E27FC236}">
                <a16:creationId xmlns:a16="http://schemas.microsoft.com/office/drawing/2014/main" id="{FE5F8956-6631-4613-95DE-062786CDC538}"/>
              </a:ext>
            </a:extLst>
          </p:cNvPr>
          <p:cNvSpPr>
            <a:spLocks noGrp="1"/>
          </p:cNvSpPr>
          <p:nvPr/>
        </p:nvSpPr>
        <p:spPr>
          <a:xfrm>
            <a:off x="1280160" y="3584448"/>
            <a:ext cx="607161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La negación entra por el cuantificador de más a la izquierda.</a:t>
            </a:r>
            <a:endParaRPr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319D02BE-CF5F-4463-96B6-3D171AAD00BE}"/>
              </a:ext>
            </a:extLst>
          </p:cNvPr>
          <p:cNvSpPr>
            <a:spLocks noGrp="1"/>
          </p:cNvSpPr>
          <p:nvPr/>
        </p:nvSpPr>
        <p:spPr>
          <a:xfrm>
            <a:off x="768096" y="4133088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7" name="Google Shape;107;p14">
            <a:extLst>
              <a:ext uri="{FF2B5EF4-FFF2-40B4-BE49-F238E27FC236}">
                <a16:creationId xmlns:a16="http://schemas.microsoft.com/office/drawing/2014/main" id="{207E2A04-3610-4A6D-9B0E-44E6C782C22A}"/>
              </a:ext>
            </a:extLst>
          </p:cNvPr>
          <p:cNvSpPr>
            <a:spLocks noGrp="1"/>
          </p:cNvSpPr>
          <p:nvPr/>
        </p:nvSpPr>
        <p:spPr>
          <a:xfrm>
            <a:off x="1280160" y="4151376"/>
            <a:ext cx="607161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Cada ∀ que atraviesa se convierte en ∃, y cada ∃ en ∀.</a:t>
            </a:r>
            <a:endParaRPr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BCD29BBB-399F-477B-AC6E-7273F309A557}"/>
              </a:ext>
            </a:extLst>
          </p:cNvPr>
          <p:cNvSpPr>
            <a:spLocks noGrp="1"/>
          </p:cNvSpPr>
          <p:nvPr/>
        </p:nvSpPr>
        <p:spPr>
          <a:xfrm>
            <a:off x="768096" y="4700016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18" name="Google Shape;107;p14">
            <a:extLst>
              <a:ext uri="{FF2B5EF4-FFF2-40B4-BE49-F238E27FC236}">
                <a16:creationId xmlns:a16="http://schemas.microsoft.com/office/drawing/2014/main" id="{82E4F720-365B-40C5-9BB7-D69E5CEB6366}"/>
              </a:ext>
            </a:extLst>
          </p:cNvPr>
          <p:cNvSpPr>
            <a:spLocks noGrp="1"/>
          </p:cNvSpPr>
          <p:nvPr/>
        </p:nvSpPr>
        <p:spPr>
          <a:xfrm>
            <a:off x="1280160" y="4718304"/>
            <a:ext cx="607161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Los dominios no cambian.</a:t>
            </a:r>
            <a:endParaRPr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501889D-2670-4A6B-A894-72EA8A5B7D42}"/>
              </a:ext>
            </a:extLst>
          </p:cNvPr>
          <p:cNvSpPr>
            <a:spLocks noGrp="1"/>
          </p:cNvSpPr>
          <p:nvPr/>
        </p:nvSpPr>
        <p:spPr>
          <a:xfrm>
            <a:off x="768096" y="5266944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19" name="Google Shape;107;p14">
            <a:extLst>
              <a:ext uri="{FF2B5EF4-FFF2-40B4-BE49-F238E27FC236}">
                <a16:creationId xmlns:a16="http://schemas.microsoft.com/office/drawing/2014/main" id="{DA8F56E6-7E78-4EB7-90FE-B59A34130C41}"/>
              </a:ext>
            </a:extLst>
          </p:cNvPr>
          <p:cNvSpPr>
            <a:spLocks noGrp="1"/>
          </p:cNvSpPr>
          <p:nvPr/>
        </p:nvSpPr>
        <p:spPr>
          <a:xfrm>
            <a:off x="1280160" y="5285232"/>
            <a:ext cx="607161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La negación termina pegada al predicado.</a:t>
            </a:r>
            <a:endParaRPr/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466DD05D-FC41-4CC3-B40F-38D04D6492AE}"/>
              </a:ext>
            </a:extLst>
          </p:cNvPr>
          <p:cNvSpPr>
            <a:spLocks noGrp="1"/>
          </p:cNvSpPr>
          <p:nvPr/>
        </p:nvSpPr>
        <p:spPr>
          <a:xfrm>
            <a:off x="7772400" y="361188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20" name="Google Shape;107;p14">
            <a:extLst>
              <a:ext uri="{FF2B5EF4-FFF2-40B4-BE49-F238E27FC236}">
                <a16:creationId xmlns:a16="http://schemas.microsoft.com/office/drawing/2014/main" id="{128AC0D4-C309-45DE-86E0-43D98B11DFEC}"/>
              </a:ext>
            </a:extLst>
          </p:cNvPr>
          <p:cNvSpPr>
            <a:spLocks noGrp="1"/>
          </p:cNvSpPr>
          <p:nvPr/>
        </p:nvSpPr>
        <p:spPr>
          <a:xfrm>
            <a:off x="8001000" y="375818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En una frase</a:t>
            </a:r>
            <a:endParaRPr/>
          </a:p>
        </p:txBody>
      </p:sp>
      <p:sp>
        <p:nvSpPr>
          <p:cNvPr id="121" name="Google Shape;107;p14">
            <a:extLst>
              <a:ext uri="{FF2B5EF4-FFF2-40B4-BE49-F238E27FC236}">
                <a16:creationId xmlns:a16="http://schemas.microsoft.com/office/drawing/2014/main" id="{D2BA129E-2CB7-406E-9C12-00F81EDBDB25}"/>
              </a:ext>
            </a:extLst>
          </p:cNvPr>
          <p:cNvSpPr>
            <a:spLocks noGrp="1"/>
          </p:cNvSpPr>
          <p:nvPr/>
        </p:nvSpPr>
        <p:spPr>
          <a:xfrm>
            <a:off x="8001000" y="4178808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Se invierten todos los cuantificadores, en orden, y se niega el interior.</a:t>
            </a:r>
          </a:p>
        </p:txBody>
      </p:sp>
    </p:spTree>
    <p:extLst>
      <p:ext uri="{BB962C8B-B14F-4D97-AF65-F5344CB8AC3E}">
        <p14:creationId xmlns:p14="http://schemas.microsoft.com/office/powerpoint/2010/main" val="1498521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76942946-C10D-456D-AEBE-0018C1A0B7A6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Ejemplo resuelto 3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91FAA2B5-0CBA-4A2F-89A0-21FF042E7B9D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EC6D8A36-C7AE-4657-A77D-D9EFBA2B45F2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Niegue:   ∀x ∈ E ∃y ∈ E  A(x, y)      «todos ayudaron a alguien»</a:t>
            </a:r>
            <a:endParaRPr/>
          </a:p>
        </p:txBody>
      </p:sp>
      <p:graphicFrame>
        <p:nvGraphicFramePr>
          <p:cNvPr id="123" name="Google Shape;108;p14"/>
          <p:cNvGraphicFramePr/>
          <p:nvPr/>
        </p:nvGraphicFramePr>
        <p:xfrm>
          <a:off x="768096" y="2560320"/>
          <a:ext cx="7589518" cy="2286000"/>
        </p:xfrm>
        <a:graphic>
          <a:graphicData uri="http://schemas.openxmlformats.org/drawingml/2006/table">
            <a:tbl>
              <a:tblPr/>
              <a:tblGrid>
                <a:gridCol w="910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9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9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Paso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Fórmula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Justificación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1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 ∀x ∈ E ∃y ∈ E  A(x,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Fórmula original negada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 ∈ E  ¬∃y ∈ E  A(x,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El ∀ de la izquierda se vuelve ∃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 ∈ E ∀y ∈ E  ¬A(x,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El ∃ interior se vuelve ∀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52F45BDA-EBED-4A6B-891E-4C2E7F3D81AB}"/>
              </a:ext>
            </a:extLst>
          </p:cNvPr>
          <p:cNvSpPr>
            <a:spLocks noGrp="1"/>
          </p:cNvSpPr>
          <p:nvPr/>
        </p:nvSpPr>
        <p:spPr>
          <a:xfrm>
            <a:off x="8595360" y="2651760"/>
            <a:ext cx="2834640" cy="21031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3" name="Google Shape;107;p14">
            <a:extLst>
              <a:ext uri="{FF2B5EF4-FFF2-40B4-BE49-F238E27FC236}">
                <a16:creationId xmlns:a16="http://schemas.microsoft.com/office/drawing/2014/main" id="{C1BC4B75-3DA2-42CE-AB14-4C6498CA20FB}"/>
              </a:ext>
            </a:extLst>
          </p:cNvPr>
          <p:cNvSpPr>
            <a:spLocks noGrp="1"/>
          </p:cNvSpPr>
          <p:nvPr/>
        </p:nvSpPr>
        <p:spPr>
          <a:xfrm>
            <a:off x="8823960" y="279806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En palabras</a:t>
            </a:r>
            <a:endParaRPr/>
          </a:p>
        </p:txBody>
      </p:sp>
      <p:sp>
        <p:nvSpPr>
          <p:cNvPr id="114" name="Google Shape;107;p14">
            <a:extLst>
              <a:ext uri="{FF2B5EF4-FFF2-40B4-BE49-F238E27FC236}">
                <a16:creationId xmlns:a16="http://schemas.microsoft.com/office/drawing/2014/main" id="{9317A638-FD9C-457A-9A02-25304EDCC26D}"/>
              </a:ext>
            </a:extLst>
          </p:cNvPr>
          <p:cNvSpPr>
            <a:spLocks noGrp="1"/>
          </p:cNvSpPr>
          <p:nvPr/>
        </p:nvSpPr>
        <p:spPr>
          <a:xfrm>
            <a:off x="8823960" y="3218688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Hay un estudiante que no ayudó a nadie.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51CA977A-5569-470E-BD81-138EB007DEC2}"/>
              </a:ext>
            </a:extLst>
          </p:cNvPr>
          <p:cNvSpPr>
            <a:spLocks noGrp="1"/>
          </p:cNvSpPr>
          <p:nvPr/>
        </p:nvSpPr>
        <p:spPr>
          <a:xfrm>
            <a:off x="768096" y="5029200"/>
            <a:ext cx="10652760" cy="11430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5" name="Google Shape;107;p14">
            <a:extLst>
              <a:ext uri="{FF2B5EF4-FFF2-40B4-BE49-F238E27FC236}">
                <a16:creationId xmlns:a16="http://schemas.microsoft.com/office/drawing/2014/main" id="{F99D99DE-704F-4A8B-BDD0-72632BC6E1AE}"/>
              </a:ext>
            </a:extLst>
          </p:cNvPr>
          <p:cNvSpPr>
            <a:spLocks noGrp="1"/>
          </p:cNvSpPr>
          <p:nvPr/>
        </p:nvSpPr>
        <p:spPr>
          <a:xfrm>
            <a:off x="1051560" y="51663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Verifíquelo con sentido común</a:t>
            </a:r>
            <a:endParaRPr/>
          </a:p>
        </p:txBody>
      </p:sp>
      <p:sp>
        <p:nvSpPr>
          <p:cNvPr id="116" name="Google Shape;107;p14">
            <a:extLst>
              <a:ext uri="{FF2B5EF4-FFF2-40B4-BE49-F238E27FC236}">
                <a16:creationId xmlns:a16="http://schemas.microsoft.com/office/drawing/2014/main" id="{B1007F11-0FA6-4AA3-8F29-86F2727D5ADB}"/>
              </a:ext>
            </a:extLst>
          </p:cNvPr>
          <p:cNvSpPr>
            <a:spLocks noGrp="1"/>
          </p:cNvSpPr>
          <p:nvPr/>
        </p:nvSpPr>
        <p:spPr>
          <a:xfrm>
            <a:off x="1051560" y="5532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Si es falso que «todos ayudaron a alguien», debe haber al menos uno que no ayudó a nadie. Coincide con lo que dio la regla.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6108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52275B3D-3656-404C-9FE8-6BFB49EF366E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Actividad 4: niegue cada fórmula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563547F3-2B69-4409-A0AD-3E823273C270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74F793C4-0CE0-4ED6-A450-D2CFDF4F18A1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Escriba la negación en símbolos y luego en palabras.</a:t>
            </a:r>
            <a:endParaRPr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7A3AEFD6-0EE5-46CF-8708-6746886ADDB0}"/>
              </a:ext>
            </a:extLst>
          </p:cNvPr>
          <p:cNvSpPr>
            <a:spLocks noGrp="1"/>
          </p:cNvSpPr>
          <p:nvPr/>
        </p:nvSpPr>
        <p:spPr>
          <a:xfrm>
            <a:off x="768096" y="2286000"/>
            <a:ext cx="10652760" cy="5486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89F44D44-8217-418C-8B55-FFE830FD299F}"/>
              </a:ext>
            </a:extLst>
          </p:cNvPr>
          <p:cNvSpPr>
            <a:spLocks noGrp="1"/>
          </p:cNvSpPr>
          <p:nvPr/>
        </p:nvSpPr>
        <p:spPr>
          <a:xfrm>
            <a:off x="1051560" y="2377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Dominio:  E = estudiantes del grupo   ·   A(x, y): «x ayudó a y»</a:t>
            </a:r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82356528-0676-4418-ABFB-974385F6D7FC}"/>
              </a:ext>
            </a:extLst>
          </p:cNvPr>
          <p:cNvSpPr>
            <a:spLocks noGrp="1"/>
          </p:cNvSpPr>
          <p:nvPr/>
        </p:nvSpPr>
        <p:spPr>
          <a:xfrm>
            <a:off x="768096" y="3108960"/>
            <a:ext cx="512064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1)   ∃x ∈ E ∀y ∈ E  A(x, y)</a:t>
            </a:r>
          </a:p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2)   ∀x ∈ E ∀y ∈ E  A(x, y)</a:t>
            </a:r>
          </a:p>
          <a:p>
            <a:pPr>
              <a:spcAft>
                <a:spcPts val="18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3)   ∀x ∈ E  ¬A(x, x)</a:t>
            </a:r>
          </a:p>
        </p:txBody>
      </p:sp>
      <p:sp>
        <p:nvSpPr>
          <p:cNvPr id="113" name="Google Shape;107;p14">
            <a:extLst>
              <a:ext uri="{FF2B5EF4-FFF2-40B4-BE49-F238E27FC236}">
                <a16:creationId xmlns:a16="http://schemas.microsoft.com/office/drawing/2014/main" id="{D579295B-5C48-4183-883B-19405C6446FD}"/>
              </a:ext>
            </a:extLst>
          </p:cNvPr>
          <p:cNvSpPr>
            <a:spLocks noGrp="1"/>
          </p:cNvSpPr>
          <p:nvPr/>
        </p:nvSpPr>
        <p:spPr>
          <a:xfrm>
            <a:off x="6217920" y="3108960"/>
            <a:ext cx="52120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13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4)   ∃x ∈ E ∀y ∈ E (A(x, y) → A(y, x))</a:t>
            </a:r>
          </a:p>
          <a:p>
            <a:pPr>
              <a:spcAft>
                <a:spcPts val="1300"/>
              </a:spcAft>
              <a:buNone/>
            </a:pPr>
            <a:r>
              <a:rPr sz="1600" b="1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5)   «Todos ayudaron a los estudiantes distintos de sí mismos»</a:t>
            </a:r>
          </a:p>
          <a:p>
            <a:pPr>
              <a:spcAft>
                <a:spcPts val="1300"/>
              </a:spcAft>
              <a:buNone/>
            </a:pPr>
            <a:r>
              <a:rPr sz="1600" b="0" i="0" u="none" cap="none">
                <a:solidFill>
                  <a:srgbClr val="1E293B"/>
                </a:solidFill>
                <a:latin typeface="Roboto"/>
                <a:ea typeface="Roboto"/>
                <a:cs typeface="Roboto"/>
              </a:rPr>
              <a:t>        formalice y luego niegue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6532BD18-7C1A-4126-AEC7-B6E570DB7540}"/>
              </a:ext>
            </a:extLst>
          </p:cNvPr>
          <p:cNvSpPr>
            <a:spLocks noGrp="1"/>
          </p:cNvSpPr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4" name="Google Shape;107;p14">
            <a:extLst>
              <a:ext uri="{FF2B5EF4-FFF2-40B4-BE49-F238E27FC236}">
                <a16:creationId xmlns:a16="http://schemas.microsoft.com/office/drawing/2014/main" id="{995D4A0A-CF84-4495-94F3-6E1E28DA0FC7}"/>
              </a:ext>
            </a:extLst>
          </p:cNvPr>
          <p:cNvSpPr>
            <a:spLocks noGrp="1"/>
          </p:cNvSpPr>
          <p:nvPr/>
        </p:nvSpPr>
        <p:spPr>
          <a:xfrm>
            <a:off x="1051560" y="5532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En ambos casos use ¬(p → q) ≡ p ∧ ¬q y recuerde invertir todos los cuantificadores.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5207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21ACBBE7-79C2-429E-A312-691A4E937665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Actividad 4 — Solución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B52F27A4-3DB3-4E1A-849E-0AF8F540898B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54CA70F8-67CC-4ED2-8AE1-9F48F53576AD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Negación en símbolos y en palabras.</a:t>
            </a:r>
            <a:endParaRPr/>
          </a:p>
        </p:txBody>
      </p:sp>
      <p:graphicFrame>
        <p:nvGraphicFramePr>
          <p:cNvPr id="119" name="Google Shape;108;p14"/>
          <p:cNvGraphicFramePr/>
          <p:nvPr/>
        </p:nvGraphicFramePr>
        <p:xfrm>
          <a:off x="768096" y="2423160"/>
          <a:ext cx="10652758" cy="3108960"/>
        </p:xfrm>
        <a:graphic>
          <a:graphicData uri="http://schemas.openxmlformats.org/drawingml/2006/table">
            <a:tbl>
              <a:tblPr/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4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Negación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En palabras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1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∀x ∈ E ∃y ∈ E ¬A(x,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Ningún estudiante ayudó a todos.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 ∈ E ∃y ∈ E ¬A(x, y)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Hay estudiantes x e y tales que x no ayudó a y.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 ∈ E A(x, x)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Hay un estudiante que se ayudó a sí mismo.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∀x ∈ E ∃y ∈ E (A(x, y) ∧ ¬A(y, x))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Cada estudiante ayudó a alguien que no le devolvió la ayuda.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∃x ∈ E ∃y ∈ E (x ≠ y ∧ ¬A(x, y))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Hay dos estudiantes distintos y uno no ayudó al otro.</a:t>
                      </a:r>
                      <a:endParaRPr/>
                    </a:p>
                  </a:txBody>
                  <a:tcPr marL="64008" marR="64008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0F23CF84-B6B5-4BB1-BD4D-6A27F67192E9}"/>
              </a:ext>
            </a:extLst>
          </p:cNvPr>
          <p:cNvSpPr>
            <a:spLocks noGrp="1"/>
          </p:cNvSpPr>
          <p:nvPr/>
        </p:nvSpPr>
        <p:spPr>
          <a:xfrm>
            <a:off x="768096" y="5669280"/>
            <a:ext cx="10652760" cy="5943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FFBF13CD-8F65-462D-97BE-CB595D16273A}"/>
              </a:ext>
            </a:extLst>
          </p:cNvPr>
          <p:cNvSpPr>
            <a:spLocks noGrp="1"/>
          </p:cNvSpPr>
          <p:nvPr/>
        </p:nvSpPr>
        <p:spPr>
          <a:xfrm>
            <a:off x="1051560" y="578815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El 5 se formaliza ∀x ∈ E ∀y ∈ E (x ≠ y → A(x, y)); después se niegan la implicación y los cuantificadores.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8324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D06B2253-28F1-48EB-A177-9BE21D99C386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Errores frecuentes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7DE96F80-8851-448F-B6BF-D00F68B84C34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76F70974-D892-41E4-9581-7FC0D8E4ADC2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Los cuatro que más aparecen en el parcial.</a:t>
            </a:r>
            <a:endParaRPr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156856D6-AF9D-4976-8C9C-82028DD7E466}"/>
              </a:ext>
            </a:extLst>
          </p:cNvPr>
          <p:cNvSpPr>
            <a:spLocks noGrp="1"/>
          </p:cNvSpPr>
          <p:nvPr/>
        </p:nvSpPr>
        <p:spPr>
          <a:xfrm>
            <a:off x="768096" y="23774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3" name="Google Shape;107;p14">
            <a:extLst>
              <a:ext uri="{FF2B5EF4-FFF2-40B4-BE49-F238E27FC236}">
                <a16:creationId xmlns:a16="http://schemas.microsoft.com/office/drawing/2014/main" id="{8FD434E2-FBCA-4E99-8461-BF700A074398}"/>
              </a:ext>
            </a:extLst>
          </p:cNvPr>
          <p:cNvSpPr>
            <a:spLocks noGrp="1"/>
          </p:cNvSpPr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Cambiar el orden de los cuantificadores</a:t>
            </a:r>
            <a:endParaRPr/>
          </a:p>
        </p:txBody>
      </p:sp>
      <p:sp>
        <p:nvSpPr>
          <p:cNvPr id="114" name="Google Shape;107;p14">
            <a:extLst>
              <a:ext uri="{FF2B5EF4-FFF2-40B4-BE49-F238E27FC236}">
                <a16:creationId xmlns:a16="http://schemas.microsoft.com/office/drawing/2014/main" id="{997F9A77-FD1B-41FF-91BA-B1C1EFEE45DD}"/>
              </a:ext>
            </a:extLst>
          </p:cNvPr>
          <p:cNvSpPr>
            <a:spLocks noGrp="1"/>
          </p:cNvSpPr>
          <p:nvPr/>
        </p:nvSpPr>
        <p:spPr>
          <a:xfrm>
            <a:off x="996696" y="29443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∀x ∃y y ∃y ∀x dicen cosas distintas. El orden en que aparecen en la frase es el orden en que se escriben.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B7A12411-4B22-4F06-AC75-06EF6E31D8D8}"/>
              </a:ext>
            </a:extLst>
          </p:cNvPr>
          <p:cNvSpPr>
            <a:spLocks noGrp="1"/>
          </p:cNvSpPr>
          <p:nvPr/>
        </p:nvSpPr>
        <p:spPr>
          <a:xfrm>
            <a:off x="6208776" y="23774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5" name="Google Shape;107;p14">
            <a:extLst>
              <a:ext uri="{FF2B5EF4-FFF2-40B4-BE49-F238E27FC236}">
                <a16:creationId xmlns:a16="http://schemas.microsoft.com/office/drawing/2014/main" id="{4C9F5F3D-933A-410C-A468-EF28A20EF9A4}"/>
              </a:ext>
            </a:extLst>
          </p:cNvPr>
          <p:cNvSpPr>
            <a:spLocks noGrp="1"/>
          </p:cNvSpPr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Negar solo el primer cuantificador</a:t>
            </a:r>
            <a:endParaRPr/>
          </a:p>
        </p:txBody>
      </p:sp>
      <p:sp>
        <p:nvSpPr>
          <p:cNvPr id="116" name="Google Shape;107;p14">
            <a:extLst>
              <a:ext uri="{FF2B5EF4-FFF2-40B4-BE49-F238E27FC236}">
                <a16:creationId xmlns:a16="http://schemas.microsoft.com/office/drawing/2014/main" id="{6362F5A8-A2C0-4BF0-99BD-AD6E3732B6B7}"/>
              </a:ext>
            </a:extLst>
          </p:cNvPr>
          <p:cNvSpPr>
            <a:spLocks noGrp="1"/>
          </p:cNvSpPr>
          <p:nvPr/>
        </p:nvSpPr>
        <p:spPr>
          <a:xfrm>
            <a:off x="6437376" y="29443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Al negar hay que invertir todos, uno por uno, hasta llegar al predicado.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46B14C8F-5E4C-48B7-B830-40C389F181E7}"/>
              </a:ext>
            </a:extLst>
          </p:cNvPr>
          <p:cNvSpPr>
            <a:spLocks noGrp="1"/>
          </p:cNvSpPr>
          <p:nvPr/>
        </p:nvSpPr>
        <p:spPr>
          <a:xfrm>
            <a:off x="768096" y="42062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7" name="Google Shape;107;p14">
            <a:extLst>
              <a:ext uri="{FF2B5EF4-FFF2-40B4-BE49-F238E27FC236}">
                <a16:creationId xmlns:a16="http://schemas.microsoft.com/office/drawing/2014/main" id="{C323DA39-E197-4F26-9157-04808E231F26}"/>
              </a:ext>
            </a:extLst>
          </p:cNvPr>
          <p:cNvSpPr>
            <a:spLocks noGrp="1"/>
          </p:cNvSpPr>
          <p:nvPr/>
        </p:nvSpPr>
        <p:spPr>
          <a:xfrm>
            <a:off x="996696" y="43525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Olvidar que el y depende del x</a:t>
            </a:r>
            <a:endParaRPr/>
          </a:p>
        </p:txBody>
      </p:sp>
      <p:sp>
        <p:nvSpPr>
          <p:cNvPr id="118" name="Google Shape;107;p14">
            <a:extLst>
              <a:ext uri="{FF2B5EF4-FFF2-40B4-BE49-F238E27FC236}">
                <a16:creationId xmlns:a16="http://schemas.microsoft.com/office/drawing/2014/main" id="{3C8C5825-A206-4FED-B1F6-4F961920E94B}"/>
              </a:ext>
            </a:extLst>
          </p:cNvPr>
          <p:cNvSpPr>
            <a:spLocks noGrp="1"/>
          </p:cNvSpPr>
          <p:nvPr/>
        </p:nvSpPr>
        <p:spPr>
          <a:xfrm>
            <a:off x="996696" y="47731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En ∀x ∃y, cada x puede tener su propio y. No hace falta que sea el mismo para todos.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1C11ED20-3169-4E52-9957-FDF4E6783E6F}"/>
              </a:ext>
            </a:extLst>
          </p:cNvPr>
          <p:cNvSpPr>
            <a:spLocks noGrp="1"/>
          </p:cNvSpPr>
          <p:nvPr/>
        </p:nvSpPr>
        <p:spPr>
          <a:xfrm>
            <a:off x="6208776" y="42062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9" name="Google Shape;107;p14">
            <a:extLst>
              <a:ext uri="{FF2B5EF4-FFF2-40B4-BE49-F238E27FC236}">
                <a16:creationId xmlns:a16="http://schemas.microsoft.com/office/drawing/2014/main" id="{854D9157-6817-4AB5-8575-7F884ACF93CA}"/>
              </a:ext>
            </a:extLst>
          </p:cNvPr>
          <p:cNvSpPr>
            <a:spLocks noGrp="1"/>
          </p:cNvSpPr>
          <p:nvPr/>
        </p:nvSpPr>
        <p:spPr>
          <a:xfrm>
            <a:off x="6437376" y="43525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Reutilizar la misma variable</a:t>
            </a:r>
            <a:endParaRPr/>
          </a:p>
        </p:txBody>
      </p:sp>
      <p:sp>
        <p:nvSpPr>
          <p:cNvPr id="120" name="Google Shape;107;p14">
            <a:extLst>
              <a:ext uri="{FF2B5EF4-FFF2-40B4-BE49-F238E27FC236}">
                <a16:creationId xmlns:a16="http://schemas.microsoft.com/office/drawing/2014/main" id="{C5235E8D-A114-4FA0-A718-44A04F7DAE01}"/>
              </a:ext>
            </a:extLst>
          </p:cNvPr>
          <p:cNvSpPr>
            <a:spLocks noGrp="1"/>
          </p:cNvSpPr>
          <p:nvPr/>
        </p:nvSpPr>
        <p:spPr>
          <a:xfrm>
            <a:off x="6437376" y="47731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Si escribe A(x, x) está hablando de un estudiante consigo mismo, no de dos estudiantes distintos.</a:t>
            </a:r>
          </a:p>
        </p:txBody>
      </p:sp>
    </p:spTree>
    <p:extLst>
      <p:ext uri="{BB962C8B-B14F-4D97-AF65-F5344CB8AC3E}">
        <p14:creationId xmlns:p14="http://schemas.microsoft.com/office/powerpoint/2010/main" val="939715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59C44202-7F9E-4422-9706-34AA441A4F87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Mañana: Actividad Evaluativa 1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9279C252-1277-4279-B9E4-60E569F41797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DB7247D0-6B24-4E04-A1C8-D8E2BE60F631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Taller evaluativo de lógica proposicional — viernes 28 de agosto, 10 %.</a:t>
            </a:r>
            <a:endParaRPr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E89DCBA0-7AEF-4858-96A6-E6AFC2F91FFC}"/>
              </a:ext>
            </a:extLst>
          </p:cNvPr>
          <p:cNvSpPr>
            <a:spLocks noGrp="1"/>
          </p:cNvSpPr>
          <p:nvPr/>
        </p:nvSpPr>
        <p:spPr>
          <a:xfrm>
            <a:off x="768096" y="2377440"/>
            <a:ext cx="5212080" cy="27432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F78205D5-130A-44D7-8E41-1A8DCAD087A4}"/>
              </a:ext>
            </a:extLst>
          </p:cNvPr>
          <p:cNvSpPr>
            <a:spLocks noGrp="1"/>
          </p:cNvSpPr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Qué entra</a:t>
            </a:r>
            <a:endParaRPr/>
          </a:p>
        </p:txBody>
      </p:sp>
      <p:sp>
        <p:nvSpPr>
          <p:cNvPr id="113" name="Google Shape;107;p14">
            <a:extLst>
              <a:ext uri="{FF2B5EF4-FFF2-40B4-BE49-F238E27FC236}">
                <a16:creationId xmlns:a16="http://schemas.microsoft.com/office/drawing/2014/main" id="{BD468D62-074D-4DA7-9098-5EE7CC9F14E2}"/>
              </a:ext>
            </a:extLst>
          </p:cNvPr>
          <p:cNvSpPr>
            <a:spLocks noGrp="1"/>
          </p:cNvSpPr>
          <p:nvPr/>
        </p:nvSpPr>
        <p:spPr>
          <a:xfrm>
            <a:off x="996696" y="2944368"/>
            <a:ext cx="475488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7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Proposiciones simples y compuestas; las cinco conectivas.</a:t>
            </a:r>
          </a:p>
          <a:p>
            <a:pPr>
              <a:spcAft>
                <a:spcPts val="7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Tablas de verdad y clasificación en tautología, contradicción y contingencia.</a:t>
            </a:r>
          </a:p>
          <a:p>
            <a:pPr>
              <a:spcAft>
                <a:spcPts val="7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Leyes de las proposiciones y simplificación de fórmulas.</a:t>
            </a:r>
          </a:p>
          <a:p>
            <a:pPr>
              <a:spcAft>
                <a:spcPts val="7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Validez de argumentos y reglas de inferencia.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3F92A05D-B861-4F87-AF6E-46A1DD03E20C}"/>
              </a:ext>
            </a:extLst>
          </p:cNvPr>
          <p:cNvSpPr>
            <a:spLocks noGrp="1"/>
          </p:cNvSpPr>
          <p:nvPr/>
        </p:nvSpPr>
        <p:spPr>
          <a:xfrm>
            <a:off x="6208776" y="2377440"/>
            <a:ext cx="5212080" cy="27432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4" name="Google Shape;107;p14">
            <a:extLst>
              <a:ext uri="{FF2B5EF4-FFF2-40B4-BE49-F238E27FC236}">
                <a16:creationId xmlns:a16="http://schemas.microsoft.com/office/drawing/2014/main" id="{70D411D8-DE96-4D86-A89B-DFDE3BB5E94C}"/>
              </a:ext>
            </a:extLst>
          </p:cNvPr>
          <p:cNvSpPr>
            <a:spLocks noGrp="1"/>
          </p:cNvSpPr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Qué NO entra</a:t>
            </a:r>
            <a:endParaRPr/>
          </a:p>
        </p:txBody>
      </p:sp>
      <p:sp>
        <p:nvSpPr>
          <p:cNvPr id="115" name="Google Shape;107;p14">
            <a:extLst>
              <a:ext uri="{FF2B5EF4-FFF2-40B4-BE49-F238E27FC236}">
                <a16:creationId xmlns:a16="http://schemas.microsoft.com/office/drawing/2014/main" id="{A526AE6E-E398-4010-BF90-8FFAF4C60093}"/>
              </a:ext>
            </a:extLst>
          </p:cNvPr>
          <p:cNvSpPr>
            <a:spLocks noGrp="1"/>
          </p:cNvSpPr>
          <p:nvPr/>
        </p:nvSpPr>
        <p:spPr>
          <a:xfrm>
            <a:off x="6437376" y="2944368"/>
            <a:ext cx="475488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7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Predicados, dominios y cuantificadores: lo de ayer y lo de hoy.</a:t>
            </a:r>
          </a:p>
          <a:p>
            <a:pPr>
              <a:spcAft>
                <a:spcPts val="7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Ese contenido se evalúa en la Actividad Evaluativa 2, el 11 de septiembre.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0D96B760-211A-466F-9EDA-60F6CF526DEE}"/>
              </a:ext>
            </a:extLst>
          </p:cNvPr>
          <p:cNvSpPr>
            <a:spLocks noGrp="1"/>
          </p:cNvSpPr>
          <p:nvPr/>
        </p:nvSpPr>
        <p:spPr>
          <a:xfrm>
            <a:off x="768096" y="5257800"/>
            <a:ext cx="10652760" cy="914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6" name="Google Shape;107;p14">
            <a:extLst>
              <a:ext uri="{FF2B5EF4-FFF2-40B4-BE49-F238E27FC236}">
                <a16:creationId xmlns:a16="http://schemas.microsoft.com/office/drawing/2014/main" id="{B5DE7794-2504-4E39-A33C-8B3064010A0D}"/>
              </a:ext>
            </a:extLst>
          </p:cNvPr>
          <p:cNvSpPr>
            <a:spLocks noGrp="1"/>
          </p:cNvSpPr>
          <p:nvPr/>
        </p:nvSpPr>
        <p:spPr>
          <a:xfrm>
            <a:off x="1051560" y="5440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Es individual y escrita. Traiga el documento de identidad: pasados quince minutos de iniciada no se permite el ingreso.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4096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1DDC2ACC-0A87-40A6-91A4-5F8CA68C1CDD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Trabajo independiente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EDB455AB-9DC1-4CEF-A90E-603939786D6C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48C3762B-1E0B-46D6-9F58-B7C9E71CF9FB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Para desarrollar fuera del horario de clase.</a:t>
            </a:r>
            <a:endParaRPr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66BC030B-D5C3-48D1-9EF5-D37C12A2C745}"/>
              </a:ext>
            </a:extLst>
          </p:cNvPr>
          <p:cNvSpPr>
            <a:spLocks noGrp="1"/>
          </p:cNvSpPr>
          <p:nvPr/>
        </p:nvSpPr>
        <p:spPr>
          <a:xfrm>
            <a:off x="76809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79B38483-682E-460E-9571-1FB282A489F0}"/>
              </a:ext>
            </a:extLst>
          </p:cNvPr>
          <p:cNvSpPr>
            <a:spLocks noGrp="1"/>
          </p:cNvSpPr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Para la evaluación de mañana</a:t>
            </a:r>
            <a:endParaRPr/>
          </a:p>
        </p:txBody>
      </p:sp>
      <p:sp>
        <p:nvSpPr>
          <p:cNvPr id="113" name="Google Shape;107;p14">
            <a:extLst>
              <a:ext uri="{FF2B5EF4-FFF2-40B4-BE49-F238E27FC236}">
                <a16:creationId xmlns:a16="http://schemas.microsoft.com/office/drawing/2014/main" id="{53682F12-5E68-44F2-A791-4E0F309A5D33}"/>
              </a:ext>
            </a:extLst>
          </p:cNvPr>
          <p:cNvSpPr>
            <a:spLocks noGrp="1"/>
          </p:cNvSpPr>
          <p:nvPr/>
        </p:nvSpPr>
        <p:spPr>
          <a:xfrm>
            <a:off x="99669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Repase las sesiones 2 a 4: conectivas, tablas de verdad, leyes y reglas de inferencia.</a:t>
            </a:r>
          </a:p>
          <a:p>
            <a:pPr>
              <a:spcAft>
                <a:spcPts val="8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Rehaga los ejercicios de simplificación y las derivaciones que quedaron pendientes.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7DB5004E-4686-45EA-8B34-A0C6CED54CEC}"/>
              </a:ext>
            </a:extLst>
          </p:cNvPr>
          <p:cNvSpPr>
            <a:spLocks noGrp="1"/>
          </p:cNvSpPr>
          <p:nvPr/>
        </p:nvSpPr>
        <p:spPr>
          <a:xfrm>
            <a:off x="620877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4" name="Google Shape;107;p14">
            <a:extLst>
              <a:ext uri="{FF2B5EF4-FFF2-40B4-BE49-F238E27FC236}">
                <a16:creationId xmlns:a16="http://schemas.microsoft.com/office/drawing/2014/main" id="{4280AFCF-56BF-4FAD-ADAA-6A258BE6845B}"/>
              </a:ext>
            </a:extLst>
          </p:cNvPr>
          <p:cNvSpPr>
            <a:spLocks noGrp="1"/>
          </p:cNvSpPr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Sobre lo de hoy</a:t>
            </a:r>
            <a:endParaRPr/>
          </a:p>
        </p:txBody>
      </p:sp>
      <p:sp>
        <p:nvSpPr>
          <p:cNvPr id="115" name="Google Shape;107;p14">
            <a:extLst>
              <a:ext uri="{FF2B5EF4-FFF2-40B4-BE49-F238E27FC236}">
                <a16:creationId xmlns:a16="http://schemas.microsoft.com/office/drawing/2014/main" id="{2EF319DF-601E-4332-ACA8-B2F5FA830A2D}"/>
              </a:ext>
            </a:extLst>
          </p:cNvPr>
          <p:cNvSpPr>
            <a:spLocks noGrp="1"/>
          </p:cNvSpPr>
          <p:nvPr/>
        </p:nvSpPr>
        <p:spPr>
          <a:xfrm>
            <a:off x="643737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Lea la sección 1.4 de Johnsonbaugh: cuantificadores anidados.</a:t>
            </a:r>
          </a:p>
          <a:p>
            <a:pPr>
              <a:spcAft>
                <a:spcPts val="8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Traduzca cinco enunciados con dos variables sobre el grupo y niegue cada uno.</a:t>
            </a:r>
          </a:p>
          <a:p>
            <a:pPr>
              <a:spcAft>
                <a:spcPts val="80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Decida el valor de verdad de ∀x ∈ ℤ ∃y ∈ ℤ (x · y = 1) y justifíquelo.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291512E9-5A8D-40D7-82FD-8EFD88A3AF06}"/>
              </a:ext>
            </a:extLst>
          </p:cNvPr>
          <p:cNvSpPr>
            <a:spLocks noGrp="1"/>
          </p:cNvSpPr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6" name="Google Shape;107;p14">
            <a:extLst>
              <a:ext uri="{FF2B5EF4-FFF2-40B4-BE49-F238E27FC236}">
                <a16:creationId xmlns:a16="http://schemas.microsoft.com/office/drawing/2014/main" id="{DB34B4DA-618D-4D2D-BB0F-0E0CA822167F}"/>
              </a:ext>
            </a:extLst>
          </p:cNvPr>
          <p:cNvSpPr>
            <a:spLocks noGrp="1"/>
          </p:cNvSpPr>
          <p:nvPr/>
        </p:nvSpPr>
        <p:spPr>
          <a:xfrm>
            <a:off x="1051560" y="5532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Próxima sesión: cierre de la lógica de predicados y entrada a los métodos de demostración.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0196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Imagen 5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>
            <a:spLocks noGrp="1"/>
          </p:cNvSpPr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  <a:buNone/>
            </a:pPr>
            <a:r>
              <a:rPr sz="5400" b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¡MUCHAS GRACIAS!</a:t>
            </a:r>
            <a:endParaRPr sz="5400" b="1">
              <a:latin typeface="Montserrat"/>
              <a:ea typeface="Montserrat"/>
              <a:cs typeface="Montserrat"/>
            </a:endParaRPr>
          </a:p>
        </p:txBody>
      </p:sp>
      <p:pic>
        <p:nvPicPr>
          <p:cNvPr id="18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3438</Words>
  <Application>Microsoft Office PowerPoint</Application>
  <DocSecurity>0</DocSecurity>
  <PresentationFormat>Panorámica</PresentationFormat>
  <Paragraphs>355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Inter</vt:lpstr>
      <vt:lpstr>Inter SemiBold</vt:lpstr>
      <vt:lpstr>Montserrat</vt:lpstr>
      <vt:lpstr>Roboto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SEBASTIAN MONTOYA VILLADA</cp:lastModifiedBy>
  <cp:revision>1</cp:revision>
  <dcterms:created xsi:type="dcterms:W3CDTF">2026-08-26T23:43:09Z</dcterms:created>
  <dcterms:modified xsi:type="dcterms:W3CDTF">2026-08-27T14:44:05Z</dcterms:modified>
</cp:coreProperties>
</file>