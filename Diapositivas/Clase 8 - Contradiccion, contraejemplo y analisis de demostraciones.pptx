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25"/>
  </p:notesMasterIdLst>
  <p:sldIdLst>
    <p:sldId id="259" r:id="rId6"/>
    <p:sldId id="435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6" r:id="rId20"/>
    <p:sldId id="487" r:id="rId21"/>
    <p:sldId id="488" r:id="rId22"/>
    <p:sldId id="489" r:id="rId23"/>
    <p:sldId id="358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3/09/2026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8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por contradicción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Refutación por contraejemplo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Análisis de demostraciones incorrectas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 cuatro métodos y cómo elegir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Práctica integradora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demostrar por contradicción, refutar con contraejemplo y detectar errores en demostraciones ajenas.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Repaso: los dos métodos de ayer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Ambos parten de la hipótesis y avanzan hacia la conclusión.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545946505"/>
              </p:ext>
            </p:extLst>
          </p:nvPr>
        </p:nvGraphicFramePr>
        <p:xfrm>
          <a:off x="1750316" y="2402085"/>
          <a:ext cx="9223814" cy="2103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28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4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0856182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Método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Qué se supone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Qué se prueba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Directa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La hipótesis 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La conclusión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Contraposición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La negación de la conclusión, ¬Q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La negación de la hipótesis, ¬P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4754880"/>
            <a:ext cx="10652760" cy="14173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4892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Hoy agregamos dos herramientas más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2578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tercer método para demostrar, que sirve cuando los dos anteriores se atascan.</a:t>
            </a:r>
          </a:p>
          <a:p>
            <a:pPr>
              <a:spcAft>
                <a:spcPts val="5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 algo distinto: cómo refutar una afirmación falsa, y cómo detectar cuándo una demostración está mal hecha.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Demostración por contradicción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supone que el teorema es falso y se busca un absurdo.</a:t>
            </a:r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68096" y="246888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" name="Google Shape;107;p14"/>
          <p:cNvSpPr txBox="1"/>
          <p:nvPr/>
        </p:nvSpPr>
        <p:spPr>
          <a:xfrm>
            <a:off x="1280160" y="248716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Suponga que la conclusión es falsa: es decir, suponga P y ¬Q a la vez.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09067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10896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Trabaje con esa suposición como si fuera cierta.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71246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73075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Llegue a algo imposible: una afirmación y su negación al mismo tiempo.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33425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352544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Como la suposición produce un absurdo, debe ser falsa.</a:t>
            </a:r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8096" y="495604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6" name="Google Shape;107;p14"/>
          <p:cNvSpPr txBox="1"/>
          <p:nvPr/>
        </p:nvSpPr>
        <p:spPr>
          <a:xfrm>
            <a:off x="1280160" y="4974336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Por lo tanto Q es verdadera y el teorema queda probado.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772400" y="2514600"/>
            <a:ext cx="3657600" cy="28346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001000" y="26609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ventaja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8001000" y="3081528"/>
            <a:ext cx="32004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el único método en que se puede usar la hipótesis y la negación de la conclusión al mismo tiempo.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trabaja con más información que en los otros dos.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También se llama reducción al absurdo. En latín, reductio ad absurdum.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¿Por qué funciona?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fundamento está en las leyes de la sesión 3.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146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negación de  P → Q  es  P ∧ ¬Q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4290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5753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razonamiento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9592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al suponer P ∧ ¬Q se llega a una contradicción, entonces P ∧ ¬Q es falsa.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 si su negación es falsa, P → Q es verdadera.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4290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5753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 dónde viene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399592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ley ¬(p → q) ≡ p ∧ ¬q que vimos en la sesión 3.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 el absurdo al que se llega es una contradicción: p ∧ ¬p, siempre falsa.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Por eso el método empieza siempre igual: «Supongamos, por el contrario, que P es verdadera y Q es falsa.»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no existe un entero que sea par e impar a la vez.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31089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Supongamos que existe un entero n que es par e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niega el teorema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 = 2k  y  n = 2j + 1,  con k, j enteros.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Ambas definiciones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2k = 2j + 1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igualan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2(k − j) =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Álgebra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k − j es entero, luego 1 sería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507619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Absurdo: 1 es impar. La suposición es falsa.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Contradicción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40240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Observe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absurdo del paso 6 es del tipo «1 es par y 1 es impar»: una proposición y su negación.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Teorema: √2 es irracional. El ejemplo clásico del método.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8412479" cy="3200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Supongamos que √2 es racional: √2 = p/q, con la fracción ya simplificada.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niega el teorema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 = p²/q²,  luego  p² = 2q²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eleva al cuadrado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p² es par, y por el teorema de ayer, p es par: p = 2k.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Teorema de la sesión 7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4k² = 2q²,  luego  q² = 2k²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sustituye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q² es par, luego q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El mismo teorema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8331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 y q son ambos pares, pero la fracción estaba simplificada. Absurdo.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Contradicción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609362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377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bonito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Usa como herramienta el teorema que demostraron ayer por contraposición.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por contradicción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cada afirmación suponiendo lo contrario y llegando a un absurdo.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Si 3n + 2 es impar, entonces n es impar.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No existen enteros a y b tales que  4a + 6b = 3.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Si a · b es impar, entonces a y b son ambos impares.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Sugerencia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2, factorice el lado izquierdo. En el 3, la negación de la conclusión da una disyunción: alguno de los dos es par.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Suposición inicial y absurdo al que se llega.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Se supone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 y absurdo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3n + 2 impar y n par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 = 2k ⟹ 3n + 2 = 6k + 2 = 2(3k + 1): par. Pero se supuso impar. Absurdo.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Existen a, b con 4a + 6b = 3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4a + 6b = 2(2a + 3b), que es par. Pero 3 es impar. Absurdo.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· b impar y alguno par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a = 2k, entonces a · b = 2(k · b): par. Pero se supuso impar. Absurdo.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Observe que el punto 2 no tiene la forma «si… entonces»: es una afirmación de no existencia. Ese tipo de enunciado casi siempre se demuestra por contradicción.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Refutación por contraejemplo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todo enunciado es verdadero. A veces lo que hay que hacer es tumbarlo.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1460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refutar  ∀x ∈ D (P(x)),  basta exhibir un solo elemento del dominio que no lo cumpla.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68096" y="333756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1280160" y="3355848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Identifique el dominio sobre el que se afirma el enunciado.</a:t>
            </a:r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68096" y="394106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1280160" y="3959352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Busque un valor que cumpla la hipótesis pero no la conclusión.</a:t>
            </a:r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68096" y="454456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5" name="Google Shape;107;p14"/>
          <p:cNvSpPr txBox="1"/>
          <p:nvPr/>
        </p:nvSpPr>
        <p:spPr>
          <a:xfrm>
            <a:off x="1280160" y="4562856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Muéstrelo explícitamente y verifique las dos cosas con números.</a:t>
            </a:r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8096" y="514807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" name="Google Shape;107;p14"/>
          <p:cNvSpPr txBox="1"/>
          <p:nvPr/>
        </p:nvSpPr>
        <p:spPr>
          <a:xfrm>
            <a:off x="1280160" y="5166360"/>
            <a:ext cx="616305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Concluya que el enunciado es falso.</a:t>
            </a:r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772400" y="338328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001000" y="352958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De la sesión 5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8001000" y="3950208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idea del contraejemplo que refuta un ∀.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contraejemplo no es un ejemplo cualquiera: debe cumplir la hipótesis y fallar la conclusión.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Demostrar o refutar: qué cuesta cada cosa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Antes de empezar, decida si el enunciado le parece verdadero o falso.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103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Enunciado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Para demostrarlo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Para refutarlo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D (P(x))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Argumento general sobre una x arbitraria.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Un solo contraejemplo.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D (P(x))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Exhibir un solo elemento que lo cumpla.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Argumento general: probar que ninguno lo cumple.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4754880"/>
            <a:ext cx="10652760" cy="14173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4892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Estrategia práctica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Antes de intentar una demostración larga, pruebe con tres o cuatro valores pequeños. Si encuentra uno que falla, ya terminó: el enunciado era falso y ese valor es la respuesta. Si todos funcionan, empiece a demostrar.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Tres enunciados falsos y su contraejemplo.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468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7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4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Enunciado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Contraejemplo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Verificación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Todo número primo es impar.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 = 2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 es primo y no es impar.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Para todo entero n,  n² &gt; n.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 = 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1² = 1, y 1 no es mayor que 1.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Si n² es divisible por 4, entonces n es divisible por 4.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 = 2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 es divisible por 4, pero 2 no lo es.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contraejemplo se escribe completo: no basta decir «n = 2», hay que mostrar que cumple la hipótesis y que falla la conclusión. Sin esa verificación, la refutación está incompleta.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¿verdadero o falso?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Decida. Si es verdadero, demuéstrelo; si es falso, dé un contraejemplo completo.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Para todo entero n,  n² + n  es par.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Para todo entero n,  n² + n + 41  es primo.</a:t>
            </a:r>
          </a:p>
          <a:p>
            <a:pPr>
              <a:spcAft>
                <a:spcPts val="24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Si a divide a b · c, entonces a divide a b o a divide a c.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Sugerencia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Pruebe primero con valores pequeños. En el punto 2, no se detenga en los primeros diez. En el 3, busque números con factores repartidos.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Veredicto y justificación.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Veredicto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Verdadero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n² + n = n(n + 1): dos enteros consecutivos, uno de los dos es par, luego el producto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Falso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 n = 41: 41² + 41 + 41 = 41·43, que no es primo. Funciona para n = 0 … 39, pero eso no demuestra nada.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Falso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= 6, b = 4, c = 3: 6 divide a 12, pero 6 no divide a 4 ni a 3.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2 es la mejor advertencia del curso: el enunciado se cumple en los primeros cuarenta casos y aun así es falso. Verificar ejemplos nunca reemplaza a una demostración.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Los cuatro métodos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Cuadro de cierre del bloque de demostración.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45172043"/>
              </p:ext>
            </p:extLst>
          </p:nvPr>
        </p:nvGraphicFramePr>
        <p:xfrm>
          <a:off x="768096" y="2468880"/>
          <a:ext cx="10652758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17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513969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Método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Se supone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Se prueba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Directa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hipótesis P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La conclusión 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Contraposición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¬Q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¬P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Contradicción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 y ¬Q a la vez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Un absurdo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Contraejemplo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—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Que el enunciado es falso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77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tres primeros demuestran que el enunciado es verdadero; el cuarto demuestra que es falso. Decidir cuál de las dos cosas va a hacer es siempre el primer paso.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4: elija la estrategia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enunciado, decida si es verdadero o falso, elija el método y resuelva.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Si n³ es par, entonces n es par.</a:t>
            </a:r>
          </a:p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Para todo entero n,  n² − n + 11  es primo.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6217920" y="269748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No existe un racional cuyo cuadrado sea 3.</a:t>
            </a:r>
          </a:p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Si n es impar, entonces n² − 1 es divisible por 4.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4709160"/>
            <a:ext cx="1065276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4846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Antes de resolver, escriba en una línea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2120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¿Me parece verdadero o falso? Si me parece falso, busco contraejemplo. Si me parece verdadero, ¿la hipótesis es fácil de escribir? ¿su negación lo es más? ¿o conviene suponer lo contrario y buscar el absurdo?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Estrategia y desarrollo.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834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Método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Contraposición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n es impar, n = 2k + 1 y n³ = 2(4k³ + 6k² + 3k) + 1: impar. Luego si n³ es par, n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 n = 11: 121 − 11 + 11 = 121 = 11². No es primo. El enunciado es falso.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Contradicción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Si (p/q)² = 3 con la fracción simplificada, p² = 3q² ⟹ p múltiplo de 3 ⟹ q también. Absurdo.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Directa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 = 2k + 1 ⟹ n² − 1 = 4k² + 4k = 4k(k + 1): divisible por 4.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48640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64184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métodos aparecen una vez cada uno. En el parcial, elegir bien la estrategia vale tanto como ejecutarla.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entregar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Demuestre por contradicción que √3 es irracional.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Refute o demuestre: para todo entero n, 2ⁿ − 1 es primo.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Demuestre que la suma de un racional y un irracional es irracional.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Encuentre el error: «Si n es par, n² es par; n² es par; luego n es par».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Indique en cada una el método elegido y por qué.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los contraejemplos, verifique la hipótesis y la falla de la conclusión.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Lectura: sección 1.5 de Johnsonbaugh, demostración por contradicción y contraejemplos.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4 esconde una falacia de la sesión 4. Identifíquela por su nombre.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3475</TotalTime>
  <Words>1999</Words>
  <Application>Microsoft Office PowerPoint</Application>
  <PresentationFormat>Panorámica</PresentationFormat>
  <Paragraphs>247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95</cp:revision>
  <dcterms:created xsi:type="dcterms:W3CDTF">2022-07-12T20:27:57Z</dcterms:created>
  <dcterms:modified xsi:type="dcterms:W3CDTF">2026-09-04T14:43:55Z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