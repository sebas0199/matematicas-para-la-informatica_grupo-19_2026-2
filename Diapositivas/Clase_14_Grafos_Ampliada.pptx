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4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938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estudiantes que respondan las preguntas solo mirando el dibujo, antes de mostrar la respuesta. La idea es que vean que el dibujo guarda la información.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 grafo (va en los dos sentidos). 2 digrafo (hay calles de un solo sentido). 3 grafo. 4 digrafo (el orden importa).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dibujar nada, verificar con los estudiantes que R es simétrica. Esa propiedad es la que nos va a permitir pasar de flechas a líneas.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el círculo no es un número cualquiera, es un elemento del conjunto. La posición en el dibujo no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¿qué pareja habría que agregar para que R fuera simétrica? Respuesta: (2,1).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14884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para la informática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31546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· Grafos: grado, matriz de adyacencia y conectividad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Montoya Villada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EMPECEMOS DESDE CERO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grafo?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grafo es un dibujo de puntos unidos por líneas. Sirve para mostrar qué cosas están conectadas entre sí.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cuatro amigos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es un círculo.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personas son amigas, las unimos con una línea.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41605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Mirando el dibujo podemos responder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tiene más amigos?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¿Dani es amigo de Ana?  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7498080" y="2560320"/>
            <a:ext cx="914" cy="2286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7498080" y="2560320"/>
            <a:ext cx="1645920" cy="1143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 flipV="1">
            <a:off x="7498080" y="3703320"/>
            <a:ext cx="1645920" cy="1143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9144000" y="3703320"/>
            <a:ext cx="146304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7077456" y="2139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77456" y="4425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23376" y="3282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186416" y="3282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= «son amigos»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EMPECEMOS DESDE CERO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grafo tiene solo dos piezas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Vértices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círculos. Representan las cosas: personas, ciudades, computadores…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01752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líneas. Representan la conexión entre dos cosas.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434840"/>
          <a:ext cx="5394960" cy="13898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Vértices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Amigos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Amistad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Ciudades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Carreteras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Computadores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5"/>
          <p:cNvSpPr/>
          <p:nvPr/>
        </p:nvSpPr>
        <p:spPr>
          <a:xfrm>
            <a:off x="7498080" y="2560320"/>
            <a:ext cx="914" cy="2286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6"/>
          <p:cNvSpPr/>
          <p:nvPr/>
        </p:nvSpPr>
        <p:spPr>
          <a:xfrm>
            <a:off x="7498080" y="2560320"/>
            <a:ext cx="1645920" cy="1143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7"/>
          <p:cNvSpPr/>
          <p:nvPr/>
        </p:nvSpPr>
        <p:spPr>
          <a:xfrm flipV="1">
            <a:off x="7498080" y="3703320"/>
            <a:ext cx="1645920" cy="1143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8"/>
          <p:cNvSpPr/>
          <p:nvPr/>
        </p:nvSpPr>
        <p:spPr>
          <a:xfrm>
            <a:off x="9144000" y="3703320"/>
            <a:ext cx="146304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9"/>
          <p:cNvSpPr/>
          <p:nvPr/>
        </p:nvSpPr>
        <p:spPr>
          <a:xfrm>
            <a:off x="7077456" y="2139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77456" y="4425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723376" y="3282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186416" y="3282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vértices y 4 aristas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EMPECEMOS DESDE CERO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la conexión tiene dirección?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pensemos en «seguir» en Instagram.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Carla siga a Ana no significa que Ana siga a Carla.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no basta: usamos una flecha que dice quién sigue a quién.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 → Ana:  Carla sigue a Ana.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⇄ Beto:  se siguen los dos.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34340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nuevo: digrafo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grafo con flechas se llama grafo dirigido o digrafo. Si la conexión va en los dos sentidos, basta una línea: grafo. Si importa el sentido: digrafo.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7388352" y="3008376"/>
            <a:ext cx="914" cy="1389888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 flipV="1">
            <a:off x="7607808" y="3008376"/>
            <a:ext cx="914" cy="1389888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7866100" y="2815889"/>
            <a:ext cx="909881" cy="631861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 flipV="1">
            <a:off x="9592056" y="3703320"/>
            <a:ext cx="566928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7077456" y="2139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77456" y="4425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23376" y="3282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186416" y="3282696"/>
            <a:ext cx="841248" cy="841248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 de X a Y = «X sigue a Y»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RÁPIDA ·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¿Grafo (líneas) o digrafo (flechas)?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situación, decida si conviene dibujar líneas o flechas. Pregúntese: ¿la conexión va siempre en los dos sentidos?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01600" tIns="228600" rIns="228600" bIns="1016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Amistad en Facebook</a:t>
            </a:r>
            <a:endParaRPr lang="en-US" sz="1900" dirty="0"/>
          </a:p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yo soy tu amigo, tú eres mi amigo.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172200" y="251460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01600" tIns="228600" rIns="228600" bIns="1016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Calles de una ciudad</a:t>
            </a:r>
            <a:endParaRPr lang="en-US" sz="1900" dirty="0"/>
          </a:p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calles son de un solo sentido.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01600" tIns="228600" rIns="228600" bIns="1016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Cables entre computadores</a:t>
            </a:r>
            <a:endParaRPr lang="en-US" sz="1900" dirty="0"/>
          </a:p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 cable la información va y viene.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172200" y="411480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01600" tIns="228600" rIns="228600" bIns="1016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Prerrequisitos de materias</a:t>
            </a:r>
            <a:endParaRPr lang="en-US" sz="1900" dirty="0"/>
          </a:p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va antes que Programación, no al revés.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AHORA, CON MATEMÁTICAS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relación también se puede dibujar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 12 una relación era un conjunto de parejas. Vamos a dibujar esta: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{ 1, 2, 3, 4 }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R sobre A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{ (1,2), (2,1), (1,3), (3,1),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(2,3), (3,2), (3,4), (4,3) }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Recordemos (Clase 12)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es simétrica si cada vez que está (a, b), también está (b, a).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645920"/>
          <a:ext cx="4983480" cy="2514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Pareja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inversa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¿Está en R?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(1, 2)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(2, 1)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(3, 1)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(2, 3)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(3, 2)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(3, 4)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(4, 3)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6446520" y="45262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</a:t>
            </a: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es simétrica. Todas las parejas vienen de a dos.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DE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del conjunto es un círculo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Dibujamos un círculo por cada elemento de A = {1, 2, 3, 4}.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tiene 4 elementos, dibujamos 4 círculos.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ahora no hay nada que los una: solo marcamos los elementos.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con los amigos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círculo es un vértice (o nodo). El conjunto de todos los vértices se escribe V.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Aquí: V = {1, 2, 3, 4}.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7205472" y="2267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05472" y="4553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5139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31443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elementos  →  4 vértices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DE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pareja de R es una flecha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pareja (a, b) se lee «a está relacionado con b». La dibujamos como una flecha de a hacia b.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2)  →  flecha de 1 hacia 2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 1)  →  flecha de 2 hacia 1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Hacemos lo mismo con las 8 parejas: 8 flechas.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43484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obtuvimos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dibujo con flechas: es el digrafo de la relación 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7388352" y="2880360"/>
            <a:ext cx="914" cy="164592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 flipV="1">
            <a:off x="7607808" y="2880360"/>
            <a:ext cx="914" cy="164592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7698363" y="2832997"/>
            <a:ext cx="1120178" cy="777901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7823540" y="2652742"/>
            <a:ext cx="1120178" cy="777901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9"/>
          <p:cNvSpPr/>
          <p:nvPr/>
        </p:nvSpPr>
        <p:spPr>
          <a:xfrm flipV="1">
            <a:off x="7823540" y="3975997"/>
            <a:ext cx="1120178" cy="777901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2" name="Shape 10"/>
          <p:cNvSpPr/>
          <p:nvPr/>
        </p:nvSpPr>
        <p:spPr>
          <a:xfrm flipV="1">
            <a:off x="7698363" y="3795742"/>
            <a:ext cx="1120178" cy="777901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3" name="Shape 11"/>
          <p:cNvSpPr/>
          <p:nvPr/>
        </p:nvSpPr>
        <p:spPr>
          <a:xfrm>
            <a:off x="9464040" y="3813048"/>
            <a:ext cx="82296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4" name="Shape 12"/>
          <p:cNvSpPr/>
          <p:nvPr/>
        </p:nvSpPr>
        <p:spPr>
          <a:xfrm flipV="1">
            <a:off x="9464040" y="3593592"/>
            <a:ext cx="82296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7205472" y="226771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05472" y="455371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5139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31443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parejas  →  8 flechas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DE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flechas opuestas se cambian por una línea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 es simétrica, las flechas siempre vienen en pareja: una de ida y otra de vuelta.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ya no aporta información.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 cambiamos cada ida y vuelta por una sola línea, sin puntas. Empecemos por 1 y 2.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con los amigos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 es una arista. Se escribe con llaves: {1, 2}.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llaves indican que el orden no importa: {1, 2} = {2, 1}.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7498080" y="2560320"/>
            <a:ext cx="914" cy="228600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7698363" y="2832997"/>
            <a:ext cx="1120178" cy="777901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7823540" y="2652742"/>
            <a:ext cx="1120178" cy="777901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 flipV="1">
            <a:off x="7823540" y="3975997"/>
            <a:ext cx="1120178" cy="777901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9"/>
          <p:cNvSpPr/>
          <p:nvPr/>
        </p:nvSpPr>
        <p:spPr>
          <a:xfrm flipV="1">
            <a:off x="7698363" y="3795742"/>
            <a:ext cx="1120178" cy="777901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2" name="Shape 10"/>
          <p:cNvSpPr/>
          <p:nvPr/>
        </p:nvSpPr>
        <p:spPr>
          <a:xfrm>
            <a:off x="9464040" y="3813048"/>
            <a:ext cx="82296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3" name="Shape 11"/>
          <p:cNvSpPr/>
          <p:nvPr/>
        </p:nvSpPr>
        <p:spPr>
          <a:xfrm flipV="1">
            <a:off x="9464040" y="3593592"/>
            <a:ext cx="82296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7205472" y="226771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05472" y="455371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5139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31443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2) y (2, 1)  →  una línea {1, 2}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DE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Hacemos lo mismo con todas las parejas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5394960" cy="25146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Parejas de 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2) y (2, 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 2}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3) y (3, 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 3}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 3) y (3, 2)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{2, 3}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 4) y (4, 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{3, 4}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434340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tenemos un grafo: G = (V, E)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{1, 2, 3, 4}   (vértices)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{ {1,2}, {1,3}, {2,3}, {3,4} }   (aristas)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4"/>
          <p:cNvSpPr/>
          <p:nvPr/>
        </p:nvSpPr>
        <p:spPr>
          <a:xfrm>
            <a:off x="7498080" y="2560320"/>
            <a:ext cx="914" cy="2286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5"/>
          <p:cNvSpPr/>
          <p:nvPr/>
        </p:nvSpPr>
        <p:spPr>
          <a:xfrm>
            <a:off x="7498080" y="2560320"/>
            <a:ext cx="1645920" cy="1143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6"/>
          <p:cNvSpPr/>
          <p:nvPr/>
        </p:nvSpPr>
        <p:spPr>
          <a:xfrm flipV="1">
            <a:off x="7498080" y="3703320"/>
            <a:ext cx="1645920" cy="1143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7"/>
          <p:cNvSpPr/>
          <p:nvPr/>
        </p:nvSpPr>
        <p:spPr>
          <a:xfrm>
            <a:off x="9144000" y="3703320"/>
            <a:ext cx="146304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8"/>
          <p:cNvSpPr/>
          <p:nvPr/>
        </p:nvSpPr>
        <p:spPr>
          <a:xfrm>
            <a:off x="7205472" y="2267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05472" y="4553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85139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31443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¿Le suena? Es el mismo dibujo de los 4 amigos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la relación no es simétrica?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Tomemos A = {1, 2, 3} y la relación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{ (1,2), (2,3), (3,2) }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(1, 2), pero no está (2, 1): la flecha de 1 a 2 no tiene vuelta.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cambiáramos por una línea, perderíamos algo: que la relación va de 1 hacia 2, y no al revés.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5262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 es simétrica, la dibujamos como grafo (líneas). Si no lo es, se queda como digrafo (flechas).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7635240" y="3611880"/>
            <a:ext cx="978408" cy="914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9253728" y="3721608"/>
            <a:ext cx="987552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 flipV="1">
            <a:off x="9253728" y="3502152"/>
            <a:ext cx="987552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7022592" y="331927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41080" y="331927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268712" y="331927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no es simétrica  →  se queda como digrafo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una pareja como (1, 1)?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A = {1, 2} y R = { (1,1), (1,2), (2,1) }.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1) dice «1 está relacionado consigo mismo». Se dibuja como una línea que sale de 1 y vuelve a 1.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línea se llama lazo.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 (Clase 12): si R es reflexiva, todos los vértices tienen su lazo.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5262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para el curso: grafo simple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que se diga otra cosa, trabajamos con grafos simples: sin lazos y sin dos líneas entre los mismos vértices.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7644384" y="3355848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7863840" y="3977640"/>
            <a:ext cx="214884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7571232" y="368503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720072" y="368503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1)  →  lazo en el vértice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· 10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usted: construya el grafo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 B = { a, b, c }  y la relación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 (a,b), (b,a), (b,c), (c,b) 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S simétrica? Revise cada pareja con su inversa.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Dibuje un círculo por cada elemento de B.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Dibuje las flechas y luego cámbielas por líneas.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5029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 V y 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· SOLUCIÓN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el grafo de 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5486400" cy="28346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¿Simétrica?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Sí: (a,b) con (b,a), y (b,c) con (c,b)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Vértices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círculos: a, b, 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Aristas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{a,b} y {b,c}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V y 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{a, b, c},  E = { {a,b}, {b,c}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47091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línea entre a y c: ninguna pareja de S los une.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4"/>
          <p:cNvSpPr/>
          <p:nvPr/>
        </p:nvSpPr>
        <p:spPr>
          <a:xfrm>
            <a:off x="7269480" y="3611880"/>
            <a:ext cx="1664208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5"/>
          <p:cNvSpPr/>
          <p:nvPr/>
        </p:nvSpPr>
        <p:spPr>
          <a:xfrm>
            <a:off x="8933688" y="3611880"/>
            <a:ext cx="1673352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6"/>
          <p:cNvSpPr/>
          <p:nvPr/>
        </p:nvSpPr>
        <p:spPr>
          <a:xfrm>
            <a:off x="6976872" y="331927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41080" y="331927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314432" y="331927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vértices y 2 aristas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está unido con quién?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Adyacentes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vértices son adyacentes si hay una línea entre ellos.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 4 son adyacentes.  1 y 4 no lo son.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Vecinos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vecinos de un vértice son todos los que están unidos con él.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Vecinos de 3:  1, 2 y 4.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66344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hallar los vecinos de v, siga cada línea que sale de v y anote dónde termina.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7498080" y="2560320"/>
            <a:ext cx="914" cy="2286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7498080" y="2560320"/>
            <a:ext cx="1645920" cy="114300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 flipV="1">
            <a:off x="7498080" y="3703320"/>
            <a:ext cx="1645920" cy="114300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9144000" y="3703320"/>
            <a:ext cx="1463040" cy="914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7205472" y="2267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05472" y="4553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851392" y="341071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31443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líneas naranjas salen de 3: sus vecinos son 1, 2 y 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grado: cuántas líneas tocan a un círculo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grado de un vértice v, escrito grad(v), es el número de aristas que lo tocan.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Contemos para el vértice 3: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{1,3}, {2,3} y {3,4}  →  3 líneas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977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grad(3) = 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892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mismo que contar sus vecinos.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7498080" y="2560320"/>
            <a:ext cx="914" cy="2286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7498080" y="2560320"/>
            <a:ext cx="1645920" cy="114300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 flipV="1">
            <a:off x="7498080" y="3703320"/>
            <a:ext cx="1645920" cy="114300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9"/>
          <p:cNvSpPr/>
          <p:nvPr/>
        </p:nvSpPr>
        <p:spPr>
          <a:xfrm>
            <a:off x="9144000" y="3703320"/>
            <a:ext cx="1463040" cy="914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7205472" y="2267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5472" y="4553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51392" y="341071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31443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líneas tocan al vértice 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grado de cada vértice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52760" cy="1645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Vértice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que lo tocan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{1,2} {1,3}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{1,2} {2,3}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{1,3} {2,3} {3,4}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{3,4}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36576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 pendiente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grado es 1, el vértice cuelga de una sola línea. Aquí, el 4 es pendiente.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09360" y="36576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 aislado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grado es 0, no lo toca ninguna línea. En G no hay ninguno (aún).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Consejo: para no perder líneas, recorra la lista E y marque los dos extremos de cada arista.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CUENTA ÚTIL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sumamos todos los grados…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+ 2 + 3 + 1 = 8</a:t>
            </a:r>
            <a:endParaRPr lang="en-US" sz="2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los grados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0" y="16459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|E| = 4</a:t>
            </a:r>
            <a:endParaRPr lang="en-US" sz="2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aristas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01000" y="16459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r>
              <a:rPr lang="en-US" sz="2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× 4</a:t>
            </a:r>
            <a:endParaRPr lang="en-US" sz="2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es el doble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pasa esto?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 tiene dos extremos. Al contar grados, la arista {3,4} suma 1 al grado de 3 y 1 al grado de 4: se cuenta dos veces.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eso pasa con todas las líneas, la suma de grados es el doble del número de aristas.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93776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de la suma de grados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todo grafo:  suma de los grados = 2 × |E|.  Úselo siempre para revisar sus cuentas.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· 10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usted: grados y verificación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A. Con el grafo del Ejercicio 1 (a — b — c):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grad(a), grad(b) y grad(c).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que la suma de grados es 2 × |E|.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B. Con el grafo de la derecha: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 V y E.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el grado de cada vértice.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vértices pendientes?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hape 4"/>
          <p:cNvSpPr/>
          <p:nvPr/>
        </p:nvSpPr>
        <p:spPr>
          <a:xfrm>
            <a:off x="7635240" y="2514600"/>
            <a:ext cx="260604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0241280" y="2514600"/>
            <a:ext cx="914" cy="233172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 flipV="1">
            <a:off x="7635240" y="4846320"/>
            <a:ext cx="260604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 flipV="1">
            <a:off x="7635240" y="2514600"/>
            <a:ext cx="914" cy="233172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7342632" y="222199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948672" y="222199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948672" y="4553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42632" y="4553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la parte 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· SOLUCIÓN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grados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grad(v)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2971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|E| = 2  →  2 × 2 = 4. Coincide. a y c son pendientes.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</a:t>
            </a:r>
            <a:endParaRPr lang="en-US" sz="18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120640" cy="9144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grad(v)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309360" y="29718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{p, q, r, s},  E = { {p,q}, {q,r}, {r,s}, {s,p} }.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|E| = 4  →  2 × 4 = 8. Coincide. No hay pendientes.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4343400"/>
            <a:ext cx="10652760" cy="91440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suma no da 2 × |E|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…hay un error de conteo: revise de nuevo la lista de aristas antes de seguir.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ADYACENCIA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grafo como una tabla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Ponemos los vértices como filas y como columnas.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casilla escribimos 1 si hay línea entre esos dos vértices, y 0 si no la hay.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Empecemos con la fila del 1: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¿1 con 1? No → 0.  ¿1 con 2? Sí → 1.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¿1 con 3? Sí → 1.  ¿1 con 4? No → 0.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343400"/>
          <a:ext cx="4206240" cy="1920240"/>
        </p:xfrm>
        <a:graphic>
          <a:graphicData uri="http://schemas.openxmlformats.org/drawingml/2006/table">
            <a:tbl>
              <a:tblPr/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4"/>
          <p:cNvSpPr/>
          <p:nvPr/>
        </p:nvSpPr>
        <p:spPr>
          <a:xfrm>
            <a:off x="7498080" y="2560320"/>
            <a:ext cx="914" cy="228600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5"/>
          <p:cNvSpPr/>
          <p:nvPr/>
        </p:nvSpPr>
        <p:spPr>
          <a:xfrm>
            <a:off x="7498080" y="2560320"/>
            <a:ext cx="1645920" cy="114300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6"/>
          <p:cNvSpPr/>
          <p:nvPr/>
        </p:nvSpPr>
        <p:spPr>
          <a:xfrm flipV="1">
            <a:off x="7498080" y="3703320"/>
            <a:ext cx="1645920" cy="1143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7"/>
          <p:cNvSpPr/>
          <p:nvPr/>
        </p:nvSpPr>
        <p:spPr>
          <a:xfrm>
            <a:off x="9144000" y="3703320"/>
            <a:ext cx="146304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8"/>
          <p:cNvSpPr/>
          <p:nvPr/>
        </p:nvSpPr>
        <p:spPr>
          <a:xfrm>
            <a:off x="7205472" y="226771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05472" y="4553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85139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31443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 está unido con 2 y con 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ADYACENCIA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completa y lo que nos dice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5120640" cy="25146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64592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27000" tIns="203200" rIns="203200" bIns="1270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de cada fila es el grado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3: 1 + 1 + 0 + 1 = 3 = grad(3).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09360" y="292608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>
            <a:solidFill>
              <a:srgbClr val="F4F7FC"/>
            </a:solidFill>
          </a:ln>
        </p:spPr>
        <p:txBody>
          <a:bodyPr wrap="square" lIns="127000" tIns="203200" rIns="203200" bIns="1270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 es toda de ceros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vértice tiene una línea consigo mismo.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09360" y="420624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>
            <a:solidFill>
              <a:srgbClr val="F4F7FC"/>
            </a:solidFill>
          </a:ln>
        </p:spPr>
        <p:txBody>
          <a:bodyPr wrap="square" lIns="127000" tIns="203200" rIns="203200" bIns="1270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simétrica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{1,2} pone un 1 en (fila 1, col. 2) y otro en (fila 2, col. 1).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892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unos: 8 = 2 × |E|. Otra vez la suma de grados.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ADYACENCIA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la matriz de un digrafo?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Usemos el digrafo del caso especial 1.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la fila dice de dónde sale la flecha y la columna a dónde llega.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2 existe: fila 1, columna 2 vale 1.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1 no existe: fila 2, columna 1 vale 0.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la matriz ya no es simétrica. Y un lazo, como (1,1), pondría un 1 en la diagonal.</a:t>
            </a:r>
            <a:endParaRPr lang="en-US" sz="1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343400"/>
          <a:ext cx="3474720" cy="1536192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4"/>
          <p:cNvSpPr/>
          <p:nvPr/>
        </p:nvSpPr>
        <p:spPr>
          <a:xfrm>
            <a:off x="7635240" y="3611880"/>
            <a:ext cx="978408" cy="914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5"/>
          <p:cNvSpPr/>
          <p:nvPr/>
        </p:nvSpPr>
        <p:spPr>
          <a:xfrm>
            <a:off x="9253728" y="3721608"/>
            <a:ext cx="987552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6"/>
          <p:cNvSpPr/>
          <p:nvPr/>
        </p:nvSpPr>
        <p:spPr>
          <a:xfrm flipV="1">
            <a:off x="9253728" y="3502152"/>
            <a:ext cx="987552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head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7022592" y="331927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41080" y="331927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268712" y="331927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= sale la flecha  ·  Columna = llega la flecha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Caminar por el grafo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 un vértice a otro caminando solo por las líneas.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 a 4:  2 → 3 → 4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longitud es 2, porque usa 2 líneas.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trayectoria que vuelve al punto de partida sin repetir líneas.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2 → 3 → 1  (longitud 3)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89204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frecuente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longitud se cuenta en líneas, no en círculos: 2 → 3 → 4 pasa por 3 vértices pero tiene longitud 2.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7498080" y="2560320"/>
            <a:ext cx="914" cy="2286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7498080" y="2560320"/>
            <a:ext cx="1645920" cy="11430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 flipV="1">
            <a:off x="7498080" y="3703320"/>
            <a:ext cx="1645920" cy="114300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9144000" y="3703320"/>
            <a:ext cx="1463040" cy="914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7205472" y="2267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05472" y="455371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851392" y="341071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314432" y="341071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2 → 3 → 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grafo está en una sola pieza?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Recuerde: un camino va de un vértice a otro siguiendo líneas.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grafo es conexo si hay camino entre cualquier par de vértices. Nuestro G es conexo.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agregamos el 5 a A, sin parejas nuevas en R?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5 no tiene líneas: grad(5) = 0, es aislado. Desde 1 no se llega a 5: ya no es conexo.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80060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pieza separada es una componente. Aquí hay dos: {1, 2, 3, 4} y {5}.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7315200" y="2468880"/>
            <a:ext cx="914" cy="210312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7315200" y="2468880"/>
            <a:ext cx="1508760" cy="105156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 flipV="1">
            <a:off x="7315200" y="3520440"/>
            <a:ext cx="1508760" cy="105156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8823960" y="3520440"/>
            <a:ext cx="137160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7022592" y="217627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22592" y="427939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31352" y="322783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902952" y="322783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902952" y="4736592"/>
            <a:ext cx="585216" cy="585216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piezas: el 5 quedó solo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· 15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usted: de la matriz al grafo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matriz de adyacencia de un grafo con vértices a, b, c, d: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40280"/>
          <a:ext cx="4114800" cy="25146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2240280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22768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 la matriz fila por fila y escriba 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0" y="2898648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29352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Dibuje el grafo.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0" y="3557016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35935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el grado de cada vértice y verifique la suma.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0" y="4215384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4251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conexo? Si no, escriba sus componentes.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486400" y="4873752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49103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línea agregaría para volverlo conexo?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4406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Pista: como la matriz es simétrica, basta mirar las casillas a la derecha de la diagonal.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· SOLUCIÓN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un grafo en dos piezas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5486400" cy="285292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{a,b}, {c,d}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Dibujo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a la derecha: dos líneas sueltas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Grados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tienen grado 1. Suma 4 = 2 × 2.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¿Conexo?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Componentes: {a, b} y {c, d}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Para unirlo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Basta una línea, por ejemplo {b, c}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461772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00" tIns="203200" rIns="203200" bIns="101600" rtlCol="0" anchor="ctr"/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recordar</a:t>
            </a:r>
            <a:endParaRPr lang="en-US" sz="16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está aislado (todos tienen grado 1) y aun así el grafo no es conexo.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4"/>
          <p:cNvSpPr/>
          <p:nvPr/>
        </p:nvSpPr>
        <p:spPr>
          <a:xfrm>
            <a:off x="7360920" y="2606040"/>
            <a:ext cx="914" cy="20574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5"/>
          <p:cNvSpPr/>
          <p:nvPr/>
        </p:nvSpPr>
        <p:spPr>
          <a:xfrm>
            <a:off x="10515600" y="2606040"/>
            <a:ext cx="914" cy="20574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6"/>
          <p:cNvSpPr/>
          <p:nvPr/>
        </p:nvSpPr>
        <p:spPr>
          <a:xfrm flipV="1">
            <a:off x="7360920" y="2606040"/>
            <a:ext cx="3154680" cy="2057400"/>
          </a:xfrm>
          <a:prstGeom prst="line">
            <a:avLst/>
          </a:prstGeom>
          <a:noFill/>
          <a:ln w="254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7068312" y="231343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068312" y="437083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222992" y="231343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222992" y="4370832"/>
            <a:ext cx="585216" cy="585216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punteada {b, c} lo volvería conexo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INDEPENDIENTE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99032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344168"/>
            <a:ext cx="9921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relación al grafo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{1,2,3,4,5}, R = {(1,2),(2,1),(2,3),(3,2),(4,5),(5,4)}. ¿Es simétrica? Dibuje el digrafo, luego el grafo, y escriba V y 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84248"/>
            <a:ext cx="9921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el grado de cada vértice del punto 1 y verifique que la suma es 2 × |E|.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679192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624328"/>
            <a:ext cx="9921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 la matriz de adyacencia del punto 1 y compruebe que la suma de cada fila es el grado.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319272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264408"/>
            <a:ext cx="9921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grafo del punto 1 es conexo? Si no, escriba sus componentes y diga qué línea los uniría.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959352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904488"/>
            <a:ext cx="9921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especiales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Dibuje R = {(1,1),(1,2),(2,3)} sobre {1,2,3}. ¿Es grafo o digrafo? ¿Tiene lazos? Escriba su matriz.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599432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544568"/>
            <a:ext cx="9921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grafo de los cuatro amigos, encuentre un ciclo y diga su longitud.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5239512"/>
            <a:ext cx="420624" cy="420624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184648"/>
            <a:ext cx="9921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existir un grafo con grados 3, 3, 2, 1? Use la suma de grados para justificar.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 mano, en el cuaderno. Lectura: Johnsonbaugh, capítulo de teoría de grafos (introducción).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CASO ESPECIAL 3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¿Y si solo existe una dirección?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Sea V = {a, b} y R = {(a,b)}.</a:t>
            </a:r>
          </a:p>
          <a:p>
            <a:endParaRPr/>
          </a:p>
          <a:p>
            <a:r>
              <a:t>Está (a,b), pero no (b,a).</a:t>
            </a:r>
          </a:p>
          <a:p>
            <a:endParaRPr/>
          </a:p>
          <a:p>
            <a:r>
              <a:t>No podemos sustituir el arco por una arista sin perder información.</a:t>
            </a:r>
          </a:p>
          <a:p>
            <a:endParaRPr/>
          </a:p>
          <a:p>
            <a:r>
              <a:t>En un digrafo, E contiene pares ordenados.</a:t>
            </a:r>
          </a:p>
        </p:txBody>
      </p:sp>
      <p:sp>
        <p:nvSpPr>
          <p:cNvPr id="5" name="Text 3"/>
          <p:cNvSpPr/>
          <p:nvPr/>
        </p:nvSpPr>
        <p:spPr>
          <a:xfrm>
            <a:off x="777240" y="45262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00" tIns="203200" rIns="203200" bIns="101600" rtlCol="0" anchor="ctr"/>
          <a:lstStyle/>
          <a:p>
            <a:r>
              <a:t>Regla</a:t>
            </a:r>
          </a:p>
          <a:p>
            <a:r>
              <a:t>Grafo no dirigido: E = {{a,b}}.</a:t>
            </a:r>
          </a:p>
          <a:p>
            <a:r>
              <a:t>Digrafo: E = {(a,b)}.</a:t>
            </a:r>
          </a:p>
          <a:p>
            <a:r>
              <a:t>El orden sí importa en el digrafo.</a:t>
            </a:r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 → b  no implica  b → 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30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0" y="2286000"/>
            <a:ext cx="594360" cy="594360"/>
          </a:xfrm>
          <a:prstGeom prst="ellipse">
            <a:avLst/>
          </a:prstGeom>
          <a:solidFill>
            <a:srgbClr val="FFF0E3"/>
          </a:solidFill>
          <a:ln>
            <a:solidFill>
              <a:srgbClr val="E3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/>
            </a:pPr>
            <a: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9875520" y="2286000"/>
            <a:ext cx="594360" cy="594360"/>
          </a:xfrm>
          <a:prstGeom prst="ellipse">
            <a:avLst/>
          </a:prstGeom>
          <a:solidFill>
            <a:srgbClr val="E8F2FF"/>
          </a:solidFill>
          <a:ln>
            <a:solidFill>
              <a:srgbClr val="236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/>
            </a:pPr>
            <a:r>
              <a:t>b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955279" y="2487168"/>
            <a:ext cx="1865376" cy="164592"/>
          </a:xfrm>
          <a:prstGeom prst="rightArrow">
            <a:avLst/>
          </a:prstGeom>
          <a:solidFill>
            <a:srgbClr val="E5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95160" y="3337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05CBA"/>
                </a:solidFill>
                <a:latin typeface="Arial"/>
              </a:defRPr>
            </a:pPr>
            <a:r>
              <a:t>E = {(a,b)}    ≠    {{a,b}}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9319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5364A"/>
                </a:solidFill>
                <a:latin typeface="Arial"/>
              </a:defRPr>
            </a:pPr>
            <a:r>
              <a:t>Matriz de adyacencia: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48056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5364A"/>
                </a:solidFill>
                <a:latin typeface="Arial"/>
              </a:defRPr>
            </a:pPr>
            <a:r>
              <a:t>         a      b</a:t>
            </a:r>
          </a:p>
          <a:p>
            <a:pPr>
              <a:defRPr sz="1900" b="0">
                <a:solidFill>
                  <a:srgbClr val="25364A"/>
                </a:solidFill>
                <a:latin typeface="Arial"/>
              </a:defRPr>
            </a:pPr>
            <a:r>
              <a:t> a       0      1</a:t>
            </a:r>
          </a:p>
          <a:p>
            <a:pPr>
              <a:defRPr sz="1900" b="0">
                <a:solidFill>
                  <a:srgbClr val="25364A"/>
                </a:solidFill>
                <a:latin typeface="Arial"/>
              </a:defRPr>
            </a:pPr>
            <a:r>
              <a:t> b       0      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EJERCICIO FINAL · 20 MIN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Ahora usted: integre todo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V = {a, b, c, d, e}     E = {{a,b}, {a,c}, {b,c}, {c,d}}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2542032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5694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2000"/>
            </a:pPr>
            <a:r>
              <a:t>Dibuje el grafo y escriba los vecinos de cada vértice.</a:t>
            </a:r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1363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2000"/>
            </a:pPr>
            <a:r>
              <a:t>Calcule los grados y verifique Σ grad(v) = 2 × |E|.</a:t>
            </a:r>
          </a:p>
        </p:txBody>
      </p:sp>
      <p:sp>
        <p:nvSpPr>
          <p:cNvPr id="9" name="Text 7"/>
          <p:cNvSpPr/>
          <p:nvPr/>
        </p:nvSpPr>
        <p:spPr>
          <a:xfrm>
            <a:off x="822960" y="3675887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2000"/>
            </a:pPr>
            <a:r>
              <a:t>Construya la matriz de adyacencia.</a:t>
            </a:r>
          </a:p>
        </p:txBody>
      </p:sp>
      <p:sp>
        <p:nvSpPr>
          <p:cNvPr id="11" name="Text 9"/>
          <p:cNvSpPr/>
          <p:nvPr/>
        </p:nvSpPr>
        <p:spPr>
          <a:xfrm>
            <a:off x="822960" y="4242816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2702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2000"/>
            </a:pPr>
            <a:r>
              <a:t>Identifique un vértice pendiente y uno aislado.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31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4809744"/>
            <a:ext cx="457200" cy="457200"/>
          </a:xfrm>
          <a:prstGeom prst="ellipse">
            <a:avLst/>
          </a:prstGeom>
          <a:solidFill>
            <a:srgbClr val="226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83717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5364A"/>
                </a:solidFill>
                <a:latin typeface="Arial"/>
              </a:defRPr>
            </a:pPr>
            <a:r>
              <a:t>Determine componentes y una arista para hacerlo conexo.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5376672"/>
            <a:ext cx="457200" cy="457200"/>
          </a:xfrm>
          <a:prstGeom prst="ellipse">
            <a:avLst/>
          </a:prstGeom>
          <a:solidFill>
            <a:srgbClr val="226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40410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5364A"/>
                </a:solidFill>
                <a:latin typeface="Arial"/>
              </a:defRPr>
            </a:pPr>
            <a:r>
              <a:t>Si solo existe a → b, ¿cómo cambia el conjunto 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GRACIAS!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3557</Words>
  <Application>Microsoft Office PowerPoint</Application>
  <PresentationFormat>Panorámica</PresentationFormat>
  <Paragraphs>618</Paragraphs>
  <Slides>31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14 - Grafos</dc:title>
  <dc:subject>PptxGenJS Presentation</dc:subject>
  <dc:creator>Sebastian Montoya Villada</dc:creator>
  <cp:lastModifiedBy>SEBASTIAN MONTOYA VILLADA</cp:lastModifiedBy>
  <cp:revision>3</cp:revision>
  <dcterms:created xsi:type="dcterms:W3CDTF">2026-10-08T00:30:02Z</dcterms:created>
  <dcterms:modified xsi:type="dcterms:W3CDTF">2026-10-08T14:51:36Z</dcterms:modified>
</cp:coreProperties>
</file>