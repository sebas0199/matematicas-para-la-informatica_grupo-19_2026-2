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3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13" autoAdjust="0"/>
    <p:restoredTop sz="82809" autoAdjust="0"/>
  </p:normalViewPr>
  <p:slideViewPr>
    <p:cSldViewPr snapToGrid="0">
      <p:cViewPr varScale="1">
        <p:scale>
          <a:sx n="89" d="100"/>
          <a:sy n="89" d="100"/>
        </p:scale>
        <p:origin x="1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Criterio de lectura del resultado:</a:t>
            </a:r>
          </a:p>
          <a:p>
            <a:r>
              <a:t>• Preguntas 1–3: dominio aritmético y porcentual.</a:t>
            </a:r>
          </a:p>
          <a:p>
            <a:r>
              <a:t>• Preguntas 4–6: manejo de álgebra elemental.</a:t>
            </a:r>
          </a:p>
          <a:p>
            <a:r>
              <a:t>• Preguntas 7–10: comprensión, proporcionalidad y razonamiento numérico.</a:t>
            </a:r>
          </a:p>
          <a:p>
            <a:r>
              <a:t>No asignar nota: usar los errores para planear refuerzos breves.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Respuestas:</a:t>
            </a:r>
          </a:p>
          <a:p>
            <a:r>
              <a:t>1. 1/2. Primero, (2/3)(3/8) = 1/4; luego 3/4 − 1/4 = 1/2.</a:t>
            </a:r>
          </a:p>
          <a:p>
            <a:r>
              <a:t>2. 32. Como 4⁻¹ = 2⁻², el numerador es 2³; al dividir por 2⁻² se obtiene 2⁵ = 32.</a:t>
            </a:r>
          </a:p>
          <a:p>
            <a:r>
              <a:t>3. $240.000. Aumenta a $300.000 y el 20% de descuento se calcula sobre ese nuevo valor. No vuelve al precio inicial.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Respuestas:</a:t>
            </a:r>
          </a:p>
          <a:p>
            <a:r>
              <a:t>4. 3x − 6.</a:t>
            </a:r>
          </a:p>
          <a:p>
            <a:r>
              <a:t>5. x = 5. Verificación: 3/3 + 6/2 = 1 + 3 = 4.</a:t>
            </a:r>
          </a:p>
          <a:p>
            <a:r>
              <a:t>6. (x − 2)(x − 3); raíces x = 2 y x =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Respuestas:</a:t>
            </a:r>
          </a:p>
          <a:p>
            <a:r>
              <a:t>7. 480 páginas. Cada impresora produce 30 páginas por minuto; dos impresoras durante ocho minutos producen 2 × 8 × 30.</a:t>
            </a:r>
          </a:p>
          <a:p>
            <a:r>
              <a:t>8. 42. Las diferencias son 4, 6, 8, 10 y 12; también corresponde a n(n+1). Se acepta otra regla coherente si se explica.</a:t>
            </a:r>
          </a:p>
          <a:p>
            <a:r>
              <a:t>9. Es falsa. Por ejemplo, −4 × 0,5 = −2, y −2 es mayor que −4. También 0 no produce un número menor.</a:t>
            </a:r>
          </a:p>
          <a:p>
            <a:r>
              <a:t>10. 85%. El 65% de 40 es 26; con los 8 adicionales aprueban 34 de 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840E8C-AD4F-4D62-B52B-AC1C3A9364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buNone/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2E0868-34D6-4FFB-AF89-39A26E2AB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0FC892-4DD7-4F57-8C6B-DF1A4EF390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6/08/2026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CD63C3-73F9-4D36-853D-DC9B7CB170A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194917-7F65-4B44-8188-E19092E622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313135-DBB1-4D2D-B3FD-2FF1EC1D5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D23EE6-F601-4703-A64B-6E7D5F147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Haga clic para modificar el estilo de texto del patrón</a:t>
            </a:r>
          </a:p>
          <a:p>
            <a:pPr>
              <a:buNone/>
            </a:pPr>
            <a:r>
              <a:t>Segundo nivel</a:t>
            </a:r>
          </a:p>
          <a:p>
            <a:pPr>
              <a:buNone/>
            </a:pPr>
            <a:r>
              <a:t>Tercer nivel</a:t>
            </a:r>
          </a:p>
          <a:p>
            <a:pPr>
              <a:buNone/>
            </a:pPr>
            <a:r>
              <a:t>Cuarto nivel</a:t>
            </a:r>
          </a:p>
          <a:p>
            <a:pPr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F456E0-B101-4C81-9848-213B608DAB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6/08/2026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0A667D-3BC3-457F-8B42-700DFD70EC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4935D2-8AFE-4B1E-B6A6-E7354DA753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B77F2-E2E8-40E2-BD6C-40C582609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E9570FC-1CC5-4508-895B-14F94D841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667293-0031-4390-8E91-8DB3125695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6/08/2026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49E9DA-E09C-4BFE-98AA-F908AE47372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EB16CA-7AD7-40D2-99EF-D36F2AB93B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EE91FC-B490-4DF7-B2F5-A516C0D84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85EEA9-3B56-47FB-8B3F-9367E6740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Haga clic para modificar el estilo de texto del patrón</a:t>
            </a:r>
          </a:p>
          <a:p>
            <a:pPr>
              <a:buNone/>
            </a:pPr>
            <a:r>
              <a:t>Segundo nivel</a:t>
            </a:r>
          </a:p>
          <a:p>
            <a:pPr>
              <a:buNone/>
            </a:pPr>
            <a:r>
              <a:t>Tercer nivel</a:t>
            </a:r>
          </a:p>
          <a:p>
            <a:pPr>
              <a:buNone/>
            </a:pPr>
            <a:r>
              <a:t>Cuarto nivel</a:t>
            </a:r>
          </a:p>
          <a:p>
            <a:pPr>
              <a:buNone/>
            </a:pPr>
            <a:r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344262-5ED5-46B0-913A-F572602FA76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Haga clic para modificar el estilo de texto del patrón</a:t>
            </a:r>
          </a:p>
          <a:p>
            <a:pPr>
              <a:buNone/>
            </a:pPr>
            <a:r>
              <a:t>Segundo nivel</a:t>
            </a:r>
          </a:p>
          <a:p>
            <a:pPr>
              <a:buNone/>
            </a:pPr>
            <a:r>
              <a:t>Tercer nivel</a:t>
            </a:r>
          </a:p>
          <a:p>
            <a:pPr>
              <a:buNone/>
            </a:pPr>
            <a:r>
              <a:t>Cuarto nivel</a:t>
            </a:r>
          </a:p>
          <a:p>
            <a:pPr>
              <a:buNone/>
            </a:pPr>
            <a:r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1B4048-8189-4545-A3D8-C3ADF540F5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6/08/2026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F4F625-347F-4E86-AABB-C7151AF06E9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782E8F-6C0E-48B0-81B5-E5FB6F249A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03272-A140-43F1-AF88-235248BB7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B516D-36B4-4486-9245-C23AB5CE1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Haga clic para modificar el estilo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35B033B-19B0-48C3-8C97-37713FBF9F1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Haga clic para modificar el estilo de texto del patrón</a:t>
            </a:r>
          </a:p>
          <a:p>
            <a:pPr>
              <a:buNone/>
            </a:pPr>
            <a:r>
              <a:t>Segundo nivel</a:t>
            </a:r>
          </a:p>
          <a:p>
            <a:pPr>
              <a:buNone/>
            </a:pPr>
            <a:r>
              <a:t>Tercer nivel</a:t>
            </a:r>
          </a:p>
          <a:p>
            <a:pPr>
              <a:buNone/>
            </a:pPr>
            <a:r>
              <a:t>Cuarto nivel</a:t>
            </a:r>
          </a:p>
          <a:p>
            <a:pPr>
              <a:buNone/>
            </a:pPr>
            <a:r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C813DEA-923F-4F24-A489-CE3801E3326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Haga clic para modificar el estilo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27D9893-D7C0-465F-A30C-83E0B6592A9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Haga clic para modificar el estilo de texto del patrón</a:t>
            </a:r>
          </a:p>
          <a:p>
            <a:pPr>
              <a:buNone/>
            </a:pPr>
            <a:r>
              <a:t>Segundo nivel</a:t>
            </a:r>
          </a:p>
          <a:p>
            <a:pPr>
              <a:buNone/>
            </a:pPr>
            <a:r>
              <a:t>Tercer nivel</a:t>
            </a:r>
          </a:p>
          <a:p>
            <a:pPr>
              <a:buNone/>
            </a:pPr>
            <a:r>
              <a:t>Cuarto nivel</a:t>
            </a:r>
          </a:p>
          <a:p>
            <a:pPr>
              <a:buNone/>
            </a:pPr>
            <a:r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7F9527A-63C2-4200-917C-8B4B8AB89E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6/08/2026</a:t>
            </a:fld>
            <a:endParaRPr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4D8936E-F2FF-4777-8668-C46574B855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130049E-E2A6-40B0-AAE8-F14AF649D3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BBB1B-8A65-4289-BFCA-03ABF7F76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0B63FA-5BAD-46D2-A3BA-378A420DADF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6/08/2026</a:t>
            </a:fld>
            <a:endParaRPr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72E69E-77D6-4299-81FD-394A2150DAC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46FA81-E438-4AF9-96E5-12E91D9B6A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61B471E-E6C0-4CD2-9681-B860EC4D1BD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6/08/2026</a:t>
            </a:fld>
            <a:endParaRPr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8676634-7E53-4B3F-B020-E6FB8C208CF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31B920-275E-4D2D-9838-9310B5C0FE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CE112-F873-441F-83D9-E220A9491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A5A31D-DA2D-48B1-A7D6-1BA9B0C6F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Haga clic para modificar el estilo de texto del patrón</a:t>
            </a:r>
          </a:p>
          <a:p>
            <a:pPr>
              <a:buNone/>
            </a:pPr>
            <a:r>
              <a:t>Segundo nivel</a:t>
            </a:r>
          </a:p>
          <a:p>
            <a:pPr>
              <a:buNone/>
            </a:pPr>
            <a:r>
              <a:t>Tercer nivel</a:t>
            </a:r>
          </a:p>
          <a:p>
            <a:pPr>
              <a:buNone/>
            </a:pPr>
            <a:r>
              <a:t>Cuarto nivel</a:t>
            </a:r>
          </a:p>
          <a:p>
            <a:pPr>
              <a:buNone/>
            </a:pPr>
            <a:r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63EB69F-A289-4181-83CA-1DA7AEB1F6C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2A8D34-A4D4-4590-A501-4B41AE4953F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6/08/2026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D601C4-9A64-4542-95C3-48D5BACD317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8F97701-C6D3-4A8A-B954-9DA97F0ED3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44FA8-AD4D-46E6-959A-13BE931DA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5555726-EFD7-406D-9FDD-7FC2423D29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FAF374-5D70-414E-A8BA-A2DF4A3398A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2CFD710-BE2E-4BD0-8632-6AD52704A6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6/08/2026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89BBCB-1895-4743-8EA5-D40503D9CF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CB0EBD-6B6C-4DC8-8700-8D2DE1256C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DBD1D-EA3B-4952-8CDD-911AEA0B7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D1BD135-3F00-433A-A49B-3DFDDCE51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Haga clic para modificar el estilo de texto del patrón</a:t>
            </a:r>
          </a:p>
          <a:p>
            <a:pPr>
              <a:buNone/>
            </a:pPr>
            <a:r>
              <a:t>Segundo nivel</a:t>
            </a:r>
          </a:p>
          <a:p>
            <a:pPr>
              <a:buNone/>
            </a:pPr>
            <a:r>
              <a:t>Tercer nivel</a:t>
            </a:r>
          </a:p>
          <a:p>
            <a:pPr>
              <a:buNone/>
            </a:pPr>
            <a:r>
              <a:t>Cuarto nivel</a:t>
            </a:r>
          </a:p>
          <a:p>
            <a:pPr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9CC831-C602-42C5-80F1-2CEEB3CE64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6/08/2026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C8A28B-C203-4824-8CF1-97D6B5FA6A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506DC2-25ED-4E9E-816A-8A6E28C7AA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148A15F-A16E-4EFA-81E3-8EAA67AEE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708C02F-2F39-452C-B4EA-99B5F4472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Haga clic para modificar el estilo de texto del patrón</a:t>
            </a:r>
          </a:p>
          <a:p>
            <a:pPr>
              <a:buNone/>
            </a:pPr>
            <a:r>
              <a:t>Segundo nivel</a:t>
            </a:r>
          </a:p>
          <a:p>
            <a:pPr>
              <a:buNone/>
            </a:pPr>
            <a:r>
              <a:t>Tercer nivel</a:t>
            </a:r>
          </a:p>
          <a:p>
            <a:pPr>
              <a:buNone/>
            </a:pPr>
            <a:r>
              <a:t>Cuarto nivel</a:t>
            </a:r>
          </a:p>
          <a:p>
            <a:pPr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53D425-3208-4F6E-B781-1D775EE6D63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6/08/2026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7F2857-A9A8-4378-A8BE-6A5FAD13FD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B16159-D2EA-48F2-90DD-8BD8971256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6/08/2026</a:t>
            </a:fld>
            <a:endParaRPr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C2DAC8-B4F1-4283-BEDA-C53866FA00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buNone/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11DCAD-A0A7-4FEB-85AD-829250C9D6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517AF1-C97F-46A0-A044-451D132E10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6/08/2026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AB405F-72A9-4628-958E-FE9DB377469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7449D6-4636-4CAD-B625-2F5C592CC5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C5502A-F6F1-4914-91BD-A4F0EAA6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6A1B97-51C6-4280-BB8F-6F1661B6F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Haga clic para modificar el estilo de texto del patrón</a:t>
            </a:r>
          </a:p>
          <a:p>
            <a:pPr>
              <a:buNone/>
            </a:pPr>
            <a:r>
              <a:t>Segundo nivel</a:t>
            </a:r>
          </a:p>
          <a:p>
            <a:pPr>
              <a:buNone/>
            </a:pPr>
            <a:r>
              <a:t>Tercer nivel</a:t>
            </a:r>
          </a:p>
          <a:p>
            <a:pPr>
              <a:buNone/>
            </a:pPr>
            <a:r>
              <a:t>Cuarto nivel</a:t>
            </a:r>
          </a:p>
          <a:p>
            <a:pPr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B70581-9894-4690-A0AC-C26822F99C2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6/08/2026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B8B9B5-F59D-4C6B-830B-0D12FF603A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7E1ED8-17E9-42E4-B03B-F8899D7BD5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03020-56CC-47A6-93E9-5E128F580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70EE9B4-E63B-41B8-8669-88A2378D2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1AC828-0F8D-484B-A83E-E3486213A75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6/08/2026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18F222-80B7-4CBE-A125-2417C2A9EF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A9649E-C177-40E9-8DC2-292F6B8D22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1477BE-C7EC-43EF-8B75-FEDE4863B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15154D-85C2-49C9-AC68-8748E06A4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Haga clic para modificar el estilo de texto del patrón</a:t>
            </a:r>
          </a:p>
          <a:p>
            <a:pPr>
              <a:buNone/>
            </a:pPr>
            <a:r>
              <a:t>Segundo nivel</a:t>
            </a:r>
          </a:p>
          <a:p>
            <a:pPr>
              <a:buNone/>
            </a:pPr>
            <a:r>
              <a:t>Tercer nivel</a:t>
            </a:r>
          </a:p>
          <a:p>
            <a:pPr>
              <a:buNone/>
            </a:pPr>
            <a:r>
              <a:t>Cuarto nivel</a:t>
            </a:r>
          </a:p>
          <a:p>
            <a:pPr>
              <a:buNone/>
            </a:pPr>
            <a:r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76D214-D3F5-4F5E-94ED-6B85448B5F1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Haga clic para modificar el estilo de texto del patrón</a:t>
            </a:r>
          </a:p>
          <a:p>
            <a:pPr>
              <a:buNone/>
            </a:pPr>
            <a:r>
              <a:t>Segundo nivel</a:t>
            </a:r>
          </a:p>
          <a:p>
            <a:pPr>
              <a:buNone/>
            </a:pPr>
            <a:r>
              <a:t>Tercer nivel</a:t>
            </a:r>
          </a:p>
          <a:p>
            <a:pPr>
              <a:buNone/>
            </a:pPr>
            <a:r>
              <a:t>Cuarto nivel</a:t>
            </a:r>
          </a:p>
          <a:p>
            <a:pPr>
              <a:buNone/>
            </a:pPr>
            <a:r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D970ED6-93E0-4480-B085-20BC6DA21D8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6/08/2026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4E0C26F-9FBA-4A35-B05C-AC48460B4F2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3FB87C8-9F81-401F-8CFE-B959DD39E4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9212F-17B9-4E68-8E2F-A2BF5DC92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4ADCA5-32B9-4A28-8201-2B9B04AC0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Haga clic para modificar el estilo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B0B95F2-E0F7-4C2E-9299-9BA4D09D0F0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Haga clic para modificar el estilo de texto del patrón</a:t>
            </a:r>
          </a:p>
          <a:p>
            <a:pPr>
              <a:buNone/>
            </a:pPr>
            <a:r>
              <a:t>Segundo nivel</a:t>
            </a:r>
          </a:p>
          <a:p>
            <a:pPr>
              <a:buNone/>
            </a:pPr>
            <a:r>
              <a:t>Tercer nivel</a:t>
            </a:r>
          </a:p>
          <a:p>
            <a:pPr>
              <a:buNone/>
            </a:pPr>
            <a:r>
              <a:t>Cuarto nivel</a:t>
            </a:r>
          </a:p>
          <a:p>
            <a:pPr>
              <a:buNone/>
            </a:pPr>
            <a:r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8DC8BE9-3DB4-410C-B24E-944F6DDA1E5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Haga clic para modificar el estilo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9C3B5DB-8C64-47C7-AA86-BA076A8F576A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Haga clic para modificar el estilo de texto del patrón</a:t>
            </a:r>
          </a:p>
          <a:p>
            <a:pPr>
              <a:buNone/>
            </a:pPr>
            <a:r>
              <a:t>Segundo nivel</a:t>
            </a:r>
          </a:p>
          <a:p>
            <a:pPr>
              <a:buNone/>
            </a:pPr>
            <a:r>
              <a:t>Tercer nivel</a:t>
            </a:r>
          </a:p>
          <a:p>
            <a:pPr>
              <a:buNone/>
            </a:pPr>
            <a:r>
              <a:t>Cuarto nivel</a:t>
            </a:r>
          </a:p>
          <a:p>
            <a:pPr>
              <a:buNone/>
            </a:pPr>
            <a:r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EE91DF9-79E5-4F0F-A937-0060E5B6255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6/08/2026</a:t>
            </a:fld>
            <a:endParaRPr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F6237CE-2724-448A-BC61-11A98F5F40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98FB32A-7009-4693-983D-DD176B398C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159C33-0C94-4AB3-98D8-4F05D4563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209A18C-DBD1-494A-ABBC-3292A251372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6/08/2026</a:t>
            </a:fld>
            <a:endParaRPr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278F1DE-951D-40A0-A9EE-0671ABC1B2D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7609BBB-CC73-45F1-A48A-5A7BD9B015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1CB5038-80EC-4DD1-AB84-1989E566CC8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6/08/2026</a:t>
            </a:fld>
            <a:endParaRPr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FA84A14-63B5-47EB-B82B-81A9C3784E4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B50A29-6CA4-4289-AFF9-51A4E73937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48CE6-7D50-4421-8745-3FF768524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F7B63F-4870-45A4-AB90-79AE96C64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Haga clic para modificar el estilo de texto del patrón</a:t>
            </a:r>
          </a:p>
          <a:p>
            <a:pPr>
              <a:buNone/>
            </a:pPr>
            <a:r>
              <a:t>Segundo nivel</a:t>
            </a:r>
          </a:p>
          <a:p>
            <a:pPr>
              <a:buNone/>
            </a:pPr>
            <a:r>
              <a:t>Tercer nivel</a:t>
            </a:r>
          </a:p>
          <a:p>
            <a:pPr>
              <a:buNone/>
            </a:pPr>
            <a:r>
              <a:t>Cuarto nivel</a:t>
            </a:r>
          </a:p>
          <a:p>
            <a:pPr>
              <a:buNone/>
            </a:pPr>
            <a:r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A492DA-2B9C-4DC6-8859-160420E1F21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F2BD71-E263-403D-BAA5-C1DFBD0F5EA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6/08/2026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48BD8F-5BF3-4481-9C2B-EF4EC21ED89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B61DC28-331D-4891-98F4-FF8922D7C4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730A49-76E0-48CB-B556-ECD0C2F8E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C13BD08-423E-4F5A-BAE9-47E7BD36CE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B951BFE-D070-4588-8D76-FDBAAABE098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EE4BB8-6D1A-4AEC-9613-C6D40323872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6/08/2026</a:t>
            </a:fld>
            <a:endParaRPr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79122A8-E098-4987-B588-475EA60DE33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62E90A-A351-4CD2-AE1C-65E47F46E0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CC6A8D-A38E-4809-9EF5-973F63E07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F73ABBC-494C-4E4D-A14E-9E5C8F810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Haga clic para modificar el estilo de texto del patrón</a:t>
            </a:r>
          </a:p>
          <a:p>
            <a:pPr>
              <a:buNone/>
            </a:pPr>
            <a:r>
              <a:t>Segundo nivel</a:t>
            </a:r>
          </a:p>
          <a:p>
            <a:pPr>
              <a:buNone/>
            </a:pPr>
            <a:r>
              <a:t>Tercer nivel</a:t>
            </a:r>
          </a:p>
          <a:p>
            <a:pPr>
              <a:buNone/>
            </a:pPr>
            <a:r>
              <a:t>Cuarto nivel</a:t>
            </a:r>
          </a:p>
          <a:p>
            <a:pPr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930640-F734-4D57-82F3-F0A8E462895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6/08/2026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8CED6E-8837-4DDB-809F-3B19ECA788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C36C71-2685-45BB-9AEF-FD2D20925A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C961E64-8BEE-45CD-9B3C-3A6B408A6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F0C9A4E-7587-40FF-923B-DD8E426D5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Haga clic para modificar el estilo de texto del patrón</a:t>
            </a:r>
          </a:p>
          <a:p>
            <a:pPr>
              <a:buNone/>
            </a:pPr>
            <a:r>
              <a:t>Segundo nivel</a:t>
            </a:r>
          </a:p>
          <a:p>
            <a:pPr>
              <a:buNone/>
            </a:pPr>
            <a:r>
              <a:t>Tercer nivel</a:t>
            </a:r>
          </a:p>
          <a:p>
            <a:pPr>
              <a:buNone/>
            </a:pPr>
            <a:r>
              <a:t>Cuarto nivel</a:t>
            </a:r>
          </a:p>
          <a:p>
            <a:pPr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FDBC87-BB6D-428A-8D31-085E034D143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6/08/2026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F356D6-6B4A-4F4C-8CFC-CCC5EF93241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026B37-1073-4471-ACA7-DDC602A259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99EB6C-330A-4556-AC8C-E5A501B46336}" type="datetimeFigureOut">
              <a:t>6/08/2026</a:t>
            </a:fld>
            <a:endParaRPr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D455957-1418-453C-A644-6E131A65201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65D3F7-D5DC-4B8D-9FAD-2529477BA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552971-B6AF-4DD7-9FC4-C8CD13AAC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Haga clic para modificar el estilo de texto del patrón</a:t>
            </a:r>
          </a:p>
          <a:p>
            <a:pPr>
              <a:buNone/>
            </a:pPr>
            <a:r>
              <a:t>Segundo nivel</a:t>
            </a:r>
          </a:p>
          <a:p>
            <a:pPr>
              <a:buNone/>
            </a:pPr>
            <a:r>
              <a:t>Tercer nivel</a:t>
            </a:r>
          </a:p>
          <a:p>
            <a:pPr>
              <a:buNone/>
            </a:pPr>
            <a:r>
              <a:t>Cuarto nivel</a:t>
            </a:r>
          </a:p>
          <a:p>
            <a:pPr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9C3F12-2AC3-40C8-BCCF-BB4D5B6ABB0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t>6/08/2026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F5CD1C-C5CE-4C07-8393-BF4F89D8E5F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8EF867-A334-4557-8958-CA7E5E5A5AC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t>‹Nº›</a:t>
            </a:fld>
            <a:endParaRPr/>
          </a:p>
        </p:txBody>
      </p:sp>
      <p:pic>
        <p:nvPicPr>
          <p:cNvPr id="13" name="Imagen 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4E4CE2-7F98-49D1-826C-098DE3E32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5B43FB-CF6E-4A7E-809E-56835C99F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Haga clic para modificar el estilo de texto del patrón</a:t>
            </a:r>
          </a:p>
          <a:p>
            <a:pPr>
              <a:buNone/>
            </a:pPr>
            <a:r>
              <a:t>Segundo nivel</a:t>
            </a:r>
          </a:p>
          <a:p>
            <a:pPr>
              <a:buNone/>
            </a:pPr>
            <a:r>
              <a:t>Tercer nivel</a:t>
            </a:r>
          </a:p>
          <a:p>
            <a:pPr>
              <a:buNone/>
            </a:pPr>
            <a:r>
              <a:t>Cuarto nivel</a:t>
            </a:r>
          </a:p>
          <a:p>
            <a:pPr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44ECFC-69C2-4683-ADD4-10DFA65999F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t>6/08/2026</a:t>
            </a:fld>
            <a:endParaRPr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61F8D7-B10A-45C8-AB28-59E242EB445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E09EB0-1FEA-46B3-94B1-F27D4B85407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t>‹Nº›</a:t>
            </a:fld>
            <a:endParaRPr/>
          </a:p>
        </p:txBody>
      </p:sp>
      <p:pic>
        <p:nvPicPr>
          <p:cNvPr id="13" name="Imagen 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hyperlink" Target="mailto:sebastianmontoya8118@correo.itm.edu.co" TargetMode="External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5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7" name="Google Shape;42;p1">
            <a:extLst>
              <a:ext uri="{FF2B5EF4-FFF2-40B4-BE49-F238E27FC236}">
                <a16:creationId xmlns:a16="http://schemas.microsoft.com/office/drawing/2014/main" id="{2B45B46A-91AE-80AB-4C52-6F9A4C7FEC60}"/>
              </a:ext>
            </a:extLst>
          </p:cNvPr>
          <p:cNvSpPr>
            <a:spLocks noGrp="1"/>
          </p:cNvSpPr>
          <p:nvPr/>
        </p:nvSpPr>
        <p:spPr>
          <a:xfrm>
            <a:off x="1210255" y="940280"/>
            <a:ext cx="9373925" cy="5365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>
                <a:solidFill>
                  <a:schemeClr val="lt1"/>
                </a:solidFill>
              </a:rPr>
              <a:t>Matemáticas para la informática</a:t>
            </a: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400">
              <a:solidFill>
                <a:schemeClr val="lt1"/>
              </a:solidFill>
            </a:endParaRP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>
                <a:solidFill>
                  <a:schemeClr val="lt1"/>
                </a:solidFill>
              </a:rPr>
              <a:t>Sesión 1</a:t>
            </a: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400">
              <a:solidFill>
                <a:schemeClr val="lt1"/>
              </a:solidFill>
            </a:endParaRPr>
          </a:p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chemeClr val="lt1"/>
                </a:solidFill>
              </a:rPr>
              <a:t>Sebastian Montoya Villada</a:t>
            </a:r>
          </a:p>
        </p:txBody>
      </p:sp>
      <p:sp>
        <p:nvSpPr>
          <p:cNvPr id="2" name="Google Shape;91;p13">
            <a:extLst>
              <a:ext uri="{FF2B5EF4-FFF2-40B4-BE49-F238E27FC236}">
                <a16:creationId xmlns:a16="http://schemas.microsoft.com/office/drawing/2014/main" id="{E5694699-D30B-D972-B711-A106DC7606D9}"/>
              </a:ext>
            </a:extLst>
          </p:cNvPr>
          <p:cNvSpPr>
            <a:spLocks noGrp="1"/>
          </p:cNvSpPr>
          <p:nvPr/>
        </p:nvSpPr>
        <p:spPr>
          <a:xfrm>
            <a:off x="1013534" y="5675346"/>
            <a:ext cx="1016493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u="none" cap="none">
                <a:solidFill>
                  <a:schemeClr val="bg1"/>
                </a:solidFill>
                <a:latin typeface="Lato"/>
                <a:ea typeface="Lato"/>
                <a:cs typeface="Lato"/>
              </a:rPr>
              <a:t>Desarrollo de Software • 2026-II</a:t>
            </a:r>
          </a:p>
        </p:txBody>
      </p:sp>
    </p:spTree>
    <p:extLst>
      <p:ext uri="{BB962C8B-B14F-4D97-AF65-F5344CB8AC3E}">
        <p14:creationId xmlns:p14="http://schemas.microsoft.com/office/powerpoint/2010/main" val="197298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2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2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27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28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29" name="Imagen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30" name="Imagen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31" name="Imagen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32" name="Imagen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3" name="Imagen 2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923E7FD-A9EC-9B82-F517-6A05492B2425}"/>
              </a:ext>
            </a:extLst>
          </p:cNvPr>
          <p:cNvSpPr>
            <a:spLocks noGrp="1"/>
          </p:cNvSpPr>
          <p:nvPr/>
        </p:nvSpPr>
        <p:spPr>
          <a:xfrm>
            <a:off x="795741" y="1915098"/>
            <a:ext cx="143981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latin typeface="Times New Roman"/>
                <a:ea typeface="Times New Roman"/>
                <a:cs typeface="Times New Roman"/>
              </a:rPr>
              <a:t>Contenido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941461A-9F52-B608-49EA-55D4E89FB01E}"/>
              </a:ext>
            </a:extLst>
          </p:cNvPr>
          <p:cNvSpPr>
            <a:spLocks noGrp="1"/>
          </p:cNvSpPr>
          <p:nvPr/>
        </p:nvSpPr>
        <p:spPr>
          <a:xfrm>
            <a:off x="730911" y="2718275"/>
            <a:ext cx="11461089" cy="16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Char char="•"/>
            </a:pPr>
            <a:r>
              <a:rPr sz="2400" dirty="0" err="1">
                <a:latin typeface="Times New Roman"/>
                <a:ea typeface="Times New Roman"/>
                <a:cs typeface="Times New Roman"/>
              </a:rPr>
              <a:t>Presentar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 el 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curso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, sus 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objetivos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 y 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metodología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.</a:t>
            </a:r>
          </a:p>
          <a:p>
            <a:pPr marL="457200" indent="-457200">
              <a:lnSpc>
                <a:spcPct val="150000"/>
              </a:lnSpc>
              <a:buChar char="•"/>
            </a:pPr>
            <a:r>
              <a:rPr sz="2400" dirty="0" err="1">
                <a:latin typeface="Times New Roman"/>
                <a:ea typeface="Times New Roman"/>
                <a:cs typeface="Times New Roman"/>
              </a:rPr>
              <a:t>Explicar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 la 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importancia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 de las 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matemáticas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 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en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 la 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informática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.</a:t>
            </a:r>
          </a:p>
          <a:p>
            <a:pPr marL="457200" indent="-457200">
              <a:lnSpc>
                <a:spcPct val="150000"/>
              </a:lnSpc>
              <a:buChar char="•"/>
            </a:pPr>
            <a:r>
              <a:rPr sz="2400" dirty="0" err="1">
                <a:latin typeface="Times New Roman"/>
                <a:ea typeface="Times New Roman"/>
                <a:cs typeface="Times New Roman"/>
              </a:rPr>
              <a:t>Conocer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 a 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los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 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estudiantes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 y sus 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expectativas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4757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97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309812"/>
            <a:ext cx="5095875" cy="2571750"/>
          </a:xfrm>
          <a:prstGeom prst="rect">
            <a:avLst/>
          </a:prstGeom>
          <a:ln>
            <a:noFill/>
          </a:ln>
        </p:spPr>
      </p:pic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DCF8112E-CF5C-45E5-85F6-B02AF7B446E8}"/>
              </a:ext>
            </a:extLst>
          </p:cNvPr>
          <p:cNvSpPr>
            <a:spLocks noGrp="1"/>
          </p:cNvSpPr>
          <p:nvPr/>
        </p:nvSpPr>
        <p:spPr>
          <a:xfrm>
            <a:off x="762000" y="2309812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4" b="1" i="0" u="none" cap="none">
                <a:solidFill>
                  <a:srgbClr val="0F172A"/>
                </a:solidFill>
                <a:latin typeface="Poppins"/>
                <a:ea typeface="Poppins"/>
                <a:cs typeface="Poppins"/>
              </a:rPr>
              <a:t>Sebastian Montoya Villada</a:t>
            </a:r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17158444-46E6-4866-85E2-C79D1375C8E7}"/>
              </a:ext>
            </a:extLst>
          </p:cNvPr>
          <p:cNvSpPr>
            <a:spLocks noGrp="1"/>
          </p:cNvSpPr>
          <p:nvPr/>
        </p:nvSpPr>
        <p:spPr>
          <a:xfrm>
            <a:off x="762000" y="2586037"/>
            <a:ext cx="50958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 dirty="0" err="1">
                <a:solidFill>
                  <a:srgbClr val="64748B"/>
                </a:solidFill>
                <a:latin typeface="Lato"/>
                <a:ea typeface="Lato"/>
                <a:cs typeface="Lato"/>
              </a:rPr>
              <a:t>Docente</a:t>
            </a:r>
            <a:r>
              <a:rPr sz="1500" b="0" i="0" u="none" cap="none" dirty="0">
                <a:solidFill>
                  <a:srgbClr val="64748B"/>
                </a:solidFill>
                <a:latin typeface="Lato"/>
                <a:ea typeface="Lato"/>
                <a:cs typeface="Lato"/>
              </a:rPr>
              <a:t> del Departamento de Sistemas</a:t>
            </a:r>
          </a:p>
        </p:txBody>
      </p:sp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406DD833-7F05-464E-B6F9-14917096BB57}"/>
              </a:ext>
            </a:extLst>
          </p:cNvPr>
          <p:cNvSpPr>
            <a:spLocks noGrp="1"/>
          </p:cNvSpPr>
          <p:nvPr/>
        </p:nvSpPr>
        <p:spPr>
          <a:xfrm>
            <a:off x="6629400" y="2605087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005088"/>
                </a:solidFill>
                <a:latin typeface="Poppins"/>
                <a:ea typeface="Poppins"/>
                <a:cs typeface="Poppins"/>
              </a:rPr>
              <a:t>Contacto Oficial</a:t>
            </a:r>
          </a:p>
        </p:txBody>
      </p:sp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0FCC5016-36F4-4DE6-B0D7-87979366738A}"/>
              </a:ext>
            </a:extLst>
          </p:cNvPr>
          <p:cNvSpPr>
            <a:spLocks noGrp="1"/>
          </p:cNvSpPr>
          <p:nvPr/>
        </p:nvSpPr>
        <p:spPr>
          <a:xfrm>
            <a:off x="6742032" y="3043237"/>
            <a:ext cx="45053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  <a:hlinkClick r:id="rId4"/>
              </a:rPr>
              <a:t>sebastianmontoya8118@correo.itm.edu.co</a:t>
            </a: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 </a:t>
            </a:r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5A470635-6FA9-46C9-9E8E-CAF3D423C0B9}"/>
              </a:ext>
            </a:extLst>
          </p:cNvPr>
          <p:cNvSpPr>
            <a:spLocks noGrp="1"/>
          </p:cNvSpPr>
          <p:nvPr/>
        </p:nvSpPr>
        <p:spPr>
          <a:xfrm>
            <a:off x="6715125" y="3471862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 Teams: Sebastian Montoya Villada</a:t>
            </a:r>
          </a:p>
        </p:txBody>
      </p:sp>
      <p:sp>
        <p:nvSpPr>
          <p:cNvPr id="103" name="Google Shape;103;p14">
            <a:extLst>
              <a:ext uri="{FF2B5EF4-FFF2-40B4-BE49-F238E27FC236}">
                <a16:creationId xmlns:a16="http://schemas.microsoft.com/office/drawing/2014/main" id="{471AC75A-DCFE-4A42-9F76-4475A4F465E9}"/>
              </a:ext>
            </a:extLst>
          </p:cNvPr>
          <p:cNvSpPr>
            <a:spLocks noGrp="1"/>
          </p:cNvSpPr>
          <p:nvPr/>
        </p:nvSpPr>
        <p:spPr>
          <a:xfrm>
            <a:off x="6629400" y="3986212"/>
            <a:ext cx="45053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64748B"/>
                </a:solidFill>
                <a:latin typeface="Lato"/>
                <a:ea typeface="Lato"/>
                <a:cs typeface="Lato"/>
              </a:rPr>
              <a:t>* El correo institucional es el único medio formal para comunicaciones administrativas.</a:t>
            </a:r>
          </a:p>
        </p:txBody>
      </p:sp>
      <p:sp>
        <p:nvSpPr>
          <p:cNvPr id="104" name="Google Shape;104;p14">
            <a:extLst>
              <a:ext uri="{FF2B5EF4-FFF2-40B4-BE49-F238E27FC236}">
                <a16:creationId xmlns:a16="http://schemas.microsoft.com/office/drawing/2014/main" id="{E5FA206B-DEFF-4C1D-A649-8C664FE95743}"/>
              </a:ext>
            </a:extLst>
          </p:cNvPr>
          <p:cNvSpPr>
            <a:spLocks noGrp="1"/>
          </p:cNvSpPr>
          <p:nvPr/>
        </p:nvSpPr>
        <p:spPr>
          <a:xfrm>
            <a:off x="1571625" y="3157537"/>
            <a:ext cx="42862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Ingeniero de Telecomunicaciones</a:t>
            </a:r>
          </a:p>
        </p:txBody>
      </p:sp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2B825FFA-6B38-4ECA-93F9-D92FCAE52FD1}"/>
              </a:ext>
            </a:extLst>
          </p:cNvPr>
          <p:cNvSpPr>
            <a:spLocks noGrp="1"/>
          </p:cNvSpPr>
          <p:nvPr/>
        </p:nvSpPr>
        <p:spPr>
          <a:xfrm>
            <a:off x="1571625" y="3586162"/>
            <a:ext cx="4286250" cy="308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Magíster en Automatización y Control Industrial</a:t>
            </a:r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F262E03B-CB55-4827-AF51-E3205787D642}"/>
              </a:ext>
            </a:extLst>
          </p:cNvPr>
          <p:cNvSpPr>
            <a:spLocks noGrp="1"/>
          </p:cNvSpPr>
          <p:nvPr/>
        </p:nvSpPr>
        <p:spPr>
          <a:xfrm>
            <a:off x="1571625" y="4014787"/>
            <a:ext cx="4286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Grupo de investigación: Automática, electrónica y ciencias computaciones.</a:t>
            </a:r>
          </a:p>
        </p:txBody>
      </p:sp>
      <p:pic>
        <p:nvPicPr>
          <p:cNvPr id="130" name="Google Shape;107;p14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29400" y="3138487"/>
            <a:ext cx="190500" cy="190500"/>
          </a:xfrm>
          <a:prstGeom prst="rect">
            <a:avLst/>
          </a:prstGeom>
          <a:ln>
            <a:noFill/>
          </a:ln>
        </p:spPr>
      </p:pic>
      <p:pic>
        <p:nvPicPr>
          <p:cNvPr id="131" name="Google Shape;108;p14"/>
          <p:cNvPicPr>
            <a:picLocks noChangeAspect="1"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3567112"/>
            <a:ext cx="171450" cy="190500"/>
          </a:xfrm>
          <a:prstGeom prst="rect">
            <a:avLst/>
          </a:prstGeom>
          <a:ln>
            <a:noFill/>
          </a:ln>
        </p:spPr>
      </p:pic>
      <p:pic>
        <p:nvPicPr>
          <p:cNvPr id="132" name="Google Shape;109;p14"/>
          <p:cNvPicPr>
            <a:picLocks noChangeAspect="1"/>
          </p:cNvPicPr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43000" y="3190875"/>
            <a:ext cx="266700" cy="219075"/>
          </a:xfrm>
          <a:prstGeom prst="rect">
            <a:avLst/>
          </a:prstGeom>
          <a:ln>
            <a:noFill/>
          </a:ln>
        </p:spPr>
      </p:pic>
      <p:pic>
        <p:nvPicPr>
          <p:cNvPr id="133" name="Google Shape;110;p14"/>
          <p:cNvPicPr>
            <a:picLocks noChangeAspect="1"/>
          </p:cNvPicPr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43000" y="3619500"/>
            <a:ext cx="161925" cy="219075"/>
          </a:xfrm>
          <a:prstGeom prst="rect">
            <a:avLst/>
          </a:prstGeom>
          <a:ln>
            <a:noFill/>
          </a:ln>
        </p:spPr>
      </p:pic>
      <p:pic>
        <p:nvPicPr>
          <p:cNvPr id="134" name="Google Shape;111;p14"/>
          <p:cNvPicPr>
            <a:picLocks noChangeAspect="1"/>
          </p:cNvPicPr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43000" y="4048125"/>
            <a:ext cx="209550" cy="219075"/>
          </a:xfrm>
          <a:prstGeom prst="rect">
            <a:avLst/>
          </a:prstGeom>
          <a:ln>
            <a:noFill/>
          </a:ln>
        </p:spPr>
      </p:pic>
      <p:sp>
        <p:nvSpPr>
          <p:cNvPr id="112" name="Google Shape;112;p14">
            <a:extLst>
              <a:ext uri="{FF2B5EF4-FFF2-40B4-BE49-F238E27FC236}">
                <a16:creationId xmlns:a16="http://schemas.microsoft.com/office/drawing/2014/main" id="{3F9E1D6F-3BB2-4FE2-876A-D13B6957D2F0}"/>
              </a:ext>
            </a:extLst>
          </p:cNvPr>
          <p:cNvSpPr>
            <a:spLocks noGrp="1"/>
          </p:cNvSpPr>
          <p:nvPr/>
        </p:nvSpPr>
        <p:spPr>
          <a:xfrm>
            <a:off x="762000" y="1023937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005088"/>
                </a:solidFill>
                <a:latin typeface="Poppins"/>
                <a:ea typeface="Poppins"/>
                <a:cs typeface="Poppins"/>
              </a:rPr>
              <a:t>Presentación del Docente</a:t>
            </a:r>
          </a:p>
        </p:txBody>
      </p:sp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558D4AC8-D85E-4E5A-9955-CABE31BD5039}"/>
              </a:ext>
            </a:extLst>
          </p:cNvPr>
          <p:cNvSpPr>
            <a:spLocks noGrp="1"/>
          </p:cNvSpPr>
          <p:nvPr/>
        </p:nvSpPr>
        <p:spPr>
          <a:xfrm>
            <a:off x="762000" y="1738312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288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19;p1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709862"/>
            <a:ext cx="10668000" cy="685800"/>
          </a:xfrm>
          <a:prstGeom prst="rect">
            <a:avLst/>
          </a:prstGeom>
          <a:ln>
            <a:noFill/>
          </a:ln>
        </p:spPr>
      </p:pic>
      <p:pic>
        <p:nvPicPr>
          <p:cNvPr id="129" name="Google Shape;120;p15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586162"/>
            <a:ext cx="10668000" cy="685800"/>
          </a:xfrm>
          <a:prstGeom prst="rect">
            <a:avLst/>
          </a:prstGeom>
          <a:ln>
            <a:noFill/>
          </a:ln>
        </p:spPr>
      </p:pic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9CB33B98-BB04-497F-A54E-918CB673BEE1}"/>
              </a:ext>
            </a:extLst>
          </p:cNvPr>
          <p:cNvSpPr>
            <a:spLocks noGrp="1"/>
          </p:cNvSpPr>
          <p:nvPr/>
        </p:nvSpPr>
        <p:spPr>
          <a:xfrm>
            <a:off x="762000" y="2138362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Antes de </a:t>
            </a:r>
            <a:r>
              <a:rPr sz="1500" b="0" i="0" u="none" cap="none" dirty="0" err="1">
                <a:solidFill>
                  <a:srgbClr val="334155"/>
                </a:solidFill>
                <a:latin typeface="Lato"/>
                <a:ea typeface="Lato"/>
                <a:cs typeface="Lato"/>
              </a:rPr>
              <a:t>iniciar</a:t>
            </a:r>
            <a:r>
              <a:rPr sz="1500" b="0" i="0" u="none" cap="none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, me </a:t>
            </a:r>
            <a:r>
              <a:rPr sz="1500" b="0" i="0" u="none" cap="none" dirty="0" err="1">
                <a:solidFill>
                  <a:srgbClr val="334155"/>
                </a:solidFill>
                <a:latin typeface="Lato"/>
                <a:ea typeface="Lato"/>
                <a:cs typeface="Lato"/>
              </a:rPr>
              <a:t>gustaría</a:t>
            </a:r>
            <a:r>
              <a:rPr sz="1500" b="0" i="0" u="none" cap="none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 </a:t>
            </a:r>
            <a:r>
              <a:rPr sz="1500" b="0" i="0" u="none" cap="none" dirty="0" err="1">
                <a:solidFill>
                  <a:srgbClr val="334155"/>
                </a:solidFill>
                <a:latin typeface="Lato"/>
                <a:ea typeface="Lato"/>
                <a:cs typeface="Lato"/>
              </a:rPr>
              <a:t>conocer</a:t>
            </a:r>
            <a:r>
              <a:rPr sz="1500" b="0" i="0" u="none" cap="none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 </a:t>
            </a:r>
            <a:r>
              <a:rPr sz="1500" b="0" i="0" u="none" cap="none" dirty="0" err="1">
                <a:solidFill>
                  <a:srgbClr val="334155"/>
                </a:solidFill>
                <a:latin typeface="Lato"/>
                <a:ea typeface="Lato"/>
                <a:cs typeface="Lato"/>
              </a:rPr>
              <a:t>su</a:t>
            </a:r>
            <a:r>
              <a:rPr sz="1500" b="0" i="0" u="none" cap="none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 </a:t>
            </a:r>
            <a:r>
              <a:rPr sz="1500" b="0" i="0" u="none" cap="none" dirty="0" err="1">
                <a:solidFill>
                  <a:srgbClr val="334155"/>
                </a:solidFill>
                <a:latin typeface="Lato"/>
                <a:ea typeface="Lato"/>
                <a:cs typeface="Lato"/>
              </a:rPr>
              <a:t>visión</a:t>
            </a:r>
            <a:r>
              <a:rPr sz="1500" b="0" i="0" u="none" cap="none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 </a:t>
            </a:r>
            <a:r>
              <a:rPr sz="1500" b="0" i="0" u="none" cap="none" dirty="0" err="1">
                <a:solidFill>
                  <a:srgbClr val="334155"/>
                </a:solidFill>
                <a:latin typeface="Lato"/>
                <a:ea typeface="Lato"/>
                <a:cs typeface="Lato"/>
              </a:rPr>
              <a:t>sobre</a:t>
            </a:r>
            <a:r>
              <a:rPr sz="1500" b="0" i="0" u="none" cap="none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 </a:t>
            </a:r>
            <a:r>
              <a:rPr sz="1500" b="0" i="0" u="none" cap="none" dirty="0" err="1">
                <a:solidFill>
                  <a:srgbClr val="334155"/>
                </a:solidFill>
                <a:latin typeface="Lato"/>
                <a:ea typeface="Lato"/>
                <a:cs typeface="Lato"/>
              </a:rPr>
              <a:t>esta</a:t>
            </a:r>
            <a:r>
              <a:rPr sz="1500" b="0" i="0" u="none" cap="none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 </a:t>
            </a:r>
            <a:r>
              <a:rPr sz="1500" b="0" i="0" u="none" cap="none" dirty="0" err="1">
                <a:solidFill>
                  <a:srgbClr val="334155"/>
                </a:solidFill>
                <a:latin typeface="Lato"/>
                <a:ea typeface="Lato"/>
                <a:cs typeface="Lato"/>
              </a:rPr>
              <a:t>asignatura</a:t>
            </a:r>
            <a:r>
              <a:rPr sz="1500" b="0" i="0" u="none" cap="none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:</a:t>
            </a:r>
          </a:p>
        </p:txBody>
      </p:sp>
      <p:sp>
        <p:nvSpPr>
          <p:cNvPr id="124" name="Google Shape;124;p15">
            <a:extLst>
              <a:ext uri="{FF2B5EF4-FFF2-40B4-BE49-F238E27FC236}">
                <a16:creationId xmlns:a16="http://schemas.microsoft.com/office/drawing/2014/main" id="{2FA04065-7100-4288-AF0E-FCD7BF2F36B3}"/>
              </a:ext>
            </a:extLst>
          </p:cNvPr>
          <p:cNvSpPr>
            <a:spLocks noGrp="1"/>
          </p:cNvSpPr>
          <p:nvPr/>
        </p:nvSpPr>
        <p:spPr>
          <a:xfrm>
            <a:off x="762000" y="1109663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005088"/>
                </a:solidFill>
                <a:latin typeface="Poppins"/>
                <a:ea typeface="Poppins"/>
                <a:cs typeface="Poppins"/>
              </a:rPr>
              <a:t>Conozcámonos: ¿Quiénes somos?</a:t>
            </a:r>
          </a:p>
        </p:txBody>
      </p:sp>
      <p:sp>
        <p:nvSpPr>
          <p:cNvPr id="125" name="Google Shape;125;p15">
            <a:extLst>
              <a:ext uri="{FF2B5EF4-FFF2-40B4-BE49-F238E27FC236}">
                <a16:creationId xmlns:a16="http://schemas.microsoft.com/office/drawing/2014/main" id="{76EA8780-BB1F-4F6C-9C6F-B79618FBE677}"/>
              </a:ext>
            </a:extLst>
          </p:cNvPr>
          <p:cNvSpPr>
            <a:spLocks noGrp="1"/>
          </p:cNvSpPr>
          <p:nvPr/>
        </p:nvSpPr>
        <p:spPr>
          <a:xfrm>
            <a:off x="762000" y="1824038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0457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1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1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17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18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19" name="Imagen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20" name="Imagen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21" name="Imagen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22" name="Imagen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23" name="Imagen 2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72F65DD-F24D-4C3A-EC44-A6C5944CB9D6}"/>
              </a:ext>
            </a:extLst>
          </p:cNvPr>
          <p:cNvSpPr>
            <a:spLocks noGrp="1"/>
          </p:cNvSpPr>
          <p:nvPr/>
        </p:nvSpPr>
        <p:spPr>
          <a:xfrm>
            <a:off x="8173374" y="-23022"/>
            <a:ext cx="6350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Times New Roman"/>
                <a:ea typeface="Times New Roman"/>
                <a:cs typeface="Times New Roman"/>
              </a:rPr>
              <a:t>Identificación de la Asignatura</a:t>
            </a:r>
          </a:p>
        </p:txBody>
      </p:sp>
      <p:graphicFrame>
        <p:nvGraphicFramePr>
          <p:cNvPr id="25" name="Google Shape;97;p14"/>
          <p:cNvGraphicFramePr/>
          <p:nvPr/>
        </p:nvGraphicFramePr>
        <p:xfrm>
          <a:off x="762000" y="2024061"/>
          <a:ext cx="10668000" cy="3371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2000" b="1" u="none" cap="none">
                          <a:solidFill>
                            <a:srgbClr val="334155"/>
                          </a:solidFill>
                        </a:rPr>
                        <a:t>Programa Académico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2000" b="0" u="none" cap="none">
                          <a:solidFill>
                            <a:srgbClr val="334155"/>
                          </a:solidFill>
                        </a:rPr>
                        <a:t>Tecnología en Desarrollo de Software</a:t>
                      </a: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2000" b="1" u="none" cap="none">
                          <a:solidFill>
                            <a:srgbClr val="334155"/>
                          </a:solidFill>
                        </a:rPr>
                        <a:t>Código de Asignatura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2000" b="0" u="none" cap="none">
                          <a:solidFill>
                            <a:srgbClr val="334155"/>
                          </a:solidFill>
                        </a:rPr>
                        <a:t>580304002</a:t>
                      </a: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2000" b="1" u="none" cap="none">
                          <a:solidFill>
                            <a:srgbClr val="334155"/>
                          </a:solidFill>
                        </a:rPr>
                        <a:t>Grupo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2000" b="0" u="none" cap="none">
                          <a:solidFill>
                            <a:srgbClr val="334155"/>
                          </a:solidFill>
                        </a:rPr>
                        <a:t>19</a:t>
                      </a: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2000" b="1" u="none" cap="none">
                          <a:solidFill>
                            <a:srgbClr val="334155"/>
                          </a:solidFill>
                        </a:rPr>
                        <a:t>Fecha de Inicio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2000" b="0" u="none" cap="none">
                          <a:solidFill>
                            <a:srgbClr val="334155"/>
                          </a:solidFill>
                        </a:rPr>
                        <a:t>3 de agosto de 2026</a:t>
                      </a: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000" b="1" u="none" cap="none">
                          <a:solidFill>
                            <a:srgbClr val="334155"/>
                          </a:solidFill>
                        </a:rPr>
                        <a:t>Fecha de finalización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2000" b="0" u="none" cap="none">
                          <a:solidFill>
                            <a:srgbClr val="334155"/>
                          </a:solidFill>
                        </a:rPr>
                        <a:t>30 de noviembre de 2026</a:t>
                      </a: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2000" b="1" u="none" cap="none">
                          <a:solidFill>
                            <a:srgbClr val="334155"/>
                          </a:solidFill>
                        </a:rPr>
                        <a:t>Horario</a:t>
                      </a: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2000" b="0" u="none" cap="none">
                          <a:solidFill>
                            <a:srgbClr val="334155"/>
                          </a:solidFill>
                        </a:rPr>
                        <a:t>Jueves y Viernes 10:00 - 11:59 (N-308)</a:t>
                      </a: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9251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>
            <a:extLst>
              <a:ext uri="{FF2B5EF4-FFF2-40B4-BE49-F238E27FC236}">
                <a16:creationId xmlns:a16="http://schemas.microsoft.com/office/drawing/2014/main" id="{3B508B4D-4FF8-4BA7-AD83-3BD61D08B8D5}"/>
              </a:ext>
            </a:extLst>
          </p:cNvPr>
          <p:cNvSpPr>
            <a:spLocks noGrp="1"/>
          </p:cNvSpPr>
          <p:nvPr/>
        </p:nvSpPr>
        <p:spPr>
          <a:xfrm>
            <a:off x="870844" y="2268661"/>
            <a:ext cx="1052131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0F172A"/>
                </a:solidFill>
                <a:latin typeface="Poppins"/>
                <a:ea typeface="Poppins"/>
                <a:cs typeface="Poppins"/>
              </a:rPr>
              <a:t>Competencia General</a:t>
            </a:r>
          </a:p>
        </p:txBody>
      </p:sp>
      <p:sp>
        <p:nvSpPr>
          <p:cNvPr id="117" name="Google Shape;117;p15">
            <a:extLst>
              <a:ext uri="{FF2B5EF4-FFF2-40B4-BE49-F238E27FC236}">
                <a16:creationId xmlns:a16="http://schemas.microsoft.com/office/drawing/2014/main" id="{CDEEB7D4-64FE-4494-B47A-440E3964DEF3}"/>
              </a:ext>
            </a:extLst>
          </p:cNvPr>
          <p:cNvSpPr>
            <a:spLocks noGrp="1"/>
          </p:cNvSpPr>
          <p:nvPr/>
        </p:nvSpPr>
        <p:spPr>
          <a:xfrm>
            <a:off x="870844" y="2544886"/>
            <a:ext cx="10020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Analiza </a:t>
            </a:r>
            <a:r>
              <a:rPr sz="1800" b="0" i="0" u="none" cap="none" dirty="0" err="1">
                <a:solidFill>
                  <a:srgbClr val="334155"/>
                </a:solidFill>
                <a:latin typeface="Lato"/>
                <a:ea typeface="Lato"/>
                <a:cs typeface="Lato"/>
              </a:rPr>
              <a:t>conceptos</a:t>
            </a:r>
            <a:r>
              <a:rPr sz="1800" b="0" i="0" u="none" cap="none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 y </a:t>
            </a:r>
            <a:r>
              <a:rPr sz="1800" b="0" i="0" u="none" cap="none" dirty="0" err="1">
                <a:solidFill>
                  <a:srgbClr val="334155"/>
                </a:solidFill>
                <a:latin typeface="Lato"/>
                <a:ea typeface="Lato"/>
                <a:cs typeface="Lato"/>
              </a:rPr>
              <a:t>estructuras</a:t>
            </a:r>
            <a:r>
              <a:rPr sz="1800" b="0" i="0" u="none" cap="none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u="none" cap="none" dirty="0" err="1">
                <a:solidFill>
                  <a:srgbClr val="334155"/>
                </a:solidFill>
                <a:latin typeface="Lato"/>
                <a:ea typeface="Lato"/>
                <a:cs typeface="Lato"/>
              </a:rPr>
              <a:t>discretas</a:t>
            </a:r>
            <a:r>
              <a:rPr sz="1800" b="0" i="0" u="none" cap="none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u="none" cap="none" dirty="0" err="1">
                <a:solidFill>
                  <a:srgbClr val="334155"/>
                </a:solidFill>
                <a:latin typeface="Lato"/>
                <a:ea typeface="Lato"/>
                <a:cs typeface="Lato"/>
              </a:rPr>
              <a:t>mediante</a:t>
            </a:r>
            <a:r>
              <a:rPr sz="1800" b="0" i="0" u="none" cap="none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 la </a:t>
            </a:r>
            <a:r>
              <a:rPr sz="1800" b="0" i="0" u="none" cap="none" dirty="0" err="1">
                <a:solidFill>
                  <a:srgbClr val="334155"/>
                </a:solidFill>
                <a:latin typeface="Lato"/>
                <a:ea typeface="Lato"/>
                <a:cs typeface="Lato"/>
              </a:rPr>
              <a:t>formalización</a:t>
            </a:r>
            <a:r>
              <a:rPr sz="1800" b="0" i="0" u="none" cap="none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, </a:t>
            </a:r>
            <a:r>
              <a:rPr sz="1800" b="0" i="0" u="none" cap="none" dirty="0" err="1">
                <a:solidFill>
                  <a:srgbClr val="334155"/>
                </a:solidFill>
                <a:latin typeface="Lato"/>
                <a:ea typeface="Lato"/>
                <a:cs typeface="Lato"/>
              </a:rPr>
              <a:t>representación</a:t>
            </a:r>
            <a:r>
              <a:rPr sz="1800" b="0" i="0" u="none" cap="none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 y </a:t>
            </a:r>
            <a:r>
              <a:rPr sz="1800" b="0" i="0" u="none" cap="none" dirty="0" err="1">
                <a:solidFill>
                  <a:srgbClr val="334155"/>
                </a:solidFill>
                <a:latin typeface="Lato"/>
                <a:ea typeface="Lato"/>
                <a:cs typeface="Lato"/>
              </a:rPr>
              <a:t>solución</a:t>
            </a:r>
            <a:r>
              <a:rPr sz="1800" b="0" i="0" u="none" cap="none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 de </a:t>
            </a:r>
            <a:r>
              <a:rPr sz="1800" b="0" i="0" u="none" cap="none" dirty="0" err="1">
                <a:solidFill>
                  <a:srgbClr val="334155"/>
                </a:solidFill>
                <a:latin typeface="Lato"/>
                <a:ea typeface="Lato"/>
                <a:cs typeface="Lato"/>
              </a:rPr>
              <a:t>problemas</a:t>
            </a:r>
            <a:r>
              <a:rPr sz="1800" b="0" i="0" u="none" cap="none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u="none" cap="none" dirty="0" err="1">
                <a:solidFill>
                  <a:srgbClr val="334155"/>
                </a:solidFill>
                <a:latin typeface="Lato"/>
                <a:ea typeface="Lato"/>
                <a:cs typeface="Lato"/>
              </a:rPr>
              <a:t>informáticos</a:t>
            </a:r>
            <a:r>
              <a:rPr sz="1800" b="0" i="0" u="none" cap="none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, para </a:t>
            </a:r>
            <a:r>
              <a:rPr sz="1800" b="0" i="0" u="none" cap="none" dirty="0" err="1">
                <a:solidFill>
                  <a:srgbClr val="334155"/>
                </a:solidFill>
                <a:latin typeface="Lato"/>
                <a:ea typeface="Lato"/>
                <a:cs typeface="Lato"/>
              </a:rPr>
              <a:t>fundamentar</a:t>
            </a:r>
            <a:r>
              <a:rPr sz="1800" b="0" i="0" u="none" cap="none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 el </a:t>
            </a:r>
            <a:r>
              <a:rPr sz="1800" b="0" i="0" u="none" cap="none" dirty="0" err="1">
                <a:solidFill>
                  <a:srgbClr val="334155"/>
                </a:solidFill>
                <a:latin typeface="Lato"/>
                <a:ea typeface="Lato"/>
                <a:cs typeface="Lato"/>
              </a:rPr>
              <a:t>diseño</a:t>
            </a:r>
            <a:r>
              <a:rPr sz="1800" b="0" i="0" u="none" cap="none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 y la </a:t>
            </a:r>
            <a:r>
              <a:rPr sz="1800" b="0" i="0" u="none" cap="none" dirty="0" err="1">
                <a:solidFill>
                  <a:srgbClr val="334155"/>
                </a:solidFill>
                <a:latin typeface="Lato"/>
                <a:ea typeface="Lato"/>
                <a:cs typeface="Lato"/>
              </a:rPr>
              <a:t>validación</a:t>
            </a:r>
            <a:r>
              <a:rPr sz="1800" b="0" i="0" u="none" cap="none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 de </a:t>
            </a:r>
            <a:r>
              <a:rPr sz="1800" b="0" i="0" u="none" cap="none" dirty="0" err="1">
                <a:solidFill>
                  <a:srgbClr val="334155"/>
                </a:solidFill>
                <a:latin typeface="Lato"/>
                <a:ea typeface="Lato"/>
                <a:cs typeface="Lato"/>
              </a:rPr>
              <a:t>algoritmos</a:t>
            </a:r>
            <a:r>
              <a:rPr sz="1800" b="0" i="0" u="none" cap="none" dirty="0">
                <a:solidFill>
                  <a:srgbClr val="334155"/>
                </a:solidFill>
                <a:latin typeface="Lato"/>
                <a:ea typeface="Lato"/>
                <a:cs typeface="Lato"/>
              </a:rPr>
              <a:t>.</a:t>
            </a:r>
          </a:p>
        </p:txBody>
      </p:sp>
      <p:sp>
        <p:nvSpPr>
          <p:cNvPr id="119" name="Google Shape;119;p15">
            <a:extLst>
              <a:ext uri="{FF2B5EF4-FFF2-40B4-BE49-F238E27FC236}">
                <a16:creationId xmlns:a16="http://schemas.microsoft.com/office/drawing/2014/main" id="{05AE697F-16F1-472D-BC58-9D1AF7161E43}"/>
              </a:ext>
            </a:extLst>
          </p:cNvPr>
          <p:cNvSpPr>
            <a:spLocks noGrp="1"/>
          </p:cNvSpPr>
          <p:nvPr/>
        </p:nvSpPr>
        <p:spPr>
          <a:xfrm>
            <a:off x="870844" y="4089138"/>
            <a:ext cx="280674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Pensamiento Formal:</a:t>
            </a: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 Capacidad de traducir problemas del lenguaje natural al lenguaje matemático riguroso.</a:t>
            </a:r>
          </a:p>
        </p:txBody>
      </p:sp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4758743D-F229-4500-BEF2-1198405FD471}"/>
              </a:ext>
            </a:extLst>
          </p:cNvPr>
          <p:cNvSpPr>
            <a:spLocks noGrp="1"/>
          </p:cNvSpPr>
          <p:nvPr/>
        </p:nvSpPr>
        <p:spPr>
          <a:xfrm>
            <a:off x="4506268" y="4089138"/>
            <a:ext cx="280674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Validación Algorítmica:</a:t>
            </a: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 Demostrar que un código o algoritmo es correcto mediante métodos inductivos.</a:t>
            </a: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E7C88768-96B4-46A5-92EF-40D2A838CF11}"/>
              </a:ext>
            </a:extLst>
          </p:cNvPr>
          <p:cNvSpPr>
            <a:spLocks noGrp="1"/>
          </p:cNvSpPr>
          <p:nvPr/>
        </p:nvSpPr>
        <p:spPr>
          <a:xfrm>
            <a:off x="8141547" y="4089138"/>
            <a:ext cx="2806749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Modelado Estructural:</a:t>
            </a: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 Organizar información compleja mediante conjuntos, relaciones y grafos.</a:t>
            </a:r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984FC210-1B91-4F31-82B6-11F384641DA5}"/>
              </a:ext>
            </a:extLst>
          </p:cNvPr>
          <p:cNvSpPr>
            <a:spLocks noGrp="1"/>
          </p:cNvSpPr>
          <p:nvPr/>
        </p:nvSpPr>
        <p:spPr>
          <a:xfrm>
            <a:off x="783907" y="1000124"/>
            <a:ext cx="1120140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cap="none">
                <a:solidFill>
                  <a:srgbClr val="005088"/>
                </a:solidFill>
                <a:latin typeface="Poppins"/>
                <a:ea typeface="Poppins"/>
                <a:cs typeface="Poppins"/>
              </a:rPr>
              <a:t>Competencias que lograrás</a:t>
            </a:r>
          </a:p>
        </p:txBody>
      </p:sp>
    </p:spTree>
    <p:extLst>
      <p:ext uri="{BB962C8B-B14F-4D97-AF65-F5344CB8AC3E}">
        <p14:creationId xmlns:p14="http://schemas.microsoft.com/office/powerpoint/2010/main" val="1313832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1;p1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105025"/>
            <a:ext cx="10668000" cy="2381250"/>
          </a:xfrm>
          <a:prstGeom prst="rect">
            <a:avLst/>
          </a:prstGeom>
          <a:ln>
            <a:noFill/>
          </a:ln>
        </p:spPr>
      </p:pic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519E7B30-D7E0-47CC-A855-3D0C5F9CFC1F}"/>
              </a:ext>
            </a:extLst>
          </p:cNvPr>
          <p:cNvSpPr>
            <a:spLocks noGrp="1"/>
          </p:cNvSpPr>
          <p:nvPr/>
        </p:nvSpPr>
        <p:spPr>
          <a:xfrm>
            <a:off x="762000" y="5381625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Este curso no busca que memoricen fórmulas, sino que aprendan a </a:t>
            </a:r>
            <a:r>
              <a:rPr sz="1500" b="1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pensar como ingenieros de software</a:t>
            </a: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.</a:t>
            </a:r>
          </a:p>
        </p:txBody>
      </p:sp>
      <p:sp>
        <p:nvSpPr>
          <p:cNvPr id="133" name="Google Shape;133;p16">
            <a:extLst>
              <a:ext uri="{FF2B5EF4-FFF2-40B4-BE49-F238E27FC236}">
                <a16:creationId xmlns:a16="http://schemas.microsoft.com/office/drawing/2014/main" id="{63106626-11CF-4A80-BB5C-9ECDEB4D721B}"/>
              </a:ext>
            </a:extLst>
          </p:cNvPr>
          <p:cNvSpPr>
            <a:spLocks noGrp="1"/>
          </p:cNvSpPr>
          <p:nvPr/>
        </p:nvSpPr>
        <p:spPr>
          <a:xfrm>
            <a:off x="1143000" y="2400300"/>
            <a:ext cx="9991725" cy="1920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cap="none">
                <a:solidFill>
                  <a:srgbClr val="0F172A"/>
                </a:solidFill>
                <a:latin typeface="Lato"/>
                <a:ea typeface="Lato"/>
                <a:cs typeface="Lato"/>
              </a:rPr>
              <a:t>proporcionar a los estudiantes herramientas matemáticas esenciales para la comprensión y desarrollo de soluciones en computación. Específicamente, se enfoca en las matemáticas discretas como un mecanismo para fortalecer el pensamiento lógico y abordar problemas de naturaleza discreta, fundamentales en la informática.</a:t>
            </a:r>
          </a:p>
        </p:txBody>
      </p:sp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C4E71F1C-E6FA-43CB-9382-B61062696D1C}"/>
              </a:ext>
            </a:extLst>
          </p:cNvPr>
          <p:cNvSpPr>
            <a:spLocks noGrp="1"/>
          </p:cNvSpPr>
          <p:nvPr/>
        </p:nvSpPr>
        <p:spPr>
          <a:xfrm>
            <a:off x="762000" y="104775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005088"/>
                </a:solidFill>
                <a:latin typeface="Poppins"/>
                <a:ea typeface="Poppins"/>
                <a:cs typeface="Poppins"/>
              </a:rPr>
              <a:t>Objetivo del Curso</a:t>
            </a:r>
          </a:p>
        </p:txBody>
      </p:sp>
      <p:sp>
        <p:nvSpPr>
          <p:cNvPr id="135" name="Google Shape;135;p16">
            <a:extLst>
              <a:ext uri="{FF2B5EF4-FFF2-40B4-BE49-F238E27FC236}">
                <a16:creationId xmlns:a16="http://schemas.microsoft.com/office/drawing/2014/main" id="{3CF6D26C-F1CE-42EE-A893-D233B0986AB6}"/>
              </a:ext>
            </a:extLst>
          </p:cNvPr>
          <p:cNvSpPr>
            <a:spLocks noGrp="1"/>
          </p:cNvSpPr>
          <p:nvPr/>
        </p:nvSpPr>
        <p:spPr>
          <a:xfrm>
            <a:off x="762000" y="176212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7342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41;p17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676525"/>
            <a:ext cx="3397299" cy="2562225"/>
          </a:xfrm>
          <a:prstGeom prst="rect">
            <a:avLst/>
          </a:prstGeom>
          <a:ln>
            <a:noFill/>
          </a:ln>
        </p:spPr>
      </p:pic>
      <p:pic>
        <p:nvPicPr>
          <p:cNvPr id="164" name="Google Shape;142;p17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7424" y="2676525"/>
            <a:ext cx="3397299" cy="2562225"/>
          </a:xfrm>
          <a:prstGeom prst="rect">
            <a:avLst/>
          </a:prstGeom>
          <a:ln>
            <a:noFill/>
          </a:ln>
        </p:spPr>
      </p:pic>
      <p:pic>
        <p:nvPicPr>
          <p:cNvPr id="165" name="Google Shape;143;p17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32849" y="2676525"/>
            <a:ext cx="3397299" cy="2562225"/>
          </a:xfrm>
          <a:prstGeom prst="rect">
            <a:avLst/>
          </a:prstGeom>
          <a:ln>
            <a:noFill/>
          </a:ln>
        </p:spPr>
      </p:pic>
      <p:sp>
        <p:nvSpPr>
          <p:cNvPr id="144" name="Google Shape;144;p17">
            <a:extLst>
              <a:ext uri="{FF2B5EF4-FFF2-40B4-BE49-F238E27FC236}">
                <a16:creationId xmlns:a16="http://schemas.microsoft.com/office/drawing/2014/main" id="{730B8429-648B-42E1-8687-E05A5AC378B9}"/>
              </a:ext>
            </a:extLst>
          </p:cNvPr>
          <p:cNvSpPr>
            <a:spLocks noGrp="1"/>
          </p:cNvSpPr>
          <p:nvPr/>
        </p:nvSpPr>
        <p:spPr>
          <a:xfrm>
            <a:off x="1057275" y="3457575"/>
            <a:ext cx="29470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005088"/>
                </a:solidFill>
                <a:latin typeface="Poppins"/>
                <a:ea typeface="Poppins"/>
                <a:cs typeface="Poppins"/>
              </a:rPr>
              <a:t>Lógica Formal</a:t>
            </a:r>
          </a:p>
        </p:txBody>
      </p:sp>
      <p:sp>
        <p:nvSpPr>
          <p:cNvPr id="145" name="Google Shape;145;p17">
            <a:extLst>
              <a:ext uri="{FF2B5EF4-FFF2-40B4-BE49-F238E27FC236}">
                <a16:creationId xmlns:a16="http://schemas.microsoft.com/office/drawing/2014/main" id="{8171DB88-87EB-4BE5-AA4B-D7EE07FEA23B}"/>
              </a:ext>
            </a:extLst>
          </p:cNvPr>
          <p:cNvSpPr>
            <a:spLocks noGrp="1"/>
          </p:cNvSpPr>
          <p:nvPr/>
        </p:nvSpPr>
        <p:spPr>
          <a:xfrm>
            <a:off x="1057275" y="3933825"/>
            <a:ext cx="2806749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Capacidad para traducir requerimientos de negocio a lógica matemática .</a:t>
            </a:r>
          </a:p>
        </p:txBody>
      </p:sp>
      <p:sp>
        <p:nvSpPr>
          <p:cNvPr id="146" name="Google Shape;146;p17">
            <a:extLst>
              <a:ext uri="{FF2B5EF4-FFF2-40B4-BE49-F238E27FC236}">
                <a16:creationId xmlns:a16="http://schemas.microsoft.com/office/drawing/2014/main" id="{75B1EC6E-6EC6-464E-BDBE-12CE7B0DD8A6}"/>
              </a:ext>
            </a:extLst>
          </p:cNvPr>
          <p:cNvSpPr>
            <a:spLocks noGrp="1"/>
          </p:cNvSpPr>
          <p:nvPr/>
        </p:nvSpPr>
        <p:spPr>
          <a:xfrm>
            <a:off x="4692699" y="3457575"/>
            <a:ext cx="29470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005088"/>
                </a:solidFill>
                <a:latin typeface="Poppins"/>
                <a:ea typeface="Poppins"/>
                <a:cs typeface="Poppins"/>
              </a:rPr>
              <a:t>Optimización</a:t>
            </a:r>
          </a:p>
        </p:txBody>
      </p:sp>
      <p:sp>
        <p:nvSpPr>
          <p:cNvPr id="147" name="Google Shape;147;p17">
            <a:extLst>
              <a:ext uri="{FF2B5EF4-FFF2-40B4-BE49-F238E27FC236}">
                <a16:creationId xmlns:a16="http://schemas.microsoft.com/office/drawing/2014/main" id="{13600953-F203-4A26-8C2D-122245636F19}"/>
              </a:ext>
            </a:extLst>
          </p:cNvPr>
          <p:cNvSpPr>
            <a:spLocks noGrp="1"/>
          </p:cNvSpPr>
          <p:nvPr/>
        </p:nvSpPr>
        <p:spPr>
          <a:xfrm>
            <a:off x="4692699" y="3933825"/>
            <a:ext cx="28067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Simplificar procesos complejos usando Álgebra de Boole y Mapas de Karnaugh.</a:t>
            </a:r>
          </a:p>
        </p:txBody>
      </p:sp>
      <p:sp>
        <p:nvSpPr>
          <p:cNvPr id="148" name="Google Shape;148;p17">
            <a:extLst>
              <a:ext uri="{FF2B5EF4-FFF2-40B4-BE49-F238E27FC236}">
                <a16:creationId xmlns:a16="http://schemas.microsoft.com/office/drawing/2014/main" id="{C1346A2E-FEB7-4F26-B458-91CB8992C84A}"/>
              </a:ext>
            </a:extLst>
          </p:cNvPr>
          <p:cNvSpPr>
            <a:spLocks noGrp="1"/>
          </p:cNvSpPr>
          <p:nvPr/>
        </p:nvSpPr>
        <p:spPr>
          <a:xfrm>
            <a:off x="8328124" y="3457575"/>
            <a:ext cx="29470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005088"/>
                </a:solidFill>
                <a:latin typeface="Poppins"/>
                <a:ea typeface="Poppins"/>
                <a:cs typeface="Poppins"/>
              </a:rPr>
              <a:t>Estructuración</a:t>
            </a:r>
          </a:p>
        </p:txBody>
      </p:sp>
      <p:sp>
        <p:nvSpPr>
          <p:cNvPr id="149" name="Google Shape;149;p17">
            <a:extLst>
              <a:ext uri="{FF2B5EF4-FFF2-40B4-BE49-F238E27FC236}">
                <a16:creationId xmlns:a16="http://schemas.microsoft.com/office/drawing/2014/main" id="{8BD1FD54-9741-4A5D-90C1-A1EF16F3A794}"/>
              </a:ext>
            </a:extLst>
          </p:cNvPr>
          <p:cNvSpPr>
            <a:spLocks noGrp="1"/>
          </p:cNvSpPr>
          <p:nvPr/>
        </p:nvSpPr>
        <p:spPr>
          <a:xfrm>
            <a:off x="8328124" y="3933825"/>
            <a:ext cx="280674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Manejar datos masivos mediante Teoría de Conjuntos y Relaciones.</a:t>
            </a:r>
          </a:p>
        </p:txBody>
      </p:sp>
      <p:pic>
        <p:nvPicPr>
          <p:cNvPr id="172" name="Google Shape;150;p17"/>
          <p:cNvPicPr>
            <a:picLocks noChangeAspect="1"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3009900"/>
            <a:ext cx="285750" cy="285750"/>
          </a:xfrm>
          <a:prstGeom prst="rect">
            <a:avLst/>
          </a:prstGeom>
          <a:ln>
            <a:noFill/>
          </a:ln>
        </p:spPr>
      </p:pic>
      <p:pic>
        <p:nvPicPr>
          <p:cNvPr id="173" name="Google Shape;151;p17"/>
          <p:cNvPicPr>
            <a:picLocks noChangeAspect="1"/>
          </p:cNvPicPr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63887" y="4686300"/>
            <a:ext cx="762000" cy="285750"/>
          </a:xfrm>
          <a:prstGeom prst="rect">
            <a:avLst/>
          </a:prstGeom>
          <a:ln>
            <a:noFill/>
          </a:ln>
        </p:spPr>
      </p:pic>
      <p:pic>
        <p:nvPicPr>
          <p:cNvPr id="174" name="Google Shape;152;p17"/>
          <p:cNvPicPr>
            <a:picLocks noChangeAspect="1"/>
          </p:cNvPicPr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699" y="3009900"/>
            <a:ext cx="361950" cy="285750"/>
          </a:xfrm>
          <a:prstGeom prst="rect">
            <a:avLst/>
          </a:prstGeom>
          <a:ln>
            <a:noFill/>
          </a:ln>
        </p:spPr>
      </p:pic>
      <p:pic>
        <p:nvPicPr>
          <p:cNvPr id="175" name="Google Shape;153;p17"/>
          <p:cNvPicPr>
            <a:picLocks noChangeAspect="1"/>
          </p:cNvPicPr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28124" y="3009900"/>
            <a:ext cx="247650" cy="285750"/>
          </a:xfrm>
          <a:prstGeom prst="rect">
            <a:avLst/>
          </a:prstGeom>
          <a:ln>
            <a:noFill/>
          </a:ln>
        </p:spPr>
      </p:pic>
      <p:sp>
        <p:nvSpPr>
          <p:cNvPr id="154" name="Google Shape;154;p17">
            <a:extLst>
              <a:ext uri="{FF2B5EF4-FFF2-40B4-BE49-F238E27FC236}">
                <a16:creationId xmlns:a16="http://schemas.microsoft.com/office/drawing/2014/main" id="{050E822A-C8C6-4C29-9B68-6BE9A52B7EAA}"/>
              </a:ext>
            </a:extLst>
          </p:cNvPr>
          <p:cNvSpPr>
            <a:spLocks noGrp="1"/>
          </p:cNvSpPr>
          <p:nvPr/>
        </p:nvSpPr>
        <p:spPr>
          <a:xfrm>
            <a:off x="762148" y="1057275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005088"/>
                </a:solidFill>
                <a:latin typeface="Poppins"/>
                <a:ea typeface="Poppins"/>
                <a:cs typeface="Poppins"/>
              </a:rPr>
              <a:t>¿Qué lograrás al finalizar?</a:t>
            </a:r>
          </a:p>
        </p:txBody>
      </p:sp>
      <p:sp>
        <p:nvSpPr>
          <p:cNvPr id="155" name="Google Shape;155;p17">
            <a:extLst>
              <a:ext uri="{FF2B5EF4-FFF2-40B4-BE49-F238E27FC236}">
                <a16:creationId xmlns:a16="http://schemas.microsoft.com/office/drawing/2014/main" id="{FA7EBC88-FCFE-4EC8-BD7D-8E03476B3DC6}"/>
              </a:ext>
            </a:extLst>
          </p:cNvPr>
          <p:cNvSpPr>
            <a:spLocks noGrp="1"/>
          </p:cNvSpPr>
          <p:nvPr/>
        </p:nvSpPr>
        <p:spPr>
          <a:xfrm>
            <a:off x="762148" y="177165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1196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61;p18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638425"/>
            <a:ext cx="5095875" cy="1857375"/>
          </a:xfrm>
          <a:prstGeom prst="rect">
            <a:avLst/>
          </a:prstGeom>
          <a:ln>
            <a:noFill/>
          </a:ln>
        </p:spPr>
      </p:pic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43CB5117-F5CB-4FF2-A64E-D1227D92AFCD}"/>
              </a:ext>
            </a:extLst>
          </p:cNvPr>
          <p:cNvSpPr>
            <a:spLocks noGrp="1"/>
          </p:cNvSpPr>
          <p:nvPr/>
        </p:nvSpPr>
        <p:spPr>
          <a:xfrm>
            <a:off x="762000" y="2638425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4" b="1" i="0" u="none" cap="none">
                <a:solidFill>
                  <a:srgbClr val="0F172A"/>
                </a:solidFill>
                <a:latin typeface="Poppins"/>
                <a:ea typeface="Poppins"/>
                <a:cs typeface="Poppins"/>
              </a:rPr>
              <a:t>Aprendizaje Activo</a:t>
            </a:r>
          </a:p>
        </p:txBody>
      </p:sp>
      <p:sp>
        <p:nvSpPr>
          <p:cNvPr id="163" name="Google Shape;163;p18">
            <a:extLst>
              <a:ext uri="{FF2B5EF4-FFF2-40B4-BE49-F238E27FC236}">
                <a16:creationId xmlns:a16="http://schemas.microsoft.com/office/drawing/2014/main" id="{DC3AA4D8-3DDF-403E-A619-1CCABB587F4F}"/>
              </a:ext>
            </a:extLst>
          </p:cNvPr>
          <p:cNvSpPr>
            <a:spLocks noGrp="1"/>
          </p:cNvSpPr>
          <p:nvPr/>
        </p:nvSpPr>
        <p:spPr>
          <a:xfrm>
            <a:off x="6629400" y="2933700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005088"/>
                </a:solidFill>
                <a:latin typeface="Poppins"/>
                <a:ea typeface="Poppins"/>
                <a:cs typeface="Poppins"/>
              </a:rPr>
              <a:t>Recursos de Apoyo</a:t>
            </a:r>
          </a:p>
        </p:txBody>
      </p:sp>
      <p:sp>
        <p:nvSpPr>
          <p:cNvPr id="164" name="Google Shape;164;p18">
            <a:extLst>
              <a:ext uri="{FF2B5EF4-FFF2-40B4-BE49-F238E27FC236}">
                <a16:creationId xmlns:a16="http://schemas.microsoft.com/office/drawing/2014/main" id="{4315B1C9-EC7C-49AA-A426-D88FBDCF425C}"/>
              </a:ext>
            </a:extLst>
          </p:cNvPr>
          <p:cNvSpPr>
            <a:spLocks noGrp="1"/>
          </p:cNvSpPr>
          <p:nvPr/>
        </p:nvSpPr>
        <p:spPr>
          <a:xfrm>
            <a:off x="6629400" y="3409950"/>
            <a:ext cx="45053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• </a:t>
            </a:r>
            <a:r>
              <a:rPr sz="1500" b="1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Github:</a:t>
            </a: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 Material complementario y repositorio.</a:t>
            </a:r>
          </a:p>
        </p:txBody>
      </p:sp>
      <p:sp>
        <p:nvSpPr>
          <p:cNvPr id="166" name="Google Shape;166;p18">
            <a:extLst>
              <a:ext uri="{FF2B5EF4-FFF2-40B4-BE49-F238E27FC236}">
                <a16:creationId xmlns:a16="http://schemas.microsoft.com/office/drawing/2014/main" id="{7B652330-D618-49E8-B764-EA16427F237F}"/>
              </a:ext>
            </a:extLst>
          </p:cNvPr>
          <p:cNvSpPr>
            <a:spLocks noGrp="1"/>
          </p:cNvSpPr>
          <p:nvPr/>
        </p:nvSpPr>
        <p:spPr>
          <a:xfrm>
            <a:off x="6629399" y="3986212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• </a:t>
            </a:r>
            <a:r>
              <a:rPr sz="1500" b="1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SIGA:</a:t>
            </a: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 Tutorías académicas permanentes.</a:t>
            </a:r>
          </a:p>
        </p:txBody>
      </p:sp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261EB3C3-FA92-46D1-9F89-4D5447EFC519}"/>
              </a:ext>
            </a:extLst>
          </p:cNvPr>
          <p:cNvSpPr>
            <a:spLocks noGrp="1"/>
          </p:cNvSpPr>
          <p:nvPr/>
        </p:nvSpPr>
        <p:spPr>
          <a:xfrm>
            <a:off x="1190625" y="3067050"/>
            <a:ext cx="4667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Clases Magistrales:</a:t>
            </a: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 Explicación de conceptos y propiedades.</a:t>
            </a:r>
          </a:p>
        </p:txBody>
      </p:sp>
      <p:sp>
        <p:nvSpPr>
          <p:cNvPr id="168" name="Google Shape;168;p18">
            <a:extLst>
              <a:ext uri="{FF2B5EF4-FFF2-40B4-BE49-F238E27FC236}">
                <a16:creationId xmlns:a16="http://schemas.microsoft.com/office/drawing/2014/main" id="{2869B3BA-1DD6-48B8-A5E2-647D2C3377AF}"/>
              </a:ext>
            </a:extLst>
          </p:cNvPr>
          <p:cNvSpPr>
            <a:spLocks noGrp="1"/>
          </p:cNvSpPr>
          <p:nvPr/>
        </p:nvSpPr>
        <p:spPr>
          <a:xfrm>
            <a:off x="1190625" y="3781425"/>
            <a:ext cx="4667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Talleres Prácticos:</a:t>
            </a: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 Resolución de problemas tipo en clase.</a:t>
            </a:r>
          </a:p>
        </p:txBody>
      </p:sp>
      <p:sp>
        <p:nvSpPr>
          <p:cNvPr id="169" name="Google Shape;169;p18">
            <a:extLst>
              <a:ext uri="{FF2B5EF4-FFF2-40B4-BE49-F238E27FC236}">
                <a16:creationId xmlns:a16="http://schemas.microsoft.com/office/drawing/2014/main" id="{9291FCB2-392F-453C-81B9-4B7679801C04}"/>
              </a:ext>
            </a:extLst>
          </p:cNvPr>
          <p:cNvSpPr>
            <a:spLocks noGrp="1"/>
          </p:cNvSpPr>
          <p:nvPr/>
        </p:nvSpPr>
        <p:spPr>
          <a:xfrm>
            <a:off x="1190625" y="4495800"/>
            <a:ext cx="4667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Trabajo Independiente:</a:t>
            </a: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 Lectura previa obligatoria de textos guía.</a:t>
            </a:r>
          </a:p>
        </p:txBody>
      </p:sp>
      <p:pic>
        <p:nvPicPr>
          <p:cNvPr id="187" name="Google Shape;170;p18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100387"/>
            <a:ext cx="266700" cy="219075"/>
          </a:xfrm>
          <a:prstGeom prst="rect">
            <a:avLst/>
          </a:prstGeom>
          <a:ln>
            <a:noFill/>
          </a:ln>
        </p:spPr>
      </p:pic>
      <p:pic>
        <p:nvPicPr>
          <p:cNvPr id="188" name="Google Shape;171;p18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814762"/>
            <a:ext cx="266700" cy="219075"/>
          </a:xfrm>
          <a:prstGeom prst="rect">
            <a:avLst/>
          </a:prstGeom>
          <a:ln>
            <a:noFill/>
          </a:ln>
        </p:spPr>
      </p:pic>
      <p:pic>
        <p:nvPicPr>
          <p:cNvPr id="189" name="Google Shape;172;p18"/>
          <p:cNvPicPr>
            <a:picLocks noChangeAspect="1"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529137"/>
            <a:ext cx="209550" cy="219075"/>
          </a:xfrm>
          <a:prstGeom prst="rect">
            <a:avLst/>
          </a:prstGeom>
          <a:ln>
            <a:noFill/>
          </a:ln>
        </p:spPr>
      </p:pic>
      <p:sp>
        <p:nvSpPr>
          <p:cNvPr id="173" name="Google Shape;173;p18">
            <a:extLst>
              <a:ext uri="{FF2B5EF4-FFF2-40B4-BE49-F238E27FC236}">
                <a16:creationId xmlns:a16="http://schemas.microsoft.com/office/drawing/2014/main" id="{0504880D-E5B3-4CE1-84B5-14E65A0F2FB8}"/>
              </a:ext>
            </a:extLst>
          </p:cNvPr>
          <p:cNvSpPr>
            <a:spLocks noGrp="1"/>
          </p:cNvSpPr>
          <p:nvPr/>
        </p:nvSpPr>
        <p:spPr>
          <a:xfrm>
            <a:off x="762000" y="106680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005088"/>
                </a:solidFill>
                <a:latin typeface="Poppins"/>
                <a:ea typeface="Poppins"/>
                <a:cs typeface="Poppins"/>
              </a:rPr>
              <a:t>Metodología de Enseñanza</a:t>
            </a:r>
          </a:p>
        </p:txBody>
      </p:sp>
      <p:sp>
        <p:nvSpPr>
          <p:cNvPr id="174" name="Google Shape;174;p18">
            <a:extLst>
              <a:ext uri="{FF2B5EF4-FFF2-40B4-BE49-F238E27FC236}">
                <a16:creationId xmlns:a16="http://schemas.microsoft.com/office/drawing/2014/main" id="{F62B03EF-A56C-45E5-910E-10997570AE12}"/>
              </a:ext>
            </a:extLst>
          </p:cNvPr>
          <p:cNvSpPr>
            <a:spLocks noGrp="1"/>
          </p:cNvSpPr>
          <p:nvPr/>
        </p:nvSpPr>
        <p:spPr>
          <a:xfrm>
            <a:off x="762000" y="17811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0679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30;p1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7" y="2986087"/>
            <a:ext cx="5095875" cy="2276475"/>
          </a:xfrm>
          <a:prstGeom prst="rect">
            <a:avLst/>
          </a:prstGeom>
          <a:ln>
            <a:noFill/>
          </a:ln>
        </p:spPr>
      </p:pic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C5F71A83-4585-4A8E-8067-F80A09F65136}"/>
              </a:ext>
            </a:extLst>
          </p:cNvPr>
          <p:cNvSpPr>
            <a:spLocks noGrp="1"/>
          </p:cNvSpPr>
          <p:nvPr/>
        </p:nvSpPr>
        <p:spPr>
          <a:xfrm>
            <a:off x="762000" y="2871787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4" b="1" i="0" u="none" cap="none">
                <a:solidFill>
                  <a:srgbClr val="0F172A"/>
                </a:solidFill>
                <a:latin typeface="Poppins"/>
                <a:ea typeface="Poppins"/>
                <a:cs typeface="Poppins"/>
              </a:rPr>
              <a:t>Temas Clave</a:t>
            </a:r>
          </a:p>
        </p:txBody>
      </p:sp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08CA3AD9-15C6-46FF-85B3-CBB65933313F}"/>
              </a:ext>
            </a:extLst>
          </p:cNvPr>
          <p:cNvSpPr>
            <a:spLocks noGrp="1"/>
          </p:cNvSpPr>
          <p:nvPr/>
        </p:nvSpPr>
        <p:spPr>
          <a:xfrm>
            <a:off x="6629402" y="3281362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005088"/>
                </a:solidFill>
                <a:latin typeface="Poppins"/>
                <a:ea typeface="Poppins"/>
                <a:cs typeface="Poppins"/>
              </a:rPr>
              <a:t>Aplicación en Software</a:t>
            </a:r>
          </a:p>
        </p:txBody>
      </p:sp>
      <p:sp>
        <p:nvSpPr>
          <p:cNvPr id="133" name="Google Shape;133;p16">
            <a:extLst>
              <a:ext uri="{FF2B5EF4-FFF2-40B4-BE49-F238E27FC236}">
                <a16:creationId xmlns:a16="http://schemas.microsoft.com/office/drawing/2014/main" id="{F2759B47-3DB5-478B-8B8B-C3E6D4ED61B8}"/>
              </a:ext>
            </a:extLst>
          </p:cNvPr>
          <p:cNvSpPr>
            <a:spLocks noGrp="1"/>
          </p:cNvSpPr>
          <p:nvPr/>
        </p:nvSpPr>
        <p:spPr>
          <a:xfrm>
            <a:off x="6629402" y="3709987"/>
            <a:ext cx="450532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92C174DE-93E4-4F5F-8C1F-69070C5BA551}"/>
              </a:ext>
            </a:extLst>
          </p:cNvPr>
          <p:cNvSpPr>
            <a:spLocks noGrp="1"/>
          </p:cNvSpPr>
          <p:nvPr/>
        </p:nvSpPr>
        <p:spPr>
          <a:xfrm>
            <a:off x="6629402" y="3862387"/>
            <a:ext cx="4505325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Es la base de las condiciones lógicas en programación. Sin lógica proposicional no existen los condicionales ni la validación de requerimientos de software.</a:t>
            </a:r>
          </a:p>
        </p:txBody>
      </p:sp>
      <p:sp>
        <p:nvSpPr>
          <p:cNvPr id="135" name="Google Shape;135;p16">
            <a:extLst>
              <a:ext uri="{FF2B5EF4-FFF2-40B4-BE49-F238E27FC236}">
                <a16:creationId xmlns:a16="http://schemas.microsoft.com/office/drawing/2014/main" id="{FD9C2777-BFA2-4362-B349-C1F247208261}"/>
              </a:ext>
            </a:extLst>
          </p:cNvPr>
          <p:cNvSpPr>
            <a:spLocks noGrp="1"/>
          </p:cNvSpPr>
          <p:nvPr/>
        </p:nvSpPr>
        <p:spPr>
          <a:xfrm>
            <a:off x="1143000" y="3300412"/>
            <a:ext cx="47148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Lógica Proposicional y conectivas</a:t>
            </a:r>
          </a:p>
        </p:txBody>
      </p:sp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8CBD5A71-872A-4E0F-88C5-C3E2B39A2B06}"/>
              </a:ext>
            </a:extLst>
          </p:cNvPr>
          <p:cNvSpPr>
            <a:spLocks noGrp="1"/>
          </p:cNvSpPr>
          <p:nvPr/>
        </p:nvSpPr>
        <p:spPr>
          <a:xfrm>
            <a:off x="1143000" y="3767137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Tablas de Verdad y clasificación de FBF.</a:t>
            </a: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0E296557-163A-4A91-AF7A-0A5FC3F33460}"/>
              </a:ext>
            </a:extLst>
          </p:cNvPr>
          <p:cNvSpPr>
            <a:spLocks noGrp="1"/>
          </p:cNvSpPr>
          <p:nvPr/>
        </p:nvSpPr>
        <p:spPr>
          <a:xfrm>
            <a:off x="1143000" y="4224337"/>
            <a:ext cx="47148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Lógica de Predicados y cuantificadores</a:t>
            </a:r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0410B6FA-4C08-4745-9C5C-58C657F353BE}"/>
              </a:ext>
            </a:extLst>
          </p:cNvPr>
          <p:cNvSpPr>
            <a:spLocks noGrp="1"/>
          </p:cNvSpPr>
          <p:nvPr/>
        </p:nvSpPr>
        <p:spPr>
          <a:xfrm>
            <a:off x="1143000" y="4691062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Métodos de demostración: directa, contraposición, contradicción y contraejemplo.</a:t>
            </a:r>
          </a:p>
        </p:txBody>
      </p:sp>
      <p:pic>
        <p:nvPicPr>
          <p:cNvPr id="164" name="Google Shape;139;p1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29402" y="4943475"/>
            <a:ext cx="849702" cy="285750"/>
          </a:xfrm>
          <a:prstGeom prst="rect">
            <a:avLst/>
          </a:prstGeom>
          <a:ln>
            <a:noFill/>
          </a:ln>
        </p:spPr>
      </p:pic>
      <p:pic>
        <p:nvPicPr>
          <p:cNvPr id="165" name="Google Shape;140;p16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74261" y="3343275"/>
            <a:ext cx="1421903" cy="285750"/>
          </a:xfrm>
          <a:prstGeom prst="rect">
            <a:avLst/>
          </a:prstGeom>
          <a:ln>
            <a:noFill/>
          </a:ln>
        </p:spPr>
      </p:pic>
      <p:pic>
        <p:nvPicPr>
          <p:cNvPr id="166" name="Google Shape;141;p16"/>
          <p:cNvPicPr>
            <a:picLocks noChangeAspect="1"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65890" y="4270345"/>
            <a:ext cx="585936" cy="285750"/>
          </a:xfrm>
          <a:prstGeom prst="rect">
            <a:avLst/>
          </a:prstGeom>
          <a:ln>
            <a:noFill/>
          </a:ln>
        </p:spPr>
      </p:pic>
      <p:pic>
        <p:nvPicPr>
          <p:cNvPr id="167" name="Google Shape;142;p16"/>
          <p:cNvPicPr>
            <a:picLocks noChangeAspect="1"/>
          </p:cNvPicPr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343275"/>
            <a:ext cx="95250" cy="200025"/>
          </a:xfrm>
          <a:prstGeom prst="rect">
            <a:avLst/>
          </a:prstGeom>
          <a:ln>
            <a:noFill/>
          </a:ln>
        </p:spPr>
      </p:pic>
      <p:pic>
        <p:nvPicPr>
          <p:cNvPr id="168" name="Google Shape;143;p16"/>
          <p:cNvPicPr>
            <a:picLocks noChangeAspect="1"/>
          </p:cNvPicPr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810000"/>
            <a:ext cx="95250" cy="200025"/>
          </a:xfrm>
          <a:prstGeom prst="rect">
            <a:avLst/>
          </a:prstGeom>
          <a:ln>
            <a:noFill/>
          </a:ln>
        </p:spPr>
      </p:pic>
      <p:pic>
        <p:nvPicPr>
          <p:cNvPr id="169" name="Google Shape;144;p16"/>
          <p:cNvPicPr>
            <a:picLocks noChangeAspect="1"/>
          </p:cNvPicPr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267200"/>
            <a:ext cx="95250" cy="200025"/>
          </a:xfrm>
          <a:prstGeom prst="rect">
            <a:avLst/>
          </a:prstGeom>
          <a:ln>
            <a:noFill/>
          </a:ln>
        </p:spPr>
      </p:pic>
      <p:pic>
        <p:nvPicPr>
          <p:cNvPr id="170" name="Google Shape;145;p16"/>
          <p:cNvPicPr>
            <a:picLocks noChangeAspect="1"/>
          </p:cNvPicPr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733925"/>
            <a:ext cx="95250" cy="200025"/>
          </a:xfrm>
          <a:prstGeom prst="rect">
            <a:avLst/>
          </a:prstGeom>
          <a:ln>
            <a:noFill/>
          </a:ln>
        </p:spPr>
      </p:pic>
      <p:sp>
        <p:nvSpPr>
          <p:cNvPr id="146" name="Google Shape;146;p16">
            <a:extLst>
              <a:ext uri="{FF2B5EF4-FFF2-40B4-BE49-F238E27FC236}">
                <a16:creationId xmlns:a16="http://schemas.microsoft.com/office/drawing/2014/main" id="{E28EE298-B7F5-4A91-B1A4-5FA39EBD991D}"/>
              </a:ext>
            </a:extLst>
          </p:cNvPr>
          <p:cNvSpPr>
            <a:spLocks noGrp="1"/>
          </p:cNvSpPr>
          <p:nvPr/>
        </p:nvSpPr>
        <p:spPr>
          <a:xfrm>
            <a:off x="615351" y="1309687"/>
            <a:ext cx="1120140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cap="none">
                <a:solidFill>
                  <a:srgbClr val="005088"/>
                </a:solidFill>
                <a:latin typeface="Poppins"/>
                <a:ea typeface="Poppins"/>
                <a:cs typeface="Poppins"/>
              </a:rPr>
              <a:t>Unidad I: Fundamentos Lógicos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BFC484E-32FD-C5E2-664A-44BD6C7B162C}"/>
              </a:ext>
            </a:extLst>
          </p:cNvPr>
          <p:cNvSpPr>
            <a:spLocks noGrp="1"/>
          </p:cNvSpPr>
          <p:nvPr/>
        </p:nvSpPr>
        <p:spPr>
          <a:xfrm>
            <a:off x="9394201" y="-57264"/>
            <a:ext cx="55955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Times New Roman"/>
                <a:ea typeface="Times New Roman"/>
                <a:cs typeface="Times New Roman"/>
              </a:rPr>
              <a:t>Estructura del curso</a:t>
            </a:r>
          </a:p>
        </p:txBody>
      </p:sp>
    </p:spTree>
    <p:extLst>
      <p:ext uri="{BB962C8B-B14F-4D97-AF65-F5344CB8AC3E}">
        <p14:creationId xmlns:p14="http://schemas.microsoft.com/office/powerpoint/2010/main" val="2139936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53;p17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876550"/>
            <a:ext cx="5095875" cy="2266950"/>
          </a:xfrm>
          <a:prstGeom prst="rect">
            <a:avLst/>
          </a:prstGeom>
          <a:ln>
            <a:noFill/>
          </a:ln>
        </p:spPr>
      </p:pic>
      <p:sp>
        <p:nvSpPr>
          <p:cNvPr id="154" name="Google Shape;154;p17">
            <a:extLst>
              <a:ext uri="{FF2B5EF4-FFF2-40B4-BE49-F238E27FC236}">
                <a16:creationId xmlns:a16="http://schemas.microsoft.com/office/drawing/2014/main" id="{1DAA95C4-9366-4B34-B4A8-760A682D8C51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4" b="1" i="0" u="none" cap="none">
                <a:solidFill>
                  <a:srgbClr val="0F172A"/>
                </a:solidFill>
                <a:latin typeface="Poppins"/>
                <a:ea typeface="Poppins"/>
                <a:cs typeface="Poppins"/>
              </a:rPr>
              <a:t>Temas Clave</a:t>
            </a:r>
          </a:p>
        </p:txBody>
      </p:sp>
      <p:sp>
        <p:nvSpPr>
          <p:cNvPr id="155" name="Google Shape;155;p17">
            <a:extLst>
              <a:ext uri="{FF2B5EF4-FFF2-40B4-BE49-F238E27FC236}">
                <a16:creationId xmlns:a16="http://schemas.microsoft.com/office/drawing/2014/main" id="{B6E64857-75EA-4A70-B267-74C6D2681ABB}"/>
              </a:ext>
            </a:extLst>
          </p:cNvPr>
          <p:cNvSpPr>
            <a:spLocks noGrp="1"/>
          </p:cNvSpPr>
          <p:nvPr/>
        </p:nvSpPr>
        <p:spPr>
          <a:xfrm>
            <a:off x="6629400" y="3171825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005088"/>
                </a:solidFill>
                <a:latin typeface="Poppins"/>
                <a:ea typeface="Poppins"/>
                <a:cs typeface="Poppins"/>
              </a:rPr>
              <a:t>Aplicación en Software</a:t>
            </a:r>
          </a:p>
        </p:txBody>
      </p:sp>
      <p:sp>
        <p:nvSpPr>
          <p:cNvPr id="156" name="Google Shape;156;p17">
            <a:extLst>
              <a:ext uri="{FF2B5EF4-FFF2-40B4-BE49-F238E27FC236}">
                <a16:creationId xmlns:a16="http://schemas.microsoft.com/office/drawing/2014/main" id="{561FFF7F-3D8F-4FBF-8F1D-C884F1127E03}"/>
              </a:ext>
            </a:extLst>
          </p:cNvPr>
          <p:cNvSpPr>
            <a:spLocks noGrp="1"/>
          </p:cNvSpPr>
          <p:nvPr/>
        </p:nvSpPr>
        <p:spPr>
          <a:xfrm>
            <a:off x="6629400" y="3600450"/>
            <a:ext cx="450532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7">
            <a:extLst>
              <a:ext uri="{FF2B5EF4-FFF2-40B4-BE49-F238E27FC236}">
                <a16:creationId xmlns:a16="http://schemas.microsoft.com/office/drawing/2014/main" id="{8D183676-B003-4425-A8CC-58CA95EA5B5C}"/>
              </a:ext>
            </a:extLst>
          </p:cNvPr>
          <p:cNvSpPr>
            <a:spLocks noGrp="1"/>
          </p:cNvSpPr>
          <p:nvPr/>
        </p:nvSpPr>
        <p:spPr>
          <a:xfrm>
            <a:off x="6629400" y="3752850"/>
            <a:ext cx="4505325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Fundamental para el diseño de bases de datos relacionales (SQL), estructuras de datos y modelado de redes mediante grafos.</a:t>
            </a:r>
          </a:p>
        </p:txBody>
      </p:sp>
      <p:sp>
        <p:nvSpPr>
          <p:cNvPr id="158" name="Google Shape;158;p17">
            <a:extLst>
              <a:ext uri="{FF2B5EF4-FFF2-40B4-BE49-F238E27FC236}">
                <a16:creationId xmlns:a16="http://schemas.microsoft.com/office/drawing/2014/main" id="{57F66666-3082-4C01-8546-5466A0869473}"/>
              </a:ext>
            </a:extLst>
          </p:cNvPr>
          <p:cNvSpPr>
            <a:spLocks noGrp="1"/>
          </p:cNvSpPr>
          <p:nvPr/>
        </p:nvSpPr>
        <p:spPr>
          <a:xfrm>
            <a:off x="1143000" y="3305175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Álgebra de Conjuntos y Funciones.</a:t>
            </a:r>
          </a:p>
        </p:txBody>
      </p:sp>
      <p:sp>
        <p:nvSpPr>
          <p:cNvPr id="159" name="Google Shape;159;p17">
            <a:extLst>
              <a:ext uri="{FF2B5EF4-FFF2-40B4-BE49-F238E27FC236}">
                <a16:creationId xmlns:a16="http://schemas.microsoft.com/office/drawing/2014/main" id="{95633731-A9DF-4710-92E8-AE3AEAC84205}"/>
              </a:ext>
            </a:extLst>
          </p:cNvPr>
          <p:cNvSpPr>
            <a:spLocks noGrp="1"/>
          </p:cNvSpPr>
          <p:nvPr/>
        </p:nvSpPr>
        <p:spPr>
          <a:xfrm>
            <a:off x="1143000" y="3762375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Operaciones, producto cartesiano y propiedades.</a:t>
            </a:r>
          </a:p>
        </p:txBody>
      </p:sp>
      <p:sp>
        <p:nvSpPr>
          <p:cNvPr id="160" name="Google Shape;160;p17">
            <a:extLst>
              <a:ext uri="{FF2B5EF4-FFF2-40B4-BE49-F238E27FC236}">
                <a16:creationId xmlns:a16="http://schemas.microsoft.com/office/drawing/2014/main" id="{D1D7BC8F-A70E-45B3-8668-53E79E9FB10C}"/>
              </a:ext>
            </a:extLst>
          </p:cNvPr>
          <p:cNvSpPr>
            <a:spLocks noGrp="1"/>
          </p:cNvSpPr>
          <p:nvPr/>
        </p:nvSpPr>
        <p:spPr>
          <a:xfrm>
            <a:off x="1143000" y="4219575"/>
            <a:ext cx="47148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Relaciones y Grafos</a:t>
            </a:r>
          </a:p>
        </p:txBody>
      </p:sp>
      <p:sp>
        <p:nvSpPr>
          <p:cNvPr id="161" name="Google Shape;161;p17">
            <a:extLst>
              <a:ext uri="{FF2B5EF4-FFF2-40B4-BE49-F238E27FC236}">
                <a16:creationId xmlns:a16="http://schemas.microsoft.com/office/drawing/2014/main" id="{D36AB262-E856-404C-A005-6CC6AD8413A8}"/>
              </a:ext>
            </a:extLst>
          </p:cNvPr>
          <p:cNvSpPr>
            <a:spLocks noGrp="1"/>
          </p:cNvSpPr>
          <p:nvPr/>
        </p:nvSpPr>
        <p:spPr>
          <a:xfrm>
            <a:off x="1143000" y="4686300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Relaciones de equivalencia y representación mediante grafos.</a:t>
            </a:r>
          </a:p>
        </p:txBody>
      </p:sp>
      <p:pic>
        <p:nvPicPr>
          <p:cNvPr id="184" name="Google Shape;162;p17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60682" y="4262437"/>
            <a:ext cx="1574303" cy="285750"/>
          </a:xfrm>
          <a:prstGeom prst="rect">
            <a:avLst/>
          </a:prstGeom>
          <a:ln>
            <a:noFill/>
          </a:ln>
        </p:spPr>
      </p:pic>
      <p:pic>
        <p:nvPicPr>
          <p:cNvPr id="185" name="Google Shape;163;p17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348037"/>
            <a:ext cx="95250" cy="200025"/>
          </a:xfrm>
          <a:prstGeom prst="rect">
            <a:avLst/>
          </a:prstGeom>
          <a:ln>
            <a:noFill/>
          </a:ln>
        </p:spPr>
      </p:pic>
      <p:pic>
        <p:nvPicPr>
          <p:cNvPr id="186" name="Google Shape;164;p17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805237"/>
            <a:ext cx="95250" cy="200025"/>
          </a:xfrm>
          <a:prstGeom prst="rect">
            <a:avLst/>
          </a:prstGeom>
          <a:ln>
            <a:noFill/>
          </a:ln>
        </p:spPr>
      </p:pic>
      <p:pic>
        <p:nvPicPr>
          <p:cNvPr id="187" name="Google Shape;165;p17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262437"/>
            <a:ext cx="95250" cy="200025"/>
          </a:xfrm>
          <a:prstGeom prst="rect">
            <a:avLst/>
          </a:prstGeom>
          <a:ln>
            <a:noFill/>
          </a:ln>
        </p:spPr>
      </p:pic>
      <p:pic>
        <p:nvPicPr>
          <p:cNvPr id="188" name="Google Shape;166;p17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729162"/>
            <a:ext cx="95250" cy="200025"/>
          </a:xfrm>
          <a:prstGeom prst="rect">
            <a:avLst/>
          </a:prstGeom>
          <a:ln>
            <a:noFill/>
          </a:ln>
        </p:spPr>
      </p:pic>
      <p:sp>
        <p:nvSpPr>
          <p:cNvPr id="167" name="Google Shape;167;p17">
            <a:extLst>
              <a:ext uri="{FF2B5EF4-FFF2-40B4-BE49-F238E27FC236}">
                <a16:creationId xmlns:a16="http://schemas.microsoft.com/office/drawing/2014/main" id="{C1EEBE52-7535-4889-9FA5-E3286FD2BB76}"/>
              </a:ext>
            </a:extLst>
          </p:cNvPr>
          <p:cNvSpPr>
            <a:spLocks noGrp="1"/>
          </p:cNvSpPr>
          <p:nvPr/>
        </p:nvSpPr>
        <p:spPr>
          <a:xfrm>
            <a:off x="589472" y="1038225"/>
            <a:ext cx="1120140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cap="none">
                <a:solidFill>
                  <a:srgbClr val="005088"/>
                </a:solidFill>
                <a:latin typeface="Poppins"/>
                <a:ea typeface="Poppins"/>
                <a:cs typeface="Poppins"/>
              </a:rPr>
              <a:t>Unidad II: Conjuntos, Relaciones y Grafos</a:t>
            </a:r>
          </a:p>
        </p:txBody>
      </p:sp>
      <p:sp>
        <p:nvSpPr>
          <p:cNvPr id="168" name="Google Shape;168;p17">
            <a:extLst>
              <a:ext uri="{FF2B5EF4-FFF2-40B4-BE49-F238E27FC236}">
                <a16:creationId xmlns:a16="http://schemas.microsoft.com/office/drawing/2014/main" id="{8A352AFA-1879-4BD3-9762-650A29364137}"/>
              </a:ext>
            </a:extLst>
          </p:cNvPr>
          <p:cNvSpPr>
            <a:spLocks noGrp="1"/>
          </p:cNvSpPr>
          <p:nvPr/>
        </p:nvSpPr>
        <p:spPr>
          <a:xfrm>
            <a:off x="589472" y="180022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8633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74;p18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881312"/>
            <a:ext cx="5095875" cy="2257425"/>
          </a:xfrm>
          <a:prstGeom prst="rect">
            <a:avLst/>
          </a:prstGeom>
          <a:ln>
            <a:noFill/>
          </a:ln>
        </p:spPr>
      </p:pic>
      <p:sp>
        <p:nvSpPr>
          <p:cNvPr id="175" name="Google Shape;175;p18">
            <a:extLst>
              <a:ext uri="{FF2B5EF4-FFF2-40B4-BE49-F238E27FC236}">
                <a16:creationId xmlns:a16="http://schemas.microsoft.com/office/drawing/2014/main" id="{60FEE0C8-9B7C-4975-A498-48FE02202029}"/>
              </a:ext>
            </a:extLst>
          </p:cNvPr>
          <p:cNvSpPr>
            <a:spLocks noGrp="1"/>
          </p:cNvSpPr>
          <p:nvPr/>
        </p:nvSpPr>
        <p:spPr>
          <a:xfrm>
            <a:off x="762000" y="2881312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4" b="1" i="0" u="none" cap="none">
                <a:solidFill>
                  <a:srgbClr val="0F172A"/>
                </a:solidFill>
                <a:latin typeface="Poppins"/>
                <a:ea typeface="Poppins"/>
                <a:cs typeface="Poppins"/>
              </a:rPr>
              <a:t>Temas Clave</a:t>
            </a:r>
          </a:p>
        </p:txBody>
      </p:sp>
      <p:sp>
        <p:nvSpPr>
          <p:cNvPr id="176" name="Google Shape;176;p18">
            <a:extLst>
              <a:ext uri="{FF2B5EF4-FFF2-40B4-BE49-F238E27FC236}">
                <a16:creationId xmlns:a16="http://schemas.microsoft.com/office/drawing/2014/main" id="{476CDA4A-9B20-4AD5-91E7-9E41ECA68DE9}"/>
              </a:ext>
            </a:extLst>
          </p:cNvPr>
          <p:cNvSpPr>
            <a:spLocks noGrp="1"/>
          </p:cNvSpPr>
          <p:nvPr/>
        </p:nvSpPr>
        <p:spPr>
          <a:xfrm>
            <a:off x="6629400" y="3176587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005088"/>
                </a:solidFill>
                <a:latin typeface="Poppins"/>
                <a:ea typeface="Poppins"/>
                <a:cs typeface="Poppins"/>
              </a:rPr>
              <a:t>Aplicación en Software</a:t>
            </a:r>
          </a:p>
        </p:txBody>
      </p:sp>
      <p:sp>
        <p:nvSpPr>
          <p:cNvPr id="177" name="Google Shape;177;p18">
            <a:extLst>
              <a:ext uri="{FF2B5EF4-FFF2-40B4-BE49-F238E27FC236}">
                <a16:creationId xmlns:a16="http://schemas.microsoft.com/office/drawing/2014/main" id="{11C96698-0DCB-4C9C-BD78-A4105EC221C1}"/>
              </a:ext>
            </a:extLst>
          </p:cNvPr>
          <p:cNvSpPr>
            <a:spLocks noGrp="1"/>
          </p:cNvSpPr>
          <p:nvPr/>
        </p:nvSpPr>
        <p:spPr>
          <a:xfrm>
            <a:off x="6629400" y="3605212"/>
            <a:ext cx="450532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687298D1-80B6-4129-A720-06042AA817BB}"/>
              </a:ext>
            </a:extLst>
          </p:cNvPr>
          <p:cNvSpPr>
            <a:spLocks noGrp="1"/>
          </p:cNvSpPr>
          <p:nvPr/>
        </p:nvSpPr>
        <p:spPr>
          <a:xfrm>
            <a:off x="6629400" y="3757612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Permite entender cómo la máquina procesa números con signo, calcular la complejidad de un algoritmo (Big O) y modelar estructuras jerárquicas de datos.</a:t>
            </a:r>
          </a:p>
        </p:txBody>
      </p:sp>
      <p:sp>
        <p:nvSpPr>
          <p:cNvPr id="179" name="Google Shape;179;p18">
            <a:extLst>
              <a:ext uri="{FF2B5EF4-FFF2-40B4-BE49-F238E27FC236}">
                <a16:creationId xmlns:a16="http://schemas.microsoft.com/office/drawing/2014/main" id="{8296F33A-A4B5-44AC-9151-7CC404E86326}"/>
              </a:ext>
            </a:extLst>
          </p:cNvPr>
          <p:cNvSpPr>
            <a:spLocks noGrp="1"/>
          </p:cNvSpPr>
          <p:nvPr/>
        </p:nvSpPr>
        <p:spPr>
          <a:xfrm>
            <a:off x="1143000" y="3309937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Inducción, sucesiones y recurrencias.</a:t>
            </a:r>
          </a:p>
        </p:txBody>
      </p:sp>
      <p:sp>
        <p:nvSpPr>
          <p:cNvPr id="180" name="Google Shape;180;p18">
            <a:extLst>
              <a:ext uri="{FF2B5EF4-FFF2-40B4-BE49-F238E27FC236}">
                <a16:creationId xmlns:a16="http://schemas.microsoft.com/office/drawing/2014/main" id="{29EB506D-1D81-471C-A069-0CBF4084ACF0}"/>
              </a:ext>
            </a:extLst>
          </p:cNvPr>
          <p:cNvSpPr>
            <a:spLocks noGrp="1"/>
          </p:cNvSpPr>
          <p:nvPr/>
        </p:nvSpPr>
        <p:spPr>
          <a:xfrm>
            <a:off x="1143000" y="3767137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Principios de conteo, permutaciones y combinaciones.</a:t>
            </a:r>
          </a:p>
        </p:txBody>
      </p:sp>
      <p:sp>
        <p:nvSpPr>
          <p:cNvPr id="181" name="Google Shape;181;p18">
            <a:extLst>
              <a:ext uri="{FF2B5EF4-FFF2-40B4-BE49-F238E27FC236}">
                <a16:creationId xmlns:a16="http://schemas.microsoft.com/office/drawing/2014/main" id="{09B623B5-0C25-4E2D-A669-1ED7974391BC}"/>
              </a:ext>
            </a:extLst>
          </p:cNvPr>
          <p:cNvSpPr>
            <a:spLocks noGrp="1"/>
          </p:cNvSpPr>
          <p:nvPr/>
        </p:nvSpPr>
        <p:spPr>
          <a:xfrm>
            <a:off x="1143000" y="4224337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Sistemas Numéricos: Binario, Octal, Hexadecimal.</a:t>
            </a:r>
          </a:p>
        </p:txBody>
      </p:sp>
      <p:sp>
        <p:nvSpPr>
          <p:cNvPr id="182" name="Google Shape;182;p18">
            <a:extLst>
              <a:ext uri="{FF2B5EF4-FFF2-40B4-BE49-F238E27FC236}">
                <a16:creationId xmlns:a16="http://schemas.microsoft.com/office/drawing/2014/main" id="{6EB3B507-5EC6-4728-9E39-5B8D20901A53}"/>
              </a:ext>
            </a:extLst>
          </p:cNvPr>
          <p:cNvSpPr>
            <a:spLocks noGrp="1"/>
          </p:cNvSpPr>
          <p:nvPr/>
        </p:nvSpPr>
        <p:spPr>
          <a:xfrm>
            <a:off x="1143000" y="4681537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Árboles: definición, recorridos y aplicaciones.</a:t>
            </a:r>
          </a:p>
        </p:txBody>
      </p:sp>
      <p:pic>
        <p:nvPicPr>
          <p:cNvPr id="203" name="Google Shape;183;p18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352800"/>
            <a:ext cx="95250" cy="200025"/>
          </a:xfrm>
          <a:prstGeom prst="rect">
            <a:avLst/>
          </a:prstGeom>
          <a:ln>
            <a:noFill/>
          </a:ln>
        </p:spPr>
      </p:pic>
      <p:pic>
        <p:nvPicPr>
          <p:cNvPr id="204" name="Google Shape;184;p18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810000"/>
            <a:ext cx="95250" cy="200025"/>
          </a:xfrm>
          <a:prstGeom prst="rect">
            <a:avLst/>
          </a:prstGeom>
          <a:ln>
            <a:noFill/>
          </a:ln>
        </p:spPr>
      </p:pic>
      <p:pic>
        <p:nvPicPr>
          <p:cNvPr id="205" name="Google Shape;185;p18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267200"/>
            <a:ext cx="95250" cy="200025"/>
          </a:xfrm>
          <a:prstGeom prst="rect">
            <a:avLst/>
          </a:prstGeom>
          <a:ln>
            <a:noFill/>
          </a:ln>
        </p:spPr>
      </p:pic>
      <p:pic>
        <p:nvPicPr>
          <p:cNvPr id="206" name="Google Shape;186;p18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724400"/>
            <a:ext cx="95250" cy="200025"/>
          </a:xfrm>
          <a:prstGeom prst="rect">
            <a:avLst/>
          </a:prstGeom>
          <a:ln>
            <a:noFill/>
          </a:ln>
        </p:spPr>
      </p:pic>
      <p:sp>
        <p:nvSpPr>
          <p:cNvPr id="187" name="Google Shape;187;p18">
            <a:extLst>
              <a:ext uri="{FF2B5EF4-FFF2-40B4-BE49-F238E27FC236}">
                <a16:creationId xmlns:a16="http://schemas.microsoft.com/office/drawing/2014/main" id="{1BA92F0D-B4E5-4D7C-B989-A255BD63114C}"/>
              </a:ext>
            </a:extLst>
          </p:cNvPr>
          <p:cNvSpPr>
            <a:spLocks noGrp="1"/>
          </p:cNvSpPr>
          <p:nvPr/>
        </p:nvSpPr>
        <p:spPr>
          <a:xfrm>
            <a:off x="523875" y="990599"/>
            <a:ext cx="1120140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cap="none">
                <a:solidFill>
                  <a:srgbClr val="005088"/>
                </a:solidFill>
                <a:latin typeface="Poppins"/>
                <a:ea typeface="Poppins"/>
                <a:cs typeface="Poppins"/>
              </a:rPr>
              <a:t>Unidad III: Conteo, Sistemas Numéricos y Árboles</a:t>
            </a:r>
          </a:p>
        </p:txBody>
      </p:sp>
      <p:sp>
        <p:nvSpPr>
          <p:cNvPr id="188" name="Google Shape;188;p18">
            <a:extLst>
              <a:ext uri="{FF2B5EF4-FFF2-40B4-BE49-F238E27FC236}">
                <a16:creationId xmlns:a16="http://schemas.microsoft.com/office/drawing/2014/main" id="{92C74905-E9E2-49C9-89B9-D38964D4A58D}"/>
              </a:ext>
            </a:extLst>
          </p:cNvPr>
          <p:cNvSpPr>
            <a:spLocks noGrp="1"/>
          </p:cNvSpPr>
          <p:nvPr/>
        </p:nvSpPr>
        <p:spPr>
          <a:xfrm>
            <a:off x="523875" y="1752599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803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194;p19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881312"/>
            <a:ext cx="5095875" cy="2257425"/>
          </a:xfrm>
          <a:prstGeom prst="rect">
            <a:avLst/>
          </a:prstGeom>
          <a:ln>
            <a:noFill/>
          </a:ln>
        </p:spPr>
      </p:pic>
      <p:sp>
        <p:nvSpPr>
          <p:cNvPr id="195" name="Google Shape;195;p19">
            <a:extLst>
              <a:ext uri="{FF2B5EF4-FFF2-40B4-BE49-F238E27FC236}">
                <a16:creationId xmlns:a16="http://schemas.microsoft.com/office/drawing/2014/main" id="{E57BCAEB-7560-4C1A-8F3C-32D1E2444324}"/>
              </a:ext>
            </a:extLst>
          </p:cNvPr>
          <p:cNvSpPr>
            <a:spLocks noGrp="1"/>
          </p:cNvSpPr>
          <p:nvPr/>
        </p:nvSpPr>
        <p:spPr>
          <a:xfrm>
            <a:off x="762000" y="2881312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4" b="1" i="0" u="none" cap="none">
                <a:solidFill>
                  <a:srgbClr val="0F172A"/>
                </a:solidFill>
                <a:latin typeface="Poppins"/>
                <a:ea typeface="Poppins"/>
                <a:cs typeface="Poppins"/>
              </a:rPr>
              <a:t>Temas Clave</a:t>
            </a:r>
          </a:p>
        </p:txBody>
      </p:sp>
      <p:sp>
        <p:nvSpPr>
          <p:cNvPr id="196" name="Google Shape;196;p19">
            <a:extLst>
              <a:ext uri="{FF2B5EF4-FFF2-40B4-BE49-F238E27FC236}">
                <a16:creationId xmlns:a16="http://schemas.microsoft.com/office/drawing/2014/main" id="{461A6D55-C997-4DC2-B446-607FFD5E901F}"/>
              </a:ext>
            </a:extLst>
          </p:cNvPr>
          <p:cNvSpPr>
            <a:spLocks noGrp="1"/>
          </p:cNvSpPr>
          <p:nvPr/>
        </p:nvSpPr>
        <p:spPr>
          <a:xfrm>
            <a:off x="6629400" y="3176587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005088"/>
                </a:solidFill>
                <a:latin typeface="Poppins"/>
                <a:ea typeface="Poppins"/>
                <a:cs typeface="Poppins"/>
              </a:rPr>
              <a:t>Aplicación en Software</a:t>
            </a:r>
          </a:p>
        </p:txBody>
      </p:sp>
      <p:sp>
        <p:nvSpPr>
          <p:cNvPr id="197" name="Google Shape;197;p19">
            <a:extLst>
              <a:ext uri="{FF2B5EF4-FFF2-40B4-BE49-F238E27FC236}">
                <a16:creationId xmlns:a16="http://schemas.microsoft.com/office/drawing/2014/main" id="{FD3F8BA5-42A0-446A-89D8-C45644E46CCC}"/>
              </a:ext>
            </a:extLst>
          </p:cNvPr>
          <p:cNvSpPr>
            <a:spLocks noGrp="1"/>
          </p:cNvSpPr>
          <p:nvPr/>
        </p:nvSpPr>
        <p:spPr>
          <a:xfrm>
            <a:off x="6629400" y="3605212"/>
            <a:ext cx="450532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9">
            <a:extLst>
              <a:ext uri="{FF2B5EF4-FFF2-40B4-BE49-F238E27FC236}">
                <a16:creationId xmlns:a16="http://schemas.microsoft.com/office/drawing/2014/main" id="{08F26864-48BE-4A2C-A1BF-FCF97A1FF26E}"/>
              </a:ext>
            </a:extLst>
          </p:cNvPr>
          <p:cNvSpPr>
            <a:spLocks noGrp="1"/>
          </p:cNvSpPr>
          <p:nvPr/>
        </p:nvSpPr>
        <p:spPr>
          <a:xfrm>
            <a:off x="6629400" y="3757612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Es el puente entre el </a:t>
            </a:r>
            <a:r>
              <a:rPr sz="1500" b="1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hardware y el software</a:t>
            </a: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. Fundamental para arquitectura de computadores y optimización de microprocesadores.</a:t>
            </a:r>
          </a:p>
        </p:txBody>
      </p:sp>
      <p:sp>
        <p:nvSpPr>
          <p:cNvPr id="199" name="Google Shape;199;p19">
            <a:extLst>
              <a:ext uri="{FF2B5EF4-FFF2-40B4-BE49-F238E27FC236}">
                <a16:creationId xmlns:a16="http://schemas.microsoft.com/office/drawing/2014/main" id="{852848D1-F39F-4FC9-9983-F202F3624875}"/>
              </a:ext>
            </a:extLst>
          </p:cNvPr>
          <p:cNvSpPr>
            <a:spLocks noGrp="1"/>
          </p:cNvSpPr>
          <p:nvPr/>
        </p:nvSpPr>
        <p:spPr>
          <a:xfrm>
            <a:off x="1143000" y="3309937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Leyes del Álgebra Booleana.</a:t>
            </a:r>
          </a:p>
        </p:txBody>
      </p:sp>
      <p:sp>
        <p:nvSpPr>
          <p:cNvPr id="200" name="Google Shape;200;p19">
            <a:extLst>
              <a:ext uri="{FF2B5EF4-FFF2-40B4-BE49-F238E27FC236}">
                <a16:creationId xmlns:a16="http://schemas.microsoft.com/office/drawing/2014/main" id="{6F783D19-2C68-49C1-B76C-3402AD2B5F97}"/>
              </a:ext>
            </a:extLst>
          </p:cNvPr>
          <p:cNvSpPr>
            <a:spLocks noGrp="1"/>
          </p:cNvSpPr>
          <p:nvPr/>
        </p:nvSpPr>
        <p:spPr>
          <a:xfrm>
            <a:off x="1143000" y="3767137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Compuertas Lógicas y Circuitos Combinacionales.</a:t>
            </a:r>
          </a:p>
        </p:txBody>
      </p:sp>
      <p:sp>
        <p:nvSpPr>
          <p:cNvPr id="201" name="Google Shape;201;p19">
            <a:extLst>
              <a:ext uri="{FF2B5EF4-FFF2-40B4-BE49-F238E27FC236}">
                <a16:creationId xmlns:a16="http://schemas.microsoft.com/office/drawing/2014/main" id="{BE379D1E-1C14-4A93-AFAF-E7411635379C}"/>
              </a:ext>
            </a:extLst>
          </p:cNvPr>
          <p:cNvSpPr>
            <a:spLocks noGrp="1"/>
          </p:cNvSpPr>
          <p:nvPr/>
        </p:nvSpPr>
        <p:spPr>
          <a:xfrm>
            <a:off x="1143000" y="4224337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Mapas de Karnaugh para simplificación.</a:t>
            </a:r>
          </a:p>
        </p:txBody>
      </p:sp>
      <p:sp>
        <p:nvSpPr>
          <p:cNvPr id="202" name="Google Shape;202;p19">
            <a:extLst>
              <a:ext uri="{FF2B5EF4-FFF2-40B4-BE49-F238E27FC236}">
                <a16:creationId xmlns:a16="http://schemas.microsoft.com/office/drawing/2014/main" id="{FB8202D2-6D77-4136-A779-67865F848784}"/>
              </a:ext>
            </a:extLst>
          </p:cNvPr>
          <p:cNvSpPr>
            <a:spLocks noGrp="1"/>
          </p:cNvSpPr>
          <p:nvPr/>
        </p:nvSpPr>
        <p:spPr>
          <a:xfrm>
            <a:off x="1143000" y="4681537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Formas Canónicas: Conjuntiva y Disyuntiva.</a:t>
            </a:r>
          </a:p>
        </p:txBody>
      </p:sp>
      <p:pic>
        <p:nvPicPr>
          <p:cNvPr id="223" name="Google Shape;203;p19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352800"/>
            <a:ext cx="95250" cy="200025"/>
          </a:xfrm>
          <a:prstGeom prst="rect">
            <a:avLst/>
          </a:prstGeom>
          <a:ln>
            <a:noFill/>
          </a:ln>
        </p:spPr>
      </p:pic>
      <p:pic>
        <p:nvPicPr>
          <p:cNvPr id="224" name="Google Shape;204;p19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810000"/>
            <a:ext cx="95250" cy="200025"/>
          </a:xfrm>
          <a:prstGeom prst="rect">
            <a:avLst/>
          </a:prstGeom>
          <a:ln>
            <a:noFill/>
          </a:ln>
        </p:spPr>
      </p:pic>
      <p:pic>
        <p:nvPicPr>
          <p:cNvPr id="225" name="Google Shape;205;p19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267200"/>
            <a:ext cx="95250" cy="200025"/>
          </a:xfrm>
          <a:prstGeom prst="rect">
            <a:avLst/>
          </a:prstGeom>
          <a:ln>
            <a:noFill/>
          </a:ln>
        </p:spPr>
      </p:pic>
      <p:pic>
        <p:nvPicPr>
          <p:cNvPr id="226" name="Google Shape;206;p19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724400"/>
            <a:ext cx="95250" cy="200025"/>
          </a:xfrm>
          <a:prstGeom prst="rect">
            <a:avLst/>
          </a:prstGeom>
          <a:ln>
            <a:noFill/>
          </a:ln>
        </p:spPr>
      </p:pic>
      <p:sp>
        <p:nvSpPr>
          <p:cNvPr id="207" name="Google Shape;207;p19">
            <a:extLst>
              <a:ext uri="{FF2B5EF4-FFF2-40B4-BE49-F238E27FC236}">
                <a16:creationId xmlns:a16="http://schemas.microsoft.com/office/drawing/2014/main" id="{F26BF5B5-3044-471A-B8E8-5AA5C7049D83}"/>
              </a:ext>
            </a:extLst>
          </p:cNvPr>
          <p:cNvSpPr>
            <a:spLocks noGrp="1"/>
          </p:cNvSpPr>
          <p:nvPr/>
        </p:nvSpPr>
        <p:spPr>
          <a:xfrm>
            <a:off x="691991" y="1052512"/>
            <a:ext cx="1120140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cap="none">
                <a:solidFill>
                  <a:srgbClr val="005088"/>
                </a:solidFill>
                <a:latin typeface="Poppins"/>
                <a:ea typeface="Poppins"/>
                <a:cs typeface="Poppins"/>
              </a:rPr>
              <a:t>Unidad IV: Lógica Digital</a:t>
            </a:r>
          </a:p>
        </p:txBody>
      </p:sp>
      <p:sp>
        <p:nvSpPr>
          <p:cNvPr id="208" name="Google Shape;208;p19">
            <a:extLst>
              <a:ext uri="{FF2B5EF4-FFF2-40B4-BE49-F238E27FC236}">
                <a16:creationId xmlns:a16="http://schemas.microsoft.com/office/drawing/2014/main" id="{35DB1C2D-E5E8-4749-B061-8848D6E0FD62}"/>
              </a:ext>
            </a:extLst>
          </p:cNvPr>
          <p:cNvSpPr>
            <a:spLocks noGrp="1"/>
          </p:cNvSpPr>
          <p:nvPr/>
        </p:nvSpPr>
        <p:spPr>
          <a:xfrm>
            <a:off x="691991" y="1814512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4295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27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28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29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30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31" name="Imagen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32" name="Imagen 2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7C1AC351-EDBB-4CC0-A773-7CDA87C7D780}"/>
              </a:ext>
            </a:extLst>
          </p:cNvPr>
          <p:cNvSpPr>
            <a:spLocks noGrp="1"/>
          </p:cNvSpPr>
          <p:nvPr/>
        </p:nvSpPr>
        <p:spPr>
          <a:xfrm>
            <a:off x="882607" y="1410570"/>
            <a:ext cx="1052414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"/>
              </a:spcAft>
            </a:pPr>
            <a:r>
              <a:rPr sz="2200" b="1" i="0">
                <a:latin typeface="Times New Roman"/>
                <a:ea typeface="Times New Roman"/>
                <a:cs typeface="Times New Roman"/>
              </a:rPr>
              <a:t>Requisitos:</a:t>
            </a:r>
          </a:p>
          <a:p>
            <a:pPr>
              <a:spcAft>
                <a:spcPts val="16"/>
              </a:spcAft>
            </a:pPr>
            <a:r>
              <a:rPr sz="2400" b="1" i="0">
                <a:latin typeface="Times New Roman"/>
                <a:ea typeface="Times New Roman"/>
                <a:cs typeface="Times New Roman"/>
              </a:rPr>
              <a:t>Conocimientos de entrada:</a:t>
            </a:r>
          </a:p>
          <a:p>
            <a:pPr>
              <a:spcAft>
                <a:spcPts val="18"/>
              </a:spcAft>
            </a:pPr>
            <a:r>
              <a:rPr sz="2400" b="1" i="0">
                <a:latin typeface="Times New Roman"/>
                <a:ea typeface="Times New Roman"/>
                <a:cs typeface="Times New Roman"/>
              </a:rPr>
              <a:t>Matemáticas básicas</a:t>
            </a:r>
            <a:r>
              <a:rPr sz="2400" b="0" i="1">
                <a:latin typeface="Times New Roman"/>
                <a:ea typeface="Times New Roman"/>
                <a:cs typeface="Times New Roman"/>
              </a:rPr>
              <a:t> (aritmética, fracciones, porcentajes, potencias y álgebra elemental)</a:t>
            </a:r>
          </a:p>
          <a:p>
            <a:pPr>
              <a:spcAft>
                <a:spcPts val="18"/>
              </a:spcAft>
            </a:pPr>
            <a:r>
              <a:rPr sz="2400" b="1" i="0">
                <a:latin typeface="Times New Roman"/>
                <a:ea typeface="Times New Roman"/>
                <a:cs typeface="Times New Roman"/>
              </a:rPr>
              <a:t>Comprensión de problemas</a:t>
            </a:r>
            <a:r>
              <a:rPr sz="2400" b="0" i="1">
                <a:latin typeface="Times New Roman"/>
                <a:ea typeface="Times New Roman"/>
                <a:cs typeface="Times New Roman"/>
              </a:rPr>
              <a:t> (interpretar enunciados y explicar una respuesta con palabras)</a:t>
            </a:r>
          </a:p>
          <a:p>
            <a:pPr>
              <a:spcAft>
                <a:spcPts val="4"/>
              </a:spcAft>
            </a:pPr>
            <a:r>
              <a:rPr sz="2400" b="1" i="0">
                <a:latin typeface="Times New Roman"/>
                <a:ea typeface="Times New Roman"/>
                <a:cs typeface="Times New Roman"/>
              </a:rPr>
              <a:t>No se exige conocimiento previo</a:t>
            </a:r>
            <a:r>
              <a:rPr sz="2400" b="0" i="1">
                <a:latin typeface="Times New Roman"/>
                <a:ea typeface="Times New Roman"/>
                <a:cs typeface="Times New Roman"/>
              </a:rPr>
              <a:t> de conjuntos, lógica formal, grafos ni programación; estos contenidos se aprenderán durante el curso.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DB85D7B-98DA-6D85-FF86-977E95CFAD00}"/>
              </a:ext>
            </a:extLst>
          </p:cNvPr>
          <p:cNvSpPr>
            <a:spLocks noGrp="1"/>
          </p:cNvSpPr>
          <p:nvPr/>
        </p:nvSpPr>
        <p:spPr>
          <a:xfrm>
            <a:off x="9394201" y="-57264"/>
            <a:ext cx="55955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Times New Roman"/>
                <a:ea typeface="Times New Roman"/>
                <a:cs typeface="Times New Roman"/>
              </a:rPr>
              <a:t>Estructura del curso</a:t>
            </a:r>
          </a:p>
        </p:txBody>
      </p:sp>
    </p:spTree>
    <p:extLst>
      <p:ext uri="{BB962C8B-B14F-4D97-AF65-F5344CB8AC3E}">
        <p14:creationId xmlns:p14="http://schemas.microsoft.com/office/powerpoint/2010/main" val="1464293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6" name="Google Shape;214;p20"/>
          <p:cNvGraphicFramePr/>
          <p:nvPr/>
        </p:nvGraphicFramePr>
        <p:xfrm>
          <a:off x="762000" y="1995487"/>
          <a:ext cx="10668000" cy="4029025"/>
        </p:xfrm>
        <a:graphic>
          <a:graphicData uri="http://schemas.openxmlformats.org/drawingml/2006/table">
            <a:tbl>
              <a:tblPr firstRow="1" bandRow="1"/>
              <a:tblGrid>
                <a:gridCol w="226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1" i="0" u="none" cap="none">
                          <a:solidFill>
                            <a:srgbClr val="005088"/>
                          </a:solidFill>
                          <a:latin typeface="Lato"/>
                          <a:ea typeface="Lato"/>
                          <a:cs typeface="Lato"/>
                        </a:rPr>
                        <a:t>Evento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1" i="0" u="none" cap="none">
                          <a:solidFill>
                            <a:srgbClr val="005088"/>
                          </a:solidFill>
                          <a:latin typeface="Lato"/>
                          <a:ea typeface="Lato"/>
                          <a:cs typeface="Lato"/>
                        </a:rPr>
                        <a:t>Temática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1" i="0" u="none" cap="none">
                          <a:solidFill>
                            <a:srgbClr val="005088"/>
                          </a:solidFill>
                          <a:latin typeface="Lato"/>
                          <a:ea typeface="Lato"/>
                          <a:cs typeface="Lato"/>
                        </a:rPr>
                        <a:t>Peso (%)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1" i="0" u="none" cap="none">
                          <a:solidFill>
                            <a:srgbClr val="005088"/>
                          </a:solidFill>
                          <a:latin typeface="Lato"/>
                          <a:ea typeface="Lato"/>
                          <a:cs typeface="Lato"/>
                        </a:rPr>
                        <a:t>Fecha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i="0" u="non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Actividad #1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i="0" u="non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Lógica Proposicional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i="0" u="non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10%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i="0" u="non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28 Ago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i="0" u="non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Actividad #2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i="0" u="non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Predicados y Demostración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i="0" u="non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10%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i="0" u="non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11 Sep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i="0" u="non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Actividad #3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i="0" u="non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Conjuntos, Funciones, Relaciones y Grafos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i="0" u="non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20%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i="0" u="non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9 Oct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i="0" u="non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Actividad #4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i="0" u="non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Inducción, Sucesiones, Recurrencias y Conteo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i="0" u="non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20%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i="0" u="non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23 Oct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i="0" u="non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Actividad #5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i="0" u="non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Sistemas Numéricos y Árboles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i="0" u="non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20%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i="0" u="non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13 Nov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i="0" u="non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Actividad #6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i="0" u="non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Circuitos Lógicos (Práctica)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i="0" u="non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20%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500" b="0" i="0" u="non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</a:rPr>
                        <a:t>27 Nov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5" name="Google Shape;215;p20">
            <a:extLst>
              <a:ext uri="{FF2B5EF4-FFF2-40B4-BE49-F238E27FC236}">
                <a16:creationId xmlns:a16="http://schemas.microsoft.com/office/drawing/2014/main" id="{261EA0C4-52BE-46AF-80CA-B79DD628687C}"/>
              </a:ext>
            </a:extLst>
          </p:cNvPr>
          <p:cNvSpPr>
            <a:spLocks noGrp="1"/>
          </p:cNvSpPr>
          <p:nvPr/>
        </p:nvSpPr>
        <p:spPr>
          <a:xfrm>
            <a:off x="762000" y="2609850"/>
            <a:ext cx="2267098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0">
            <a:extLst>
              <a:ext uri="{FF2B5EF4-FFF2-40B4-BE49-F238E27FC236}">
                <a16:creationId xmlns:a16="http://schemas.microsoft.com/office/drawing/2014/main" id="{4EA21F0F-1164-427E-B5AC-E48E52A0DD9A}"/>
              </a:ext>
            </a:extLst>
          </p:cNvPr>
          <p:cNvSpPr>
            <a:spLocks noGrp="1"/>
          </p:cNvSpPr>
          <p:nvPr/>
        </p:nvSpPr>
        <p:spPr>
          <a:xfrm>
            <a:off x="3029098" y="2609850"/>
            <a:ext cx="5077717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0">
            <a:extLst>
              <a:ext uri="{FF2B5EF4-FFF2-40B4-BE49-F238E27FC236}">
                <a16:creationId xmlns:a16="http://schemas.microsoft.com/office/drawing/2014/main" id="{33FA3554-8B0F-4644-94E5-BC4C665CFB02}"/>
              </a:ext>
            </a:extLst>
          </p:cNvPr>
          <p:cNvSpPr>
            <a:spLocks noGrp="1"/>
          </p:cNvSpPr>
          <p:nvPr/>
        </p:nvSpPr>
        <p:spPr>
          <a:xfrm>
            <a:off x="8106816" y="2609850"/>
            <a:ext cx="1739056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F60FD5DD-A752-40D8-A9A5-23867584FACC}"/>
              </a:ext>
            </a:extLst>
          </p:cNvPr>
          <p:cNvSpPr>
            <a:spLocks noGrp="1"/>
          </p:cNvSpPr>
          <p:nvPr/>
        </p:nvSpPr>
        <p:spPr>
          <a:xfrm>
            <a:off x="9845873" y="2609850"/>
            <a:ext cx="1584126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4F6F779E-05BE-41B2-9CDA-72B2DEF514BC}"/>
              </a:ext>
            </a:extLst>
          </p:cNvPr>
          <p:cNvSpPr>
            <a:spLocks noGrp="1"/>
          </p:cNvSpPr>
          <p:nvPr/>
        </p:nvSpPr>
        <p:spPr>
          <a:xfrm>
            <a:off x="762000" y="3200400"/>
            <a:ext cx="22670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0">
            <a:extLst>
              <a:ext uri="{FF2B5EF4-FFF2-40B4-BE49-F238E27FC236}">
                <a16:creationId xmlns:a16="http://schemas.microsoft.com/office/drawing/2014/main" id="{8D4DF678-B7BD-4269-BF63-9CBF51DDDB8A}"/>
              </a:ext>
            </a:extLst>
          </p:cNvPr>
          <p:cNvSpPr>
            <a:spLocks noGrp="1"/>
          </p:cNvSpPr>
          <p:nvPr/>
        </p:nvSpPr>
        <p:spPr>
          <a:xfrm>
            <a:off x="3029098" y="3200400"/>
            <a:ext cx="50777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0">
            <a:extLst>
              <a:ext uri="{FF2B5EF4-FFF2-40B4-BE49-F238E27FC236}">
                <a16:creationId xmlns:a16="http://schemas.microsoft.com/office/drawing/2014/main" id="{F6D3DF0A-6430-4BCB-ABF9-90C71F959FCB}"/>
              </a:ext>
            </a:extLst>
          </p:cNvPr>
          <p:cNvSpPr>
            <a:spLocks noGrp="1"/>
          </p:cNvSpPr>
          <p:nvPr/>
        </p:nvSpPr>
        <p:spPr>
          <a:xfrm>
            <a:off x="8106816" y="3200400"/>
            <a:ext cx="17390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0">
            <a:extLst>
              <a:ext uri="{FF2B5EF4-FFF2-40B4-BE49-F238E27FC236}">
                <a16:creationId xmlns:a16="http://schemas.microsoft.com/office/drawing/2014/main" id="{AD698DBE-145B-4F13-9AB1-1EF3B173F28B}"/>
              </a:ext>
            </a:extLst>
          </p:cNvPr>
          <p:cNvSpPr>
            <a:spLocks noGrp="1"/>
          </p:cNvSpPr>
          <p:nvPr/>
        </p:nvSpPr>
        <p:spPr>
          <a:xfrm>
            <a:off x="9845873" y="3200400"/>
            <a:ext cx="15841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0">
            <a:extLst>
              <a:ext uri="{FF2B5EF4-FFF2-40B4-BE49-F238E27FC236}">
                <a16:creationId xmlns:a16="http://schemas.microsoft.com/office/drawing/2014/main" id="{263C3E7B-1DA8-485A-8344-0FFA2CD7EB56}"/>
              </a:ext>
            </a:extLst>
          </p:cNvPr>
          <p:cNvSpPr>
            <a:spLocks noGrp="1"/>
          </p:cNvSpPr>
          <p:nvPr/>
        </p:nvSpPr>
        <p:spPr>
          <a:xfrm>
            <a:off x="762000" y="3762375"/>
            <a:ext cx="22670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0">
            <a:extLst>
              <a:ext uri="{FF2B5EF4-FFF2-40B4-BE49-F238E27FC236}">
                <a16:creationId xmlns:a16="http://schemas.microsoft.com/office/drawing/2014/main" id="{CC24C041-B7A6-4007-B32A-EA350C539517}"/>
              </a:ext>
            </a:extLst>
          </p:cNvPr>
          <p:cNvSpPr>
            <a:spLocks noGrp="1"/>
          </p:cNvSpPr>
          <p:nvPr/>
        </p:nvSpPr>
        <p:spPr>
          <a:xfrm>
            <a:off x="3029098" y="3762375"/>
            <a:ext cx="50777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0">
            <a:extLst>
              <a:ext uri="{FF2B5EF4-FFF2-40B4-BE49-F238E27FC236}">
                <a16:creationId xmlns:a16="http://schemas.microsoft.com/office/drawing/2014/main" id="{4F2721E1-0588-4D0F-BD96-3943673F02E6}"/>
              </a:ext>
            </a:extLst>
          </p:cNvPr>
          <p:cNvSpPr>
            <a:spLocks noGrp="1"/>
          </p:cNvSpPr>
          <p:nvPr/>
        </p:nvSpPr>
        <p:spPr>
          <a:xfrm>
            <a:off x="8106816" y="3762375"/>
            <a:ext cx="17390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0">
            <a:extLst>
              <a:ext uri="{FF2B5EF4-FFF2-40B4-BE49-F238E27FC236}">
                <a16:creationId xmlns:a16="http://schemas.microsoft.com/office/drawing/2014/main" id="{99D4C873-1254-4E77-BC9B-26CCBDE22151}"/>
              </a:ext>
            </a:extLst>
          </p:cNvPr>
          <p:cNvSpPr>
            <a:spLocks noGrp="1"/>
          </p:cNvSpPr>
          <p:nvPr/>
        </p:nvSpPr>
        <p:spPr>
          <a:xfrm>
            <a:off x="9845873" y="3762375"/>
            <a:ext cx="15841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0">
            <a:extLst>
              <a:ext uri="{FF2B5EF4-FFF2-40B4-BE49-F238E27FC236}">
                <a16:creationId xmlns:a16="http://schemas.microsoft.com/office/drawing/2014/main" id="{42D83497-B9BC-4C66-AAB5-27AE1C39BB9D}"/>
              </a:ext>
            </a:extLst>
          </p:cNvPr>
          <p:cNvSpPr>
            <a:spLocks noGrp="1"/>
          </p:cNvSpPr>
          <p:nvPr/>
        </p:nvSpPr>
        <p:spPr>
          <a:xfrm>
            <a:off x="762000" y="4324350"/>
            <a:ext cx="22670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0">
            <a:extLst>
              <a:ext uri="{FF2B5EF4-FFF2-40B4-BE49-F238E27FC236}">
                <a16:creationId xmlns:a16="http://schemas.microsoft.com/office/drawing/2014/main" id="{CC5E5468-C740-4B0F-9D63-4F57AA9A5026}"/>
              </a:ext>
            </a:extLst>
          </p:cNvPr>
          <p:cNvSpPr>
            <a:spLocks noGrp="1"/>
          </p:cNvSpPr>
          <p:nvPr/>
        </p:nvSpPr>
        <p:spPr>
          <a:xfrm>
            <a:off x="3029098" y="4324350"/>
            <a:ext cx="50777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0">
            <a:extLst>
              <a:ext uri="{FF2B5EF4-FFF2-40B4-BE49-F238E27FC236}">
                <a16:creationId xmlns:a16="http://schemas.microsoft.com/office/drawing/2014/main" id="{EBE50D43-0AC8-45E7-A32E-91536B70B6E6}"/>
              </a:ext>
            </a:extLst>
          </p:cNvPr>
          <p:cNvSpPr>
            <a:spLocks noGrp="1"/>
          </p:cNvSpPr>
          <p:nvPr/>
        </p:nvSpPr>
        <p:spPr>
          <a:xfrm>
            <a:off x="8106816" y="4324350"/>
            <a:ext cx="17390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0">
            <a:extLst>
              <a:ext uri="{FF2B5EF4-FFF2-40B4-BE49-F238E27FC236}">
                <a16:creationId xmlns:a16="http://schemas.microsoft.com/office/drawing/2014/main" id="{303E8276-2F81-46C1-9F38-DAEEEAD94670}"/>
              </a:ext>
            </a:extLst>
          </p:cNvPr>
          <p:cNvSpPr>
            <a:spLocks noGrp="1"/>
          </p:cNvSpPr>
          <p:nvPr/>
        </p:nvSpPr>
        <p:spPr>
          <a:xfrm>
            <a:off x="9845873" y="4324350"/>
            <a:ext cx="15841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0">
            <a:extLst>
              <a:ext uri="{FF2B5EF4-FFF2-40B4-BE49-F238E27FC236}">
                <a16:creationId xmlns:a16="http://schemas.microsoft.com/office/drawing/2014/main" id="{4DFC3C27-F7C3-4FB2-BE15-752728DC2F62}"/>
              </a:ext>
            </a:extLst>
          </p:cNvPr>
          <p:cNvSpPr>
            <a:spLocks noGrp="1"/>
          </p:cNvSpPr>
          <p:nvPr/>
        </p:nvSpPr>
        <p:spPr>
          <a:xfrm>
            <a:off x="762000" y="4886325"/>
            <a:ext cx="22670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0">
            <a:extLst>
              <a:ext uri="{FF2B5EF4-FFF2-40B4-BE49-F238E27FC236}">
                <a16:creationId xmlns:a16="http://schemas.microsoft.com/office/drawing/2014/main" id="{9CB67EC4-7AED-45D5-9434-5493E6812932}"/>
              </a:ext>
            </a:extLst>
          </p:cNvPr>
          <p:cNvSpPr>
            <a:spLocks noGrp="1"/>
          </p:cNvSpPr>
          <p:nvPr/>
        </p:nvSpPr>
        <p:spPr>
          <a:xfrm>
            <a:off x="3029098" y="4886325"/>
            <a:ext cx="50777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0">
            <a:extLst>
              <a:ext uri="{FF2B5EF4-FFF2-40B4-BE49-F238E27FC236}">
                <a16:creationId xmlns:a16="http://schemas.microsoft.com/office/drawing/2014/main" id="{392396B3-4F62-411D-9969-4E9DB7D430FC}"/>
              </a:ext>
            </a:extLst>
          </p:cNvPr>
          <p:cNvSpPr>
            <a:spLocks noGrp="1"/>
          </p:cNvSpPr>
          <p:nvPr/>
        </p:nvSpPr>
        <p:spPr>
          <a:xfrm>
            <a:off x="8106816" y="4886325"/>
            <a:ext cx="17390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0">
            <a:extLst>
              <a:ext uri="{FF2B5EF4-FFF2-40B4-BE49-F238E27FC236}">
                <a16:creationId xmlns:a16="http://schemas.microsoft.com/office/drawing/2014/main" id="{4BE15692-1A56-4F91-AAAC-FCFAD764751A}"/>
              </a:ext>
            </a:extLst>
          </p:cNvPr>
          <p:cNvSpPr>
            <a:spLocks noGrp="1"/>
          </p:cNvSpPr>
          <p:nvPr/>
        </p:nvSpPr>
        <p:spPr>
          <a:xfrm>
            <a:off x="9845873" y="4886325"/>
            <a:ext cx="15841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0">
            <a:extLst>
              <a:ext uri="{FF2B5EF4-FFF2-40B4-BE49-F238E27FC236}">
                <a16:creationId xmlns:a16="http://schemas.microsoft.com/office/drawing/2014/main" id="{D006505C-CBEB-474D-B9B8-048C3EBB0873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22670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0">
            <a:extLst>
              <a:ext uri="{FF2B5EF4-FFF2-40B4-BE49-F238E27FC236}">
                <a16:creationId xmlns:a16="http://schemas.microsoft.com/office/drawing/2014/main" id="{C7DD69D7-BF43-44D0-BA9C-C44A7610E2F2}"/>
              </a:ext>
            </a:extLst>
          </p:cNvPr>
          <p:cNvSpPr>
            <a:spLocks noGrp="1"/>
          </p:cNvSpPr>
          <p:nvPr/>
        </p:nvSpPr>
        <p:spPr>
          <a:xfrm>
            <a:off x="3029098" y="5448300"/>
            <a:ext cx="50777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0">
            <a:extLst>
              <a:ext uri="{FF2B5EF4-FFF2-40B4-BE49-F238E27FC236}">
                <a16:creationId xmlns:a16="http://schemas.microsoft.com/office/drawing/2014/main" id="{CF42D07A-D8ED-41A2-AA44-AE4A172FD28E}"/>
              </a:ext>
            </a:extLst>
          </p:cNvPr>
          <p:cNvSpPr>
            <a:spLocks noGrp="1"/>
          </p:cNvSpPr>
          <p:nvPr/>
        </p:nvSpPr>
        <p:spPr>
          <a:xfrm>
            <a:off x="8106816" y="5448300"/>
            <a:ext cx="17390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0">
            <a:extLst>
              <a:ext uri="{FF2B5EF4-FFF2-40B4-BE49-F238E27FC236}">
                <a16:creationId xmlns:a16="http://schemas.microsoft.com/office/drawing/2014/main" id="{837D0CE1-E444-4747-87E9-3648C53E3A7D}"/>
              </a:ext>
            </a:extLst>
          </p:cNvPr>
          <p:cNvSpPr>
            <a:spLocks noGrp="1"/>
          </p:cNvSpPr>
          <p:nvPr/>
        </p:nvSpPr>
        <p:spPr>
          <a:xfrm>
            <a:off x="9845873" y="5448300"/>
            <a:ext cx="15841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0">
            <a:extLst>
              <a:ext uri="{FF2B5EF4-FFF2-40B4-BE49-F238E27FC236}">
                <a16:creationId xmlns:a16="http://schemas.microsoft.com/office/drawing/2014/main" id="{8B0945C9-9E2A-4D2F-AB04-88B717900B11}"/>
              </a:ext>
            </a:extLst>
          </p:cNvPr>
          <p:cNvSpPr>
            <a:spLocks noGrp="1"/>
          </p:cNvSpPr>
          <p:nvPr/>
        </p:nvSpPr>
        <p:spPr>
          <a:xfrm>
            <a:off x="762000" y="6010275"/>
            <a:ext cx="22670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0">
            <a:extLst>
              <a:ext uri="{FF2B5EF4-FFF2-40B4-BE49-F238E27FC236}">
                <a16:creationId xmlns:a16="http://schemas.microsoft.com/office/drawing/2014/main" id="{B212ADDF-4FC3-4525-93A7-D3308010471E}"/>
              </a:ext>
            </a:extLst>
          </p:cNvPr>
          <p:cNvSpPr>
            <a:spLocks noGrp="1"/>
          </p:cNvSpPr>
          <p:nvPr/>
        </p:nvSpPr>
        <p:spPr>
          <a:xfrm>
            <a:off x="3029098" y="6010275"/>
            <a:ext cx="50777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0">
            <a:extLst>
              <a:ext uri="{FF2B5EF4-FFF2-40B4-BE49-F238E27FC236}">
                <a16:creationId xmlns:a16="http://schemas.microsoft.com/office/drawing/2014/main" id="{B44FF2C7-3714-4FFA-9AF1-AB425D2B84D0}"/>
              </a:ext>
            </a:extLst>
          </p:cNvPr>
          <p:cNvSpPr>
            <a:spLocks noGrp="1"/>
          </p:cNvSpPr>
          <p:nvPr/>
        </p:nvSpPr>
        <p:spPr>
          <a:xfrm>
            <a:off x="8106816" y="6010275"/>
            <a:ext cx="17390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0">
            <a:extLst>
              <a:ext uri="{FF2B5EF4-FFF2-40B4-BE49-F238E27FC236}">
                <a16:creationId xmlns:a16="http://schemas.microsoft.com/office/drawing/2014/main" id="{997752C8-7901-4CDB-88AD-9B2A5017B9E2}"/>
              </a:ext>
            </a:extLst>
          </p:cNvPr>
          <p:cNvSpPr>
            <a:spLocks noGrp="1"/>
          </p:cNvSpPr>
          <p:nvPr/>
        </p:nvSpPr>
        <p:spPr>
          <a:xfrm>
            <a:off x="9845873" y="6010275"/>
            <a:ext cx="15841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0">
            <a:extLst>
              <a:ext uri="{FF2B5EF4-FFF2-40B4-BE49-F238E27FC236}">
                <a16:creationId xmlns:a16="http://schemas.microsoft.com/office/drawing/2014/main" id="{0358F2E1-DCD3-422A-9E8F-BA4DA7541629}"/>
              </a:ext>
            </a:extLst>
          </p:cNvPr>
          <p:cNvSpPr>
            <a:spLocks noGrp="1"/>
          </p:cNvSpPr>
          <p:nvPr/>
        </p:nvSpPr>
        <p:spPr>
          <a:xfrm>
            <a:off x="762000" y="947788"/>
            <a:ext cx="1120140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cap="none">
                <a:solidFill>
                  <a:srgbClr val="005088"/>
                </a:solidFill>
                <a:latin typeface="Poppins"/>
                <a:ea typeface="Poppins"/>
                <a:cs typeface="Poppins"/>
              </a:rPr>
              <a:t>Plan Evaluativo (Compromiso Académico)</a:t>
            </a:r>
          </a:p>
        </p:txBody>
      </p:sp>
      <p:sp>
        <p:nvSpPr>
          <p:cNvPr id="244" name="Google Shape;244;p20">
            <a:extLst>
              <a:ext uri="{FF2B5EF4-FFF2-40B4-BE49-F238E27FC236}">
                <a16:creationId xmlns:a16="http://schemas.microsoft.com/office/drawing/2014/main" id="{E50B5361-95A6-4750-8181-184C401BD1E6}"/>
              </a:ext>
            </a:extLst>
          </p:cNvPr>
          <p:cNvSpPr>
            <a:spLocks noGrp="1"/>
          </p:cNvSpPr>
          <p:nvPr/>
        </p:nvSpPr>
        <p:spPr>
          <a:xfrm>
            <a:off x="762000" y="1709788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8592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26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27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28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29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30" name="Imagen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31" name="Imagen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32" name="Imagen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33" name="Imagen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4" name="Imagen 2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94C59938-632A-A591-1E28-B687B7AEE385}"/>
              </a:ext>
            </a:extLst>
          </p:cNvPr>
          <p:cNvSpPr>
            <a:spLocks noGrp="1"/>
          </p:cNvSpPr>
          <p:nvPr/>
        </p:nvSpPr>
        <p:spPr>
          <a:xfrm>
            <a:off x="314160" y="1414545"/>
            <a:ext cx="1156368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"/>
              </a:spcAft>
            </a:pPr>
            <a:r>
              <a:rPr sz="2800" b="1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Nota </a:t>
            </a:r>
            <a:r>
              <a:rPr sz="2800" b="1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importante</a:t>
            </a:r>
            <a:r>
              <a:rPr sz="2800" b="1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  <a:endParaRPr lang="es-ES" sz="2800" b="1" i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spcAft>
                <a:spcPts val="16"/>
              </a:spcAft>
            </a:pPr>
            <a:endParaRPr sz="2800" b="1" i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2">
              <a:spcAft>
                <a:spcPts val="10"/>
              </a:spcAft>
            </a:pPr>
            <a:r>
              <a:rPr sz="2000" b="1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En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cada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sesión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presencial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el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docente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brindará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los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elementos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conceptuales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necesarios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para el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desarrollo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normal del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curso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s-ES" sz="2000" b="0" i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2">
              <a:spcAft>
                <a:spcPts val="10"/>
              </a:spcAft>
            </a:pPr>
            <a:endParaRPr sz="2000" b="0" i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2">
              <a:spcAft>
                <a:spcPts val="10"/>
              </a:spcAft>
            </a:pPr>
            <a:r>
              <a:rPr sz="2000" b="1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2.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Cada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sesión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tiene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asignado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un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trabajo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independiente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se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desarrollará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por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fuera del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horario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establecido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para la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clase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s-ES" sz="2000" b="0" i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2">
              <a:spcAft>
                <a:spcPts val="10"/>
              </a:spcAft>
            </a:pPr>
            <a:endParaRPr sz="2000" b="0" i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2">
              <a:spcAft>
                <a:spcPts val="10"/>
              </a:spcAft>
            </a:pPr>
            <a:r>
              <a:rPr sz="2000" b="1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La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evaluación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se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realizará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acuerdo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con el numeral 4 del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compromiso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Las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evaluaciones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escritas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del 20 %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serán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individuales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El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estudiante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deberá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identificarse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con el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carné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;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después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 quince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minutos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no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podrá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ingresar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y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deberá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solicitar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supletorio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cumple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los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requisitos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institucionales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s-ES" sz="2000" b="0" i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2">
              <a:spcAft>
                <a:spcPts val="10"/>
              </a:spcAft>
            </a:pPr>
            <a:endParaRPr sz="2000" b="0" i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2">
              <a:spcAft>
                <a:spcPts val="4"/>
              </a:spcAft>
            </a:pPr>
            <a:r>
              <a:rPr sz="2000" b="1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4.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Los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celulares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deben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permanecer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silencio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durante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las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clases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y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apagados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durante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las </a:t>
            </a:r>
            <a:r>
              <a:rPr sz="20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evaluaciones</a:t>
            </a:r>
            <a:r>
              <a:rPr sz="20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60A21F5-9E57-3885-E25C-2A751A51620B}"/>
              </a:ext>
            </a:extLst>
          </p:cNvPr>
          <p:cNvSpPr>
            <a:spLocks noGrp="1"/>
          </p:cNvSpPr>
          <p:nvPr/>
        </p:nvSpPr>
        <p:spPr>
          <a:xfrm>
            <a:off x="9394201" y="-57264"/>
            <a:ext cx="55955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Times New Roman"/>
                <a:ea typeface="Times New Roman"/>
                <a:cs typeface="Times New Roman"/>
              </a:rPr>
              <a:t>Estructura del curso</a:t>
            </a:r>
          </a:p>
        </p:txBody>
      </p:sp>
    </p:spTree>
    <p:extLst>
      <p:ext uri="{BB962C8B-B14F-4D97-AF65-F5344CB8AC3E}">
        <p14:creationId xmlns:p14="http://schemas.microsoft.com/office/powerpoint/2010/main" val="3855335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26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27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28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29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30" name="Imagen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31" name="Imagen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32" name="Imagen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33" name="Imagen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4" name="Imagen 2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94C59938-632A-A591-1E28-B687B7AEE385}"/>
              </a:ext>
            </a:extLst>
          </p:cNvPr>
          <p:cNvSpPr>
            <a:spLocks noGrp="1"/>
          </p:cNvSpPr>
          <p:nvPr/>
        </p:nvSpPr>
        <p:spPr>
          <a:xfrm>
            <a:off x="314160" y="1414545"/>
            <a:ext cx="1156368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Cuidado!</a:t>
            </a:r>
          </a:p>
          <a:p>
            <a:endParaRPr sz="22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buChar char="•"/>
            </a:pPr>
            <a:r>
              <a:rPr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Asistencia: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Clases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presenciales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 </a:t>
            </a:r>
            <a:r>
              <a:rPr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menos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se </a:t>
            </a:r>
            <a:r>
              <a:rPr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indique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lo </a:t>
            </a:r>
            <a:r>
              <a:rPr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contrario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mínimo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80% de </a:t>
            </a:r>
            <a:r>
              <a:rPr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asistencia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</a:t>
            </a:r>
          </a:p>
          <a:p>
            <a:pPr marL="342900" indent="-342900">
              <a:buChar char="•"/>
            </a:pPr>
            <a:endParaRPr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buChar char="•"/>
            </a:pPr>
            <a:r>
              <a:rPr sz="24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Evaluaciones</a:t>
            </a:r>
            <a:r>
              <a:rPr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No se </a:t>
            </a:r>
            <a:r>
              <a:rPr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aceptan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entregas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tardías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Copia o </a:t>
            </a:r>
            <a:r>
              <a:rPr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plagio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= </a:t>
            </a:r>
            <a:r>
              <a:rPr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calificación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cero.</a:t>
            </a:r>
          </a:p>
          <a:p>
            <a:pPr marL="342900" indent="-342900">
              <a:buChar char="•"/>
            </a:pPr>
            <a:endParaRPr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buChar char="•"/>
            </a:pPr>
            <a:r>
              <a:rPr sz="24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Comportamiento</a:t>
            </a:r>
            <a:r>
              <a:rPr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Respeto </a:t>
            </a:r>
            <a:r>
              <a:rPr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clase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No </a:t>
            </a:r>
            <a:r>
              <a:rPr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distracciones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con </a:t>
            </a:r>
            <a:r>
              <a:rPr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celulares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 laptops.</a:t>
            </a:r>
          </a:p>
          <a:p>
            <a:pPr marL="342900" indent="-342900">
              <a:buChar char="•"/>
            </a:pPr>
            <a:endParaRPr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buChar char="•"/>
            </a:pPr>
            <a:r>
              <a:rPr sz="24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Comunicación</a:t>
            </a:r>
            <a:r>
              <a:rPr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Material </a:t>
            </a:r>
            <a:r>
              <a:rPr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plataforma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Por el </a:t>
            </a:r>
            <a:r>
              <a:rPr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correo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institucional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342900" indent="-342900">
              <a:buChar char="•"/>
            </a:pPr>
            <a:endParaRPr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buChar char="•"/>
            </a:pPr>
            <a:r>
              <a:rPr sz="24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Justificaciones</a:t>
            </a:r>
            <a:r>
              <a:rPr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Notificar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faltas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con </a:t>
            </a:r>
            <a:r>
              <a:rPr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documentos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máx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3 días </a:t>
            </a:r>
            <a:r>
              <a:rPr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hábiles</a:t>
            </a:r>
            <a:r>
              <a:rPr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514350" indent="-514350">
              <a:buAutoNum type="arabicPeriod"/>
            </a:pPr>
            <a:endParaRPr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514350" indent="-514350">
              <a:buAutoNum type="arabicPeriod"/>
            </a:pPr>
            <a:endParaRPr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60A21F5-9E57-3885-E25C-2A751A51620B}"/>
              </a:ext>
            </a:extLst>
          </p:cNvPr>
          <p:cNvSpPr>
            <a:spLocks noGrp="1"/>
          </p:cNvSpPr>
          <p:nvPr/>
        </p:nvSpPr>
        <p:spPr>
          <a:xfrm>
            <a:off x="9394201" y="-57264"/>
            <a:ext cx="55955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Times New Roman"/>
                <a:ea typeface="Times New Roman"/>
                <a:cs typeface="Times New Roman"/>
              </a:rPr>
              <a:t>Estructura del curso</a:t>
            </a:r>
          </a:p>
        </p:txBody>
      </p:sp>
    </p:spTree>
    <p:extLst>
      <p:ext uri="{BB962C8B-B14F-4D97-AF65-F5344CB8AC3E}">
        <p14:creationId xmlns:p14="http://schemas.microsoft.com/office/powerpoint/2010/main" val="972783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66;p22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676525"/>
            <a:ext cx="3397299" cy="2667000"/>
          </a:xfrm>
          <a:prstGeom prst="rect">
            <a:avLst/>
          </a:prstGeom>
          <a:ln>
            <a:noFill/>
          </a:ln>
        </p:spPr>
      </p:pic>
      <p:pic>
        <p:nvPicPr>
          <p:cNvPr id="290" name="Google Shape;267;p22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7424" y="2676525"/>
            <a:ext cx="3397299" cy="2667000"/>
          </a:xfrm>
          <a:prstGeom prst="rect">
            <a:avLst/>
          </a:prstGeom>
          <a:ln>
            <a:noFill/>
          </a:ln>
        </p:spPr>
      </p:pic>
      <p:pic>
        <p:nvPicPr>
          <p:cNvPr id="291" name="Google Shape;268;p22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32849" y="2676525"/>
            <a:ext cx="3397299" cy="2667000"/>
          </a:xfrm>
          <a:prstGeom prst="rect">
            <a:avLst/>
          </a:prstGeom>
          <a:ln>
            <a:noFill/>
          </a:ln>
        </p:spPr>
      </p:pic>
      <p:pic>
        <p:nvPicPr>
          <p:cNvPr id="292" name="Google Shape;269;p22"/>
          <p:cNvPicPr>
            <a:picLocks noChangeAspect="1"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2971800"/>
            <a:ext cx="476250" cy="381000"/>
          </a:xfrm>
          <a:prstGeom prst="rect">
            <a:avLst/>
          </a:prstGeom>
          <a:ln>
            <a:noFill/>
          </a:ln>
        </p:spPr>
      </p:pic>
      <p:sp>
        <p:nvSpPr>
          <p:cNvPr id="270" name="Google Shape;270;p22">
            <a:extLst>
              <a:ext uri="{FF2B5EF4-FFF2-40B4-BE49-F238E27FC236}">
                <a16:creationId xmlns:a16="http://schemas.microsoft.com/office/drawing/2014/main" id="{5D0027BC-21A7-4BFD-939C-F3DC5303C8C5}"/>
              </a:ext>
            </a:extLst>
          </p:cNvPr>
          <p:cNvSpPr>
            <a:spLocks noGrp="1"/>
          </p:cNvSpPr>
          <p:nvPr/>
        </p:nvSpPr>
        <p:spPr>
          <a:xfrm>
            <a:off x="1057275" y="3495675"/>
            <a:ext cx="29470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005088"/>
                </a:solidFill>
                <a:latin typeface="Poppins"/>
                <a:ea typeface="Poppins"/>
                <a:cs typeface="Poppins"/>
              </a:rPr>
              <a:t>SIGA y Apoyo</a:t>
            </a:r>
          </a:p>
        </p:txBody>
      </p:sp>
      <p:sp>
        <p:nvSpPr>
          <p:cNvPr id="271" name="Google Shape;271;p22">
            <a:extLst>
              <a:ext uri="{FF2B5EF4-FFF2-40B4-BE49-F238E27FC236}">
                <a16:creationId xmlns:a16="http://schemas.microsoft.com/office/drawing/2014/main" id="{E4EF09F1-CFBD-418F-B19A-76740022C7B6}"/>
              </a:ext>
            </a:extLst>
          </p:cNvPr>
          <p:cNvSpPr>
            <a:spLocks noGrp="1"/>
          </p:cNvSpPr>
          <p:nvPr/>
        </p:nvSpPr>
        <p:spPr>
          <a:xfrm>
            <a:off x="1057275" y="3924300"/>
            <a:ext cx="280674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2">
            <a:extLst>
              <a:ext uri="{FF2B5EF4-FFF2-40B4-BE49-F238E27FC236}">
                <a16:creationId xmlns:a16="http://schemas.microsoft.com/office/drawing/2014/main" id="{BA94CA21-D1D0-4BDA-A0A4-BF187E3DA7F1}"/>
              </a:ext>
            </a:extLst>
          </p:cNvPr>
          <p:cNvSpPr>
            <a:spLocks noGrp="1"/>
          </p:cNvSpPr>
          <p:nvPr/>
        </p:nvSpPr>
        <p:spPr>
          <a:xfrm>
            <a:off x="1057275" y="4076700"/>
            <a:ext cx="28067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Usa las tutorías del SIGA si tienes dudas en los fundamentos matemáticos.</a:t>
            </a:r>
          </a:p>
        </p:txBody>
      </p:sp>
      <p:pic>
        <p:nvPicPr>
          <p:cNvPr id="296" name="Google Shape;273;p22"/>
          <p:cNvPicPr>
            <a:picLocks noChangeAspect="1"/>
          </p:cNvPicPr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92699" y="2971800"/>
            <a:ext cx="381000" cy="381000"/>
          </a:xfrm>
          <a:prstGeom prst="rect">
            <a:avLst/>
          </a:prstGeom>
          <a:ln>
            <a:noFill/>
          </a:ln>
        </p:spPr>
      </p:pic>
      <p:sp>
        <p:nvSpPr>
          <p:cNvPr id="274" name="Google Shape;274;p22">
            <a:extLst>
              <a:ext uri="{FF2B5EF4-FFF2-40B4-BE49-F238E27FC236}">
                <a16:creationId xmlns:a16="http://schemas.microsoft.com/office/drawing/2014/main" id="{A35A6A6C-3435-47CA-80C6-B313E0EE5CA5}"/>
              </a:ext>
            </a:extLst>
          </p:cNvPr>
          <p:cNvSpPr>
            <a:spLocks noGrp="1"/>
          </p:cNvSpPr>
          <p:nvPr/>
        </p:nvSpPr>
        <p:spPr>
          <a:xfrm>
            <a:off x="4692699" y="3495675"/>
            <a:ext cx="29470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005088"/>
                </a:solidFill>
                <a:latin typeface="Poppins"/>
                <a:ea typeface="Poppins"/>
                <a:cs typeface="Poppins"/>
              </a:rPr>
              <a:t>Práctica Diaria</a:t>
            </a:r>
          </a:p>
        </p:txBody>
      </p:sp>
      <p:sp>
        <p:nvSpPr>
          <p:cNvPr id="275" name="Google Shape;275;p22">
            <a:extLst>
              <a:ext uri="{FF2B5EF4-FFF2-40B4-BE49-F238E27FC236}">
                <a16:creationId xmlns:a16="http://schemas.microsoft.com/office/drawing/2014/main" id="{963BEA1A-BC38-42CB-8FD1-482780718408}"/>
              </a:ext>
            </a:extLst>
          </p:cNvPr>
          <p:cNvSpPr>
            <a:spLocks noGrp="1"/>
          </p:cNvSpPr>
          <p:nvPr/>
        </p:nvSpPr>
        <p:spPr>
          <a:xfrm>
            <a:off x="4692699" y="3924300"/>
            <a:ext cx="280674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2">
            <a:extLst>
              <a:ext uri="{FF2B5EF4-FFF2-40B4-BE49-F238E27FC236}">
                <a16:creationId xmlns:a16="http://schemas.microsoft.com/office/drawing/2014/main" id="{98798617-ED50-43D8-9FCC-E7FCDA61A446}"/>
              </a:ext>
            </a:extLst>
          </p:cNvPr>
          <p:cNvSpPr>
            <a:spLocks noGrp="1"/>
          </p:cNvSpPr>
          <p:nvPr/>
        </p:nvSpPr>
        <p:spPr>
          <a:xfrm>
            <a:off x="4692699" y="4076700"/>
            <a:ext cx="2806749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Esta materia se gana "rayando papel". Resuelve los talleres.</a:t>
            </a:r>
          </a:p>
        </p:txBody>
      </p:sp>
      <p:pic>
        <p:nvPicPr>
          <p:cNvPr id="300" name="Google Shape;277;p22"/>
          <p:cNvPicPr>
            <a:picLocks noChangeAspect="1"/>
          </p:cNvPicPr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28124" y="2971800"/>
            <a:ext cx="476250" cy="381000"/>
          </a:xfrm>
          <a:prstGeom prst="rect">
            <a:avLst/>
          </a:prstGeom>
          <a:ln>
            <a:noFill/>
          </a:ln>
        </p:spPr>
      </p:pic>
      <p:sp>
        <p:nvSpPr>
          <p:cNvPr id="278" name="Google Shape;278;p22">
            <a:extLst>
              <a:ext uri="{FF2B5EF4-FFF2-40B4-BE49-F238E27FC236}">
                <a16:creationId xmlns:a16="http://schemas.microsoft.com/office/drawing/2014/main" id="{85F7D68E-9362-4764-A418-4B0C307C51AB}"/>
              </a:ext>
            </a:extLst>
          </p:cNvPr>
          <p:cNvSpPr>
            <a:spLocks noGrp="1"/>
          </p:cNvSpPr>
          <p:nvPr/>
        </p:nvSpPr>
        <p:spPr>
          <a:xfrm>
            <a:off x="8328124" y="3495675"/>
            <a:ext cx="29470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005088"/>
                </a:solidFill>
                <a:latin typeface="Poppins"/>
                <a:ea typeface="Poppins"/>
                <a:cs typeface="Poppins"/>
              </a:rPr>
              <a:t>Canales Teams</a:t>
            </a:r>
          </a:p>
        </p:txBody>
      </p:sp>
      <p:sp>
        <p:nvSpPr>
          <p:cNvPr id="279" name="Google Shape;279;p22">
            <a:extLst>
              <a:ext uri="{FF2B5EF4-FFF2-40B4-BE49-F238E27FC236}">
                <a16:creationId xmlns:a16="http://schemas.microsoft.com/office/drawing/2014/main" id="{FDC3E37C-F778-4DA9-BD7E-3AA3D9AB3517}"/>
              </a:ext>
            </a:extLst>
          </p:cNvPr>
          <p:cNvSpPr>
            <a:spLocks noGrp="1"/>
          </p:cNvSpPr>
          <p:nvPr/>
        </p:nvSpPr>
        <p:spPr>
          <a:xfrm>
            <a:off x="8328124" y="3924300"/>
            <a:ext cx="280674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2">
            <a:extLst>
              <a:ext uri="{FF2B5EF4-FFF2-40B4-BE49-F238E27FC236}">
                <a16:creationId xmlns:a16="http://schemas.microsoft.com/office/drawing/2014/main" id="{2C109516-50B1-412F-AE8B-2122CC590E39}"/>
              </a:ext>
            </a:extLst>
          </p:cNvPr>
          <p:cNvSpPr>
            <a:spLocks noGrp="1"/>
          </p:cNvSpPr>
          <p:nvPr/>
        </p:nvSpPr>
        <p:spPr>
          <a:xfrm>
            <a:off x="8328124" y="4076700"/>
            <a:ext cx="28067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334155"/>
                </a:solidFill>
                <a:latin typeface="Lato"/>
                <a:ea typeface="Lato"/>
                <a:cs typeface="Lato"/>
              </a:rPr>
              <a:t>Consulta dudas en el grupo de Microsoft Teams antes de las evaluaciones.</a:t>
            </a:r>
          </a:p>
        </p:txBody>
      </p:sp>
      <p:sp>
        <p:nvSpPr>
          <p:cNvPr id="281" name="Google Shape;281;p22">
            <a:extLst>
              <a:ext uri="{FF2B5EF4-FFF2-40B4-BE49-F238E27FC236}">
                <a16:creationId xmlns:a16="http://schemas.microsoft.com/office/drawing/2014/main" id="{281FBACD-A293-4D49-B49C-09829079821A}"/>
              </a:ext>
            </a:extLst>
          </p:cNvPr>
          <p:cNvSpPr>
            <a:spLocks noGrp="1"/>
          </p:cNvSpPr>
          <p:nvPr/>
        </p:nvSpPr>
        <p:spPr>
          <a:xfrm>
            <a:off x="762000" y="1095375"/>
            <a:ext cx="1120140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cap="none">
                <a:solidFill>
                  <a:srgbClr val="005088"/>
                </a:solidFill>
                <a:latin typeface="Poppins"/>
                <a:ea typeface="Poppins"/>
                <a:cs typeface="Poppins"/>
              </a:rPr>
              <a:t>Estrategias para Aprobar</a:t>
            </a:r>
          </a:p>
        </p:txBody>
      </p:sp>
      <p:sp>
        <p:nvSpPr>
          <p:cNvPr id="282" name="Google Shape;282;p22">
            <a:extLst>
              <a:ext uri="{FF2B5EF4-FFF2-40B4-BE49-F238E27FC236}">
                <a16:creationId xmlns:a16="http://schemas.microsoft.com/office/drawing/2014/main" id="{EA78784F-EFC0-4D73-94D9-ED42FF068C1D}"/>
              </a:ext>
            </a:extLst>
          </p:cNvPr>
          <p:cNvSpPr>
            <a:spLocks noGrp="1"/>
          </p:cNvSpPr>
          <p:nvPr/>
        </p:nvSpPr>
        <p:spPr>
          <a:xfrm>
            <a:off x="762000" y="1857375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9085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26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27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28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29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30" name="Imagen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31" name="Imagen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32" name="Imagen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33" name="Imagen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4" name="Imagen 2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94C59938-632A-A591-1E28-B687B7AEE385}"/>
              </a:ext>
            </a:extLst>
          </p:cNvPr>
          <p:cNvSpPr>
            <a:spLocks noGrp="1"/>
          </p:cNvSpPr>
          <p:nvPr/>
        </p:nvSpPr>
        <p:spPr>
          <a:xfrm>
            <a:off x="177718" y="1652433"/>
            <a:ext cx="11563680" cy="44935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2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Honestidad</a:t>
            </a:r>
            <a:r>
              <a:rPr sz="2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2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académica</a:t>
            </a:r>
            <a:r>
              <a:rPr sz="22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</a:p>
          <a:p>
            <a:endParaRPr sz="22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514350" indent="-514350">
              <a:buAutoNum type="arabicPeriod"/>
            </a:pPr>
            <a:r>
              <a:rPr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Utilizar</a:t>
            </a:r>
            <a:r>
              <a:rPr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herramientas</a:t>
            </a:r>
            <a:r>
              <a:rPr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 </a:t>
            </a:r>
            <a:r>
              <a:rPr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Inteligencia</a:t>
            </a:r>
            <a:r>
              <a:rPr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Artificial, </a:t>
            </a:r>
            <a:r>
              <a:rPr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como</a:t>
            </a:r>
            <a:r>
              <a:rPr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ChatGPT, </a:t>
            </a:r>
            <a:r>
              <a:rPr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Geminy</a:t>
            </a:r>
            <a:r>
              <a:rPr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etc</a:t>
            </a:r>
            <a:r>
              <a:rPr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para </a:t>
            </a:r>
            <a:r>
              <a:rPr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crear</a:t>
            </a:r>
            <a:r>
              <a:rPr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 </a:t>
            </a:r>
            <a:r>
              <a:rPr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editar</a:t>
            </a:r>
            <a:r>
              <a:rPr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</a:t>
            </a:r>
            <a:r>
              <a:rPr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trabajo</a:t>
            </a:r>
            <a:r>
              <a:rPr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y </a:t>
            </a:r>
            <a:r>
              <a:rPr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presentarlo</a:t>
            </a:r>
            <a:r>
              <a:rPr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como</a:t>
            </a:r>
            <a:r>
              <a:rPr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propio</a:t>
            </a:r>
            <a:r>
              <a:rPr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514350" indent="-514350">
              <a:buAutoNum type="arabicPeriod"/>
            </a:pPr>
            <a:endParaRPr sz="2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514350" indent="-514350">
              <a:buAutoNum type="arabicPeriod"/>
            </a:pPr>
            <a:r>
              <a:rPr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 </a:t>
            </a:r>
            <a:r>
              <a:rPr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hacer</a:t>
            </a:r>
            <a:r>
              <a:rPr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copia</a:t>
            </a:r>
            <a:r>
              <a:rPr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 </a:t>
            </a:r>
            <a:r>
              <a:rPr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respuestas</a:t>
            </a:r>
            <a:r>
              <a:rPr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 sus </a:t>
            </a:r>
            <a:r>
              <a:rPr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compañeros</a:t>
            </a:r>
            <a:r>
              <a:rPr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del </a:t>
            </a:r>
            <a:r>
              <a:rPr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curso</a:t>
            </a:r>
            <a:r>
              <a:rPr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514350" indent="-514350">
              <a:buAutoNum type="arabicPeriod"/>
            </a:pPr>
            <a:endParaRPr sz="2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514350" indent="-514350">
              <a:buAutoNum type="arabicPeriod"/>
            </a:pPr>
            <a:r>
              <a:rPr sz="2200" b="0" i="0" dirty="0">
                <a:solidFill>
                  <a:srgbClr val="1F1F1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 </a:t>
            </a:r>
            <a:r>
              <a:rPr sz="2200" b="0" i="0" dirty="0" err="1">
                <a:solidFill>
                  <a:srgbClr val="1F1F1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Emplear</a:t>
            </a:r>
            <a:r>
              <a:rPr sz="2200" b="0" i="0" dirty="0">
                <a:solidFill>
                  <a:srgbClr val="1F1F1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 </a:t>
            </a:r>
            <a:r>
              <a:rPr sz="2200" b="0" i="0" dirty="0" err="1">
                <a:solidFill>
                  <a:srgbClr val="1F1F1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permitir</a:t>
            </a:r>
            <a:r>
              <a:rPr sz="2200" b="0" i="0" dirty="0">
                <a:solidFill>
                  <a:srgbClr val="1F1F1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200" b="0" i="0" dirty="0" err="1">
                <a:solidFill>
                  <a:srgbClr val="1F1F1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</a:t>
            </a:r>
            <a:r>
              <a:rPr sz="2200" b="0" i="0" dirty="0">
                <a:solidFill>
                  <a:srgbClr val="1F1F1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200" b="0" i="0" dirty="0" err="1">
                <a:solidFill>
                  <a:srgbClr val="1F1F1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otra</a:t>
            </a:r>
            <a:r>
              <a:rPr sz="2200" b="0" i="0" dirty="0">
                <a:solidFill>
                  <a:srgbClr val="1F1F1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persona </a:t>
            </a:r>
            <a:r>
              <a:rPr sz="2200" b="0" i="0" dirty="0" err="1">
                <a:solidFill>
                  <a:srgbClr val="1F1F1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altere</a:t>
            </a:r>
            <a:r>
              <a:rPr sz="2200" b="0" i="0" dirty="0">
                <a:solidFill>
                  <a:srgbClr val="1F1F1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 revise </a:t>
            </a:r>
            <a:r>
              <a:rPr sz="2200" b="0" i="0" dirty="0" err="1">
                <a:solidFill>
                  <a:srgbClr val="1F1F1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</a:t>
            </a:r>
            <a:r>
              <a:rPr sz="2200" b="0" i="0" dirty="0">
                <a:solidFill>
                  <a:srgbClr val="1F1F1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200" b="0" i="0" dirty="0" err="1">
                <a:solidFill>
                  <a:srgbClr val="1F1F1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trabajo</a:t>
            </a:r>
            <a:r>
              <a:rPr sz="2200" b="0" i="0" dirty="0">
                <a:solidFill>
                  <a:srgbClr val="1F1F1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y luego </a:t>
            </a:r>
            <a:r>
              <a:rPr sz="2200" b="0" i="0" dirty="0" err="1">
                <a:solidFill>
                  <a:srgbClr val="1F1F1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presentarlo</a:t>
            </a:r>
            <a:r>
              <a:rPr sz="2200" b="0" i="0" dirty="0">
                <a:solidFill>
                  <a:srgbClr val="1F1F1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200" b="0" i="0" dirty="0" err="1">
                <a:solidFill>
                  <a:srgbClr val="1F1F1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como</a:t>
            </a:r>
            <a:r>
              <a:rPr sz="2200" b="0" i="0" dirty="0">
                <a:solidFill>
                  <a:srgbClr val="1F1F1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200" b="0" i="0" dirty="0" err="1">
                <a:solidFill>
                  <a:srgbClr val="1F1F1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propio</a:t>
            </a:r>
            <a:r>
              <a:rPr sz="2200" b="0" i="0" dirty="0">
                <a:solidFill>
                  <a:srgbClr val="1F1F1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(se </a:t>
            </a:r>
            <a:r>
              <a:rPr sz="2200" b="0" i="0" dirty="0" err="1">
                <a:solidFill>
                  <a:srgbClr val="1F1F1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calificara</a:t>
            </a:r>
            <a:r>
              <a:rPr sz="2200" b="0" i="0" dirty="0">
                <a:solidFill>
                  <a:srgbClr val="1F1F1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con 0.0 sin </a:t>
            </a:r>
            <a:r>
              <a:rPr sz="2200" b="0" i="0" dirty="0" err="1">
                <a:solidFill>
                  <a:srgbClr val="1F1F1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excepción</a:t>
            </a:r>
            <a:r>
              <a:rPr sz="2200" b="0" i="0" dirty="0">
                <a:solidFill>
                  <a:srgbClr val="1F1F1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</a:p>
          <a:p>
            <a:pPr marL="514350" indent="-514350">
              <a:buAutoNum type="arabicPeriod"/>
            </a:pPr>
            <a:endParaRPr sz="2200" b="0" i="0" dirty="0">
              <a:solidFill>
                <a:srgbClr val="1F1F1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sz="2200" b="0" i="0" dirty="0">
              <a:solidFill>
                <a:srgbClr val="1F1F1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>
              <a:buChar char="•"/>
            </a:pPr>
            <a:endParaRPr sz="2200" b="0" i="0" dirty="0">
              <a:solidFill>
                <a:srgbClr val="1F1F1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sz="2200" b="0" i="0" dirty="0">
              <a:solidFill>
                <a:srgbClr val="1F1F1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8DC3829-B24B-C9C5-BA3C-B3DDEE57BACD}"/>
              </a:ext>
            </a:extLst>
          </p:cNvPr>
          <p:cNvSpPr>
            <a:spLocks noGrp="1"/>
          </p:cNvSpPr>
          <p:nvPr/>
        </p:nvSpPr>
        <p:spPr>
          <a:xfrm>
            <a:off x="9394201" y="-57264"/>
            <a:ext cx="55955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Times New Roman"/>
                <a:ea typeface="Times New Roman"/>
                <a:cs typeface="Times New Roman"/>
              </a:rPr>
              <a:t>Estructura del curso</a:t>
            </a:r>
          </a:p>
        </p:txBody>
      </p:sp>
    </p:spTree>
    <p:extLst>
      <p:ext uri="{BB962C8B-B14F-4D97-AF65-F5344CB8AC3E}">
        <p14:creationId xmlns:p14="http://schemas.microsoft.com/office/powerpoint/2010/main" val="3588553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26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27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28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29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30" name="Imagen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31" name="Imagen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32" name="Imagen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33" name="Imagen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4" name="Imagen 2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94C59938-632A-A591-1E28-B687B7AEE385}"/>
              </a:ext>
            </a:extLst>
          </p:cNvPr>
          <p:cNvSpPr>
            <a:spLocks noGrp="1"/>
          </p:cNvSpPr>
          <p:nvPr/>
        </p:nvSpPr>
        <p:spPr>
          <a:xfrm>
            <a:off x="314160" y="1331629"/>
            <a:ext cx="115636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latin typeface="Times New Roman"/>
                <a:ea typeface="Times New Roman"/>
                <a:cs typeface="Times New Roman"/>
              </a:rPr>
              <a:t>BIBLIOGRAFÍA</a:t>
            </a:r>
          </a:p>
          <a:p>
            <a:endParaRPr sz="2200" b="1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buChar char="•"/>
            </a:pPr>
            <a:r>
              <a:rPr sz="2200">
                <a:latin typeface="Times New Roman"/>
                <a:ea typeface="Times New Roman"/>
                <a:cs typeface="Times New Roman"/>
              </a:rPr>
              <a:t>Johnsonbaugh, Richard. Matemáticas discretas. 6.ª ed. Pearson Educación, 2005. Texto guía principal.</a:t>
            </a:r>
          </a:p>
          <a:p>
            <a:pPr marL="342900" indent="-342900">
              <a:buChar char="•"/>
            </a:pPr>
            <a:r>
              <a:rPr sz="2200">
                <a:latin typeface="Times New Roman"/>
                <a:ea typeface="Times New Roman"/>
                <a:cs typeface="Times New Roman"/>
              </a:rPr>
              <a:t>Rosen, Kenneth H. Discrete Mathematics and Its Applications. 8th ed. McGraw Hill, 2019.</a:t>
            </a:r>
          </a:p>
          <a:p>
            <a:pPr marL="342900" indent="-342900">
              <a:buChar char="•"/>
            </a:pPr>
            <a:r>
              <a:rPr sz="2200">
                <a:latin typeface="Times New Roman"/>
                <a:ea typeface="Times New Roman"/>
                <a:cs typeface="Times New Roman"/>
              </a:rPr>
              <a:t>Epp, Susanna S. Discrete Mathematics with Applications. 5th ed. Cengage, 2020.</a:t>
            </a:r>
          </a:p>
          <a:p>
            <a:pPr marL="342900" indent="-342900">
              <a:buChar char="•"/>
            </a:pPr>
            <a:r>
              <a:rPr sz="2200">
                <a:latin typeface="Times New Roman"/>
                <a:ea typeface="Times New Roman"/>
                <a:cs typeface="Times New Roman"/>
              </a:rPr>
              <a:t>Lehman, Eric; Leighton, F. Thomson; Meyer, Albert R. Mathematics for Computer Science. MIT, edición revisada.</a:t>
            </a:r>
          </a:p>
          <a:p>
            <a:pPr marL="342900" indent="-342900">
              <a:buChar char="•"/>
            </a:pPr>
            <a:r>
              <a:rPr sz="2200">
                <a:latin typeface="Times New Roman"/>
                <a:ea typeface="Times New Roman"/>
                <a:cs typeface="Times New Roman"/>
              </a:rPr>
              <a:t>Software especializado para el diseño y simulación de circuitos digitales (herramienta educativa libre y multiplataforma).</a:t>
            </a:r>
          </a:p>
          <a:p>
            <a:endParaRPr sz="22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7A0E648-3FE9-C44D-A8F8-03C7D380B935}"/>
              </a:ext>
            </a:extLst>
          </p:cNvPr>
          <p:cNvSpPr>
            <a:spLocks noGrp="1"/>
          </p:cNvSpPr>
          <p:nvPr/>
        </p:nvSpPr>
        <p:spPr>
          <a:xfrm>
            <a:off x="6984462" y="-36396"/>
            <a:ext cx="55955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latin typeface="Times New Roman"/>
                <a:ea typeface="Times New Roman"/>
                <a:cs typeface="Times New Roman"/>
              </a:rPr>
              <a:t>Documentos guía y plataformas de apoyo</a:t>
            </a:r>
          </a:p>
        </p:txBody>
      </p:sp>
    </p:spTree>
    <p:extLst>
      <p:ext uri="{BB962C8B-B14F-4D97-AF65-F5344CB8AC3E}">
        <p14:creationId xmlns:p14="http://schemas.microsoft.com/office/powerpoint/2010/main" val="41640042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26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27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28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29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30" name="Imagen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31" name="Imagen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32" name="Imagen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33" name="Imagen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4" name="Imagen 2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94C59938-632A-A591-1E28-B687B7AEE385}"/>
              </a:ext>
            </a:extLst>
          </p:cNvPr>
          <p:cNvSpPr>
            <a:spLocks noGrp="1"/>
          </p:cNvSpPr>
          <p:nvPr/>
        </p:nvSpPr>
        <p:spPr>
          <a:xfrm>
            <a:off x="314160" y="1414545"/>
            <a:ext cx="115636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"/>
              </a:spcAft>
            </a:pPr>
            <a:r>
              <a:rPr sz="2400" b="1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Diagnóstico</a:t>
            </a:r>
            <a:r>
              <a:rPr sz="2400" b="1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 </a:t>
            </a:r>
            <a:r>
              <a:rPr sz="2400" b="1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conocimientos</a:t>
            </a:r>
            <a:r>
              <a:rPr sz="2400" b="1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400" b="1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previos</a:t>
            </a:r>
            <a:endParaRPr lang="es-ES" sz="2400" b="1" i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spcAft>
                <a:spcPts val="16"/>
              </a:spcAft>
            </a:pPr>
            <a:endParaRPr sz="2400" b="1" i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2">
              <a:spcAft>
                <a:spcPts val="12"/>
              </a:spcAft>
            </a:pPr>
            <a:r>
              <a:rPr sz="2400" b="1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Objetivo</a:t>
            </a:r>
            <a:r>
              <a:rPr sz="2400" b="1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  <a:r>
              <a:rPr sz="24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4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identificar</a:t>
            </a:r>
            <a:r>
              <a:rPr sz="24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las bases de entrada </a:t>
            </a:r>
            <a:r>
              <a:rPr sz="24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</a:t>
            </a:r>
            <a:r>
              <a:rPr sz="24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4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aritmética</a:t>
            </a:r>
            <a:r>
              <a:rPr sz="24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sz="24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álgebra</a:t>
            </a:r>
            <a:r>
              <a:rPr sz="24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4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básica</a:t>
            </a:r>
            <a:r>
              <a:rPr sz="24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y </a:t>
            </a:r>
            <a:r>
              <a:rPr sz="24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comprensión</a:t>
            </a:r>
            <a:r>
              <a:rPr sz="24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 </a:t>
            </a:r>
            <a:r>
              <a:rPr sz="24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problemas</a:t>
            </a:r>
            <a:r>
              <a:rPr sz="24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s-ES" sz="2400" b="0" i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6" indent="-14">
              <a:spcAft>
                <a:spcPts val="12"/>
              </a:spcAft>
              <a:buChar char="•"/>
            </a:pPr>
            <a:endParaRPr sz="2400" b="0" i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60A21F5-9E57-3885-E25C-2A751A51620B}"/>
              </a:ext>
            </a:extLst>
          </p:cNvPr>
          <p:cNvSpPr>
            <a:spLocks noGrp="1"/>
          </p:cNvSpPr>
          <p:nvPr/>
        </p:nvSpPr>
        <p:spPr>
          <a:xfrm>
            <a:off x="9394201" y="-57264"/>
            <a:ext cx="55955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Times New Roman"/>
                <a:ea typeface="Times New Roman"/>
                <a:cs typeface="Times New Roman"/>
              </a:rPr>
              <a:t>Diagnóstico inicial</a:t>
            </a:r>
          </a:p>
        </p:txBody>
      </p:sp>
    </p:spTree>
    <p:extLst>
      <p:ext uri="{BB962C8B-B14F-4D97-AF65-F5344CB8AC3E}">
        <p14:creationId xmlns:p14="http://schemas.microsoft.com/office/powerpoint/2010/main" val="9727838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26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27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28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29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30" name="Imagen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31" name="Imagen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32" name="Imagen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33" name="Imagen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4" name="Imagen 2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94C59938-632A-A591-1E28-B687B7AEE385}"/>
              </a:ext>
            </a:extLst>
          </p:cNvPr>
          <p:cNvSpPr>
            <a:spLocks noGrp="1"/>
          </p:cNvSpPr>
          <p:nvPr/>
        </p:nvSpPr>
        <p:spPr>
          <a:xfrm>
            <a:off x="314160" y="1414545"/>
            <a:ext cx="115636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"/>
              </a:spcAft>
            </a:pPr>
            <a:r>
              <a:rPr sz="2200" b="1" i="0" dirty="0" err="1">
                <a:latin typeface="Times New Roman"/>
                <a:ea typeface="Times New Roman"/>
                <a:cs typeface="Times New Roman"/>
              </a:rPr>
              <a:t>Diagnóstico</a:t>
            </a:r>
            <a:r>
              <a:rPr sz="2200" b="1" i="0" dirty="0">
                <a:latin typeface="Times New Roman"/>
                <a:ea typeface="Times New Roman"/>
                <a:cs typeface="Times New Roman"/>
              </a:rPr>
              <a:t> — </a:t>
            </a:r>
            <a:r>
              <a:rPr sz="2200" b="1" i="0" dirty="0" err="1">
                <a:latin typeface="Times New Roman"/>
                <a:ea typeface="Times New Roman"/>
                <a:cs typeface="Times New Roman"/>
              </a:rPr>
              <a:t>Parte</a:t>
            </a:r>
            <a:r>
              <a:rPr sz="2200" b="1" i="0" dirty="0">
                <a:latin typeface="Times New Roman"/>
                <a:ea typeface="Times New Roman"/>
                <a:cs typeface="Times New Roman"/>
              </a:rPr>
              <a:t> 1: </a:t>
            </a:r>
            <a:r>
              <a:rPr sz="2200" b="1" i="0" dirty="0" err="1">
                <a:latin typeface="Times New Roman"/>
                <a:ea typeface="Times New Roman"/>
                <a:cs typeface="Times New Roman"/>
              </a:rPr>
              <a:t>Operaciones</a:t>
            </a:r>
            <a:r>
              <a:rPr sz="2200" b="1" i="0" dirty="0">
                <a:latin typeface="Times New Roman"/>
                <a:ea typeface="Times New Roman"/>
                <a:cs typeface="Times New Roman"/>
              </a:rPr>
              <a:t> y </a:t>
            </a:r>
            <a:r>
              <a:rPr sz="2200" b="1" i="0" dirty="0" err="1">
                <a:latin typeface="Times New Roman"/>
                <a:ea typeface="Times New Roman"/>
                <a:cs typeface="Times New Roman"/>
              </a:rPr>
              <a:t>porcentajes</a:t>
            </a:r>
            <a:endParaRPr sz="2200" b="1" i="0" dirty="0">
              <a:latin typeface="Times New Roman"/>
              <a:ea typeface="Times New Roman"/>
              <a:cs typeface="Times New Roman"/>
            </a:endParaRPr>
          </a:p>
          <a:p>
            <a:pPr marL="12">
              <a:spcAft>
                <a:spcPts val="16"/>
              </a:spcAft>
            </a:pPr>
            <a:endParaRPr lang="es-ES" sz="2000" b="1" i="0" dirty="0">
              <a:latin typeface="Times New Roman"/>
              <a:ea typeface="Times New Roman"/>
              <a:cs typeface="Times New Roman"/>
            </a:endParaRPr>
          </a:p>
          <a:p>
            <a:pPr marL="12">
              <a:spcAft>
                <a:spcPts val="16"/>
              </a:spcAft>
            </a:pPr>
            <a:r>
              <a:rPr sz="2000" b="1" i="0" dirty="0">
                <a:latin typeface="Times New Roman"/>
                <a:ea typeface="Times New Roman"/>
                <a:cs typeface="Times New Roman"/>
              </a:rPr>
              <a:t>1.</a:t>
            </a:r>
            <a:r>
              <a:rPr sz="2000" b="0" i="0" dirty="0">
                <a:latin typeface="Times New Roman"/>
                <a:ea typeface="Times New Roman"/>
                <a:cs typeface="Times New Roman"/>
              </a:rPr>
              <a:t> </a:t>
            </a:r>
            <a:r>
              <a:rPr sz="2000" b="0" i="0" dirty="0" err="1">
                <a:latin typeface="Times New Roman"/>
                <a:ea typeface="Times New Roman"/>
                <a:cs typeface="Times New Roman"/>
              </a:rPr>
              <a:t>Calcule</a:t>
            </a:r>
            <a:r>
              <a:rPr sz="2000" b="0" i="0" dirty="0">
                <a:latin typeface="Times New Roman"/>
                <a:ea typeface="Times New Roman"/>
                <a:cs typeface="Times New Roman"/>
              </a:rPr>
              <a:t> y </a:t>
            </a:r>
            <a:r>
              <a:rPr sz="2000" b="0" i="0" dirty="0" err="1">
                <a:latin typeface="Times New Roman"/>
                <a:ea typeface="Times New Roman"/>
                <a:cs typeface="Times New Roman"/>
              </a:rPr>
              <a:t>simplifique</a:t>
            </a:r>
            <a:r>
              <a:rPr sz="2000" b="0" i="0" dirty="0">
                <a:latin typeface="Times New Roman"/>
                <a:ea typeface="Times New Roman"/>
                <a:cs typeface="Times New Roman"/>
              </a:rPr>
              <a:t>: 3/4 − (2/3 × 3/8).</a:t>
            </a:r>
          </a:p>
          <a:p>
            <a:pPr marL="12">
              <a:spcAft>
                <a:spcPts val="16"/>
              </a:spcAft>
            </a:pPr>
            <a:endParaRPr lang="es-ES" sz="2000" b="1" i="0" dirty="0">
              <a:latin typeface="Times New Roman"/>
              <a:ea typeface="Times New Roman"/>
              <a:cs typeface="Times New Roman"/>
            </a:endParaRPr>
          </a:p>
          <a:p>
            <a:pPr marL="12">
              <a:spcAft>
                <a:spcPts val="16"/>
              </a:spcAft>
            </a:pPr>
            <a:r>
              <a:rPr sz="2000" b="1" i="0" dirty="0">
                <a:latin typeface="Times New Roman"/>
                <a:ea typeface="Times New Roman"/>
                <a:cs typeface="Times New Roman"/>
              </a:rPr>
              <a:t>2.</a:t>
            </a:r>
            <a:r>
              <a:rPr sz="2000" b="0" i="0" dirty="0">
                <a:latin typeface="Times New Roman"/>
                <a:ea typeface="Times New Roman"/>
                <a:cs typeface="Times New Roman"/>
              </a:rPr>
              <a:t> </a:t>
            </a:r>
            <a:r>
              <a:rPr sz="2000" b="0" i="0" dirty="0" err="1">
                <a:latin typeface="Times New Roman"/>
                <a:ea typeface="Times New Roman"/>
                <a:cs typeface="Times New Roman"/>
              </a:rPr>
              <a:t>Simplifique</a:t>
            </a:r>
            <a:r>
              <a:rPr sz="2000" b="0" i="0" dirty="0">
                <a:latin typeface="Times New Roman"/>
                <a:ea typeface="Times New Roman"/>
                <a:cs typeface="Times New Roman"/>
              </a:rPr>
              <a:t> sin </a:t>
            </a:r>
            <a:r>
              <a:rPr sz="2000" b="0" i="0" dirty="0" err="1">
                <a:latin typeface="Times New Roman"/>
                <a:ea typeface="Times New Roman"/>
                <a:cs typeface="Times New Roman"/>
              </a:rPr>
              <a:t>calculadora</a:t>
            </a:r>
            <a:r>
              <a:rPr sz="2000" b="0" i="0" dirty="0">
                <a:latin typeface="Times New Roman"/>
                <a:ea typeface="Times New Roman"/>
                <a:cs typeface="Times New Roman"/>
              </a:rPr>
              <a:t>: (2⁵ × 4⁻¹) / 2⁻².</a:t>
            </a:r>
          </a:p>
          <a:p>
            <a:pPr marL="12">
              <a:spcAft>
                <a:spcPts val="4"/>
              </a:spcAft>
            </a:pPr>
            <a:endParaRPr lang="es-ES" sz="2000" b="1" i="0" dirty="0">
              <a:latin typeface="Times New Roman"/>
              <a:ea typeface="Times New Roman"/>
              <a:cs typeface="Times New Roman"/>
            </a:endParaRPr>
          </a:p>
          <a:p>
            <a:pPr marL="12">
              <a:spcAft>
                <a:spcPts val="4"/>
              </a:spcAft>
            </a:pPr>
            <a:r>
              <a:rPr sz="2000" b="1" i="0" dirty="0">
                <a:latin typeface="Times New Roman"/>
                <a:ea typeface="Times New Roman"/>
                <a:cs typeface="Times New Roman"/>
              </a:rPr>
              <a:t>3.</a:t>
            </a:r>
            <a:r>
              <a:rPr sz="2000" b="0" i="0" dirty="0">
                <a:latin typeface="Times New Roman"/>
                <a:ea typeface="Times New Roman"/>
                <a:cs typeface="Times New Roman"/>
              </a:rPr>
              <a:t> Un </a:t>
            </a:r>
            <a:r>
              <a:rPr sz="2000" b="0" i="0" dirty="0" err="1">
                <a:latin typeface="Times New Roman"/>
                <a:ea typeface="Times New Roman"/>
                <a:cs typeface="Times New Roman"/>
              </a:rPr>
              <a:t>equipo</a:t>
            </a:r>
            <a:r>
              <a:rPr sz="2000" b="0" i="0" dirty="0">
                <a:latin typeface="Times New Roman"/>
                <a:ea typeface="Times New Roman"/>
                <a:cs typeface="Times New Roman"/>
              </a:rPr>
              <a:t> cuesta $250.000. Su </a:t>
            </a:r>
            <a:r>
              <a:rPr sz="2000" b="0" i="0" dirty="0" err="1">
                <a:latin typeface="Times New Roman"/>
                <a:ea typeface="Times New Roman"/>
                <a:cs typeface="Times New Roman"/>
              </a:rPr>
              <a:t>precio</a:t>
            </a:r>
            <a:r>
              <a:rPr sz="2000" b="0" i="0" dirty="0">
                <a:latin typeface="Times New Roman"/>
                <a:ea typeface="Times New Roman"/>
                <a:cs typeface="Times New Roman"/>
              </a:rPr>
              <a:t> </a:t>
            </a:r>
            <a:r>
              <a:rPr sz="2000" b="0" i="0" dirty="0" err="1">
                <a:latin typeface="Times New Roman"/>
                <a:ea typeface="Times New Roman"/>
                <a:cs typeface="Times New Roman"/>
              </a:rPr>
              <a:t>aumenta</a:t>
            </a:r>
            <a:r>
              <a:rPr sz="2000" b="0" i="0" dirty="0">
                <a:latin typeface="Times New Roman"/>
                <a:ea typeface="Times New Roman"/>
                <a:cs typeface="Times New Roman"/>
              </a:rPr>
              <a:t> 20% y luego se </a:t>
            </a:r>
            <a:r>
              <a:rPr sz="2000" b="0" i="0" dirty="0" err="1">
                <a:latin typeface="Times New Roman"/>
                <a:ea typeface="Times New Roman"/>
                <a:cs typeface="Times New Roman"/>
              </a:rPr>
              <a:t>aplica</a:t>
            </a:r>
            <a:r>
              <a:rPr sz="2000" b="0" i="0" dirty="0">
                <a:latin typeface="Times New Roman"/>
                <a:ea typeface="Times New Roman"/>
                <a:cs typeface="Times New Roman"/>
              </a:rPr>
              <a:t> un </a:t>
            </a:r>
            <a:r>
              <a:rPr sz="2000" b="0" i="0" dirty="0" err="1">
                <a:latin typeface="Times New Roman"/>
                <a:ea typeface="Times New Roman"/>
                <a:cs typeface="Times New Roman"/>
              </a:rPr>
              <a:t>descuento</a:t>
            </a:r>
            <a:r>
              <a:rPr sz="2000" b="0" i="0" dirty="0">
                <a:latin typeface="Times New Roman"/>
                <a:ea typeface="Times New Roman"/>
                <a:cs typeface="Times New Roman"/>
              </a:rPr>
              <a:t> de 20%. ¿Cuál es el </a:t>
            </a:r>
            <a:r>
              <a:rPr sz="2000" b="0" i="0" dirty="0" err="1">
                <a:latin typeface="Times New Roman"/>
                <a:ea typeface="Times New Roman"/>
                <a:cs typeface="Times New Roman"/>
              </a:rPr>
              <a:t>precio</a:t>
            </a:r>
            <a:r>
              <a:rPr sz="2000" b="0" i="0" dirty="0">
                <a:latin typeface="Times New Roman"/>
                <a:ea typeface="Times New Roman"/>
                <a:cs typeface="Times New Roman"/>
              </a:rPr>
              <a:t> final? ¿Vuelve al valor </a:t>
            </a:r>
            <a:r>
              <a:rPr sz="2000" b="0" i="0" dirty="0" err="1">
                <a:latin typeface="Times New Roman"/>
                <a:ea typeface="Times New Roman"/>
                <a:cs typeface="Times New Roman"/>
              </a:rPr>
              <a:t>inicial</a:t>
            </a:r>
            <a:r>
              <a:rPr sz="2000" b="0" i="0" dirty="0">
                <a:latin typeface="Times New Roman"/>
                <a:ea typeface="Times New Roman"/>
                <a:cs typeface="Times New Roman"/>
              </a:rPr>
              <a:t>? </a:t>
            </a:r>
            <a:r>
              <a:rPr sz="2000" b="0" i="0" dirty="0" err="1">
                <a:latin typeface="Times New Roman"/>
                <a:ea typeface="Times New Roman"/>
                <a:cs typeface="Times New Roman"/>
              </a:rPr>
              <a:t>Justifique</a:t>
            </a:r>
            <a:r>
              <a:rPr sz="2000" b="0" i="0" dirty="0"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60A21F5-9E57-3885-E25C-2A751A51620B}"/>
              </a:ext>
            </a:extLst>
          </p:cNvPr>
          <p:cNvSpPr>
            <a:spLocks noGrp="1"/>
          </p:cNvSpPr>
          <p:nvPr/>
        </p:nvSpPr>
        <p:spPr>
          <a:xfrm>
            <a:off x="9394201" y="-57264"/>
            <a:ext cx="55955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Times New Roman"/>
                <a:ea typeface="Times New Roman"/>
                <a:cs typeface="Times New Roman"/>
              </a:rPr>
              <a:t>Diagnóstico inicial</a:t>
            </a:r>
          </a:p>
        </p:txBody>
      </p:sp>
    </p:spTree>
    <p:extLst>
      <p:ext uri="{BB962C8B-B14F-4D97-AF65-F5344CB8AC3E}">
        <p14:creationId xmlns:p14="http://schemas.microsoft.com/office/powerpoint/2010/main" val="9727838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26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27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28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29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30" name="Imagen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31" name="Imagen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32" name="Imagen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33" name="Imagen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4" name="Imagen 2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94C59938-632A-A591-1E28-B687B7AEE385}"/>
              </a:ext>
            </a:extLst>
          </p:cNvPr>
          <p:cNvSpPr>
            <a:spLocks noGrp="1"/>
          </p:cNvSpPr>
          <p:nvPr/>
        </p:nvSpPr>
        <p:spPr>
          <a:xfrm>
            <a:off x="314160" y="1414545"/>
            <a:ext cx="115636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"/>
              </a:spcAft>
            </a:pPr>
            <a:r>
              <a:rPr sz="2400" b="1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Diagnóstico</a:t>
            </a:r>
            <a:r>
              <a:rPr sz="2400" b="1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— </a:t>
            </a:r>
            <a:r>
              <a:rPr sz="2400" b="1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Parte</a:t>
            </a:r>
            <a:r>
              <a:rPr sz="2400" b="1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2: </a:t>
            </a:r>
            <a:r>
              <a:rPr sz="2400" b="1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Álgebra</a:t>
            </a:r>
            <a:r>
              <a:rPr sz="2400" b="1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400" b="1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básica</a:t>
            </a:r>
            <a:endParaRPr sz="2400" b="1" i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2">
              <a:spcAft>
                <a:spcPts val="16"/>
              </a:spcAft>
            </a:pPr>
            <a:endParaRPr lang="es-ES" sz="2400" b="1" i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2">
              <a:spcAft>
                <a:spcPts val="16"/>
              </a:spcAft>
            </a:pPr>
            <a:r>
              <a:rPr sz="2400" b="1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4.</a:t>
            </a:r>
            <a:r>
              <a:rPr sz="24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4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Simplifique</a:t>
            </a:r>
            <a:r>
              <a:rPr sz="24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2(3x − 4) − [x − 2(1 − x)].</a:t>
            </a:r>
          </a:p>
          <a:p>
            <a:pPr marL="26" indent="-14">
              <a:spcAft>
                <a:spcPts val="4"/>
              </a:spcAft>
              <a:buChar char="•"/>
            </a:pPr>
            <a:endParaRPr lang="es-ES" sz="2400" b="1" i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2">
              <a:spcAft>
                <a:spcPts val="4"/>
              </a:spcAft>
            </a:pPr>
            <a:r>
              <a:rPr lang="es-ES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</a:t>
            </a:r>
            <a:r>
              <a:rPr sz="2400" b="1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r>
              <a:rPr sz="24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4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Factorice</a:t>
            </a:r>
            <a:r>
              <a:rPr sz="24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x² − 5x + 6 y determine sus </a:t>
            </a:r>
            <a:r>
              <a:rPr sz="2400"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raíces</a:t>
            </a:r>
            <a:r>
              <a:rPr sz="2400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60A21F5-9E57-3885-E25C-2A751A51620B}"/>
              </a:ext>
            </a:extLst>
          </p:cNvPr>
          <p:cNvSpPr>
            <a:spLocks noGrp="1"/>
          </p:cNvSpPr>
          <p:nvPr/>
        </p:nvSpPr>
        <p:spPr>
          <a:xfrm>
            <a:off x="9394201" y="-57264"/>
            <a:ext cx="55955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Times New Roman"/>
                <a:ea typeface="Times New Roman"/>
                <a:cs typeface="Times New Roman"/>
              </a:rPr>
              <a:t>Diagnóstico inicial</a:t>
            </a:r>
          </a:p>
        </p:txBody>
      </p:sp>
    </p:spTree>
    <p:extLst>
      <p:ext uri="{BB962C8B-B14F-4D97-AF65-F5344CB8AC3E}">
        <p14:creationId xmlns:p14="http://schemas.microsoft.com/office/powerpoint/2010/main" val="972783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26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27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28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29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30" name="Imagen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31" name="Imagen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32" name="Imagen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33" name="Imagen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4" name="Imagen 2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94C59938-632A-A591-1E28-B687B7AEE385}"/>
              </a:ext>
            </a:extLst>
          </p:cNvPr>
          <p:cNvSpPr>
            <a:spLocks noGrp="1"/>
          </p:cNvSpPr>
          <p:nvPr/>
        </p:nvSpPr>
        <p:spPr>
          <a:xfrm>
            <a:off x="314160" y="1414545"/>
            <a:ext cx="115636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"/>
              </a:spcAft>
            </a:pPr>
            <a:r>
              <a:rPr sz="2400" b="1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Diagnóstico</a:t>
            </a:r>
            <a:r>
              <a:rPr sz="2400" b="1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— </a:t>
            </a:r>
            <a:r>
              <a:rPr sz="2400" b="1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Parte</a:t>
            </a:r>
            <a:r>
              <a:rPr sz="2400" b="1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3: </a:t>
            </a:r>
            <a:r>
              <a:rPr sz="2400" b="1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Razonamiento</a:t>
            </a:r>
            <a:r>
              <a:rPr sz="2400" b="1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sz="2400" b="1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cuantitativo</a:t>
            </a:r>
            <a:endParaRPr lang="es-ES" sz="2400" b="1" i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spcAft>
                <a:spcPts val="16"/>
              </a:spcAft>
            </a:pPr>
            <a:endParaRPr sz="2400" b="1" i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2">
              <a:spcAft>
                <a:spcPts val="10"/>
              </a:spcAft>
            </a:pPr>
            <a:r>
              <a:rPr lang="es-E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6</a:t>
            </a:r>
            <a:r>
              <a:rPr b="1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Tres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impresoras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iguales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producen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450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páginas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5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minutos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Al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mismo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ritmo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¿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cuántas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páginas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producen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dos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impresoras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8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minutos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?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Explique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el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procedimiento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s-CO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6" indent="-14">
              <a:spcAft>
                <a:spcPts val="10"/>
              </a:spcAft>
              <a:buChar char="•"/>
            </a:pPr>
            <a:endParaRPr b="0" i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2">
              <a:spcAft>
                <a:spcPts val="10"/>
              </a:spcAft>
            </a:pPr>
            <a:r>
              <a:rPr lang="es-E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7</a:t>
            </a:r>
            <a:r>
              <a:rPr b="1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Complete la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secuencia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y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explique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una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regla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la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produzca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2, 6, 12, 20, 30, ____</a:t>
            </a:r>
            <a:endParaRPr lang="es-ES" b="0" i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2">
              <a:spcAft>
                <a:spcPts val="10"/>
              </a:spcAft>
            </a:pPr>
            <a:endParaRPr lang="es-CO" b="0" i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6" indent="-14">
              <a:spcAft>
                <a:spcPts val="10"/>
              </a:spcAft>
              <a:buChar char="•"/>
            </a:pPr>
            <a:endParaRPr b="0" i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2">
              <a:spcAft>
                <a:spcPts val="10"/>
              </a:spcAft>
            </a:pPr>
            <a:r>
              <a:rPr lang="es-E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8</a:t>
            </a:r>
            <a:r>
              <a:rPr b="1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Analice la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afirmación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“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Multiplicar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cualquier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número</a:t>
            </a:r>
            <a:r>
              <a:rPr lang="es-ES"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real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por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0,5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siempre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produce un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número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menor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”. ¿Es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correcta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? Si no,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dé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un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ejemplo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la </a:t>
            </a:r>
            <a:r>
              <a:rPr b="0" i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contradiga</a:t>
            </a:r>
            <a:r>
              <a:rPr b="0" i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s-ES" b="0" i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60A21F5-9E57-3885-E25C-2A751A51620B}"/>
              </a:ext>
            </a:extLst>
          </p:cNvPr>
          <p:cNvSpPr>
            <a:spLocks noGrp="1"/>
          </p:cNvSpPr>
          <p:nvPr/>
        </p:nvSpPr>
        <p:spPr>
          <a:xfrm>
            <a:off x="9394201" y="-57264"/>
            <a:ext cx="55955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Times New Roman"/>
                <a:ea typeface="Times New Roman"/>
                <a:cs typeface="Times New Roman"/>
              </a:rPr>
              <a:t>Diagnóstico inicial</a:t>
            </a:r>
          </a:p>
        </p:txBody>
      </p:sp>
    </p:spTree>
    <p:extLst>
      <p:ext uri="{BB962C8B-B14F-4D97-AF65-F5344CB8AC3E}">
        <p14:creationId xmlns:p14="http://schemas.microsoft.com/office/powerpoint/2010/main" val="9727838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26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27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28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29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30" name="Imagen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31" name="Imagen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32" name="Imagen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33" name="Imagen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4" name="Imagen 2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94C59938-632A-A591-1E28-B687B7AEE385}"/>
              </a:ext>
            </a:extLst>
          </p:cNvPr>
          <p:cNvSpPr>
            <a:spLocks noGrp="1"/>
          </p:cNvSpPr>
          <p:nvPr/>
        </p:nvSpPr>
        <p:spPr>
          <a:xfrm>
            <a:off x="314160" y="1414545"/>
            <a:ext cx="11563680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latin typeface="Times New Roman"/>
                <a:ea typeface="Times New Roman"/>
                <a:cs typeface="Times New Roman"/>
              </a:rPr>
              <a:t>¿</a:t>
            </a:r>
            <a:r>
              <a:rPr sz="2200" b="1" dirty="0" err="1">
                <a:latin typeface="Times New Roman"/>
                <a:ea typeface="Times New Roman"/>
                <a:cs typeface="Times New Roman"/>
              </a:rPr>
              <a:t>Qué</a:t>
            </a:r>
            <a:r>
              <a:rPr sz="2200" b="1" dirty="0">
                <a:latin typeface="Times New Roman"/>
                <a:ea typeface="Times New Roman"/>
                <a:cs typeface="Times New Roman"/>
              </a:rPr>
              <a:t> es </a:t>
            </a:r>
            <a:r>
              <a:rPr sz="2200" b="1" dirty="0" err="1">
                <a:latin typeface="Times New Roman"/>
                <a:ea typeface="Times New Roman"/>
                <a:cs typeface="Times New Roman"/>
              </a:rPr>
              <a:t>una</a:t>
            </a:r>
            <a:r>
              <a:rPr sz="22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sz="2200" b="1" dirty="0" err="1">
                <a:latin typeface="Times New Roman"/>
                <a:ea typeface="Times New Roman"/>
                <a:cs typeface="Times New Roman"/>
              </a:rPr>
              <a:t>proposición</a:t>
            </a:r>
            <a:r>
              <a:rPr sz="2200" b="1" dirty="0">
                <a:latin typeface="Times New Roman"/>
                <a:ea typeface="Times New Roman"/>
                <a:cs typeface="Times New Roman"/>
              </a:rPr>
              <a:t>?</a:t>
            </a:r>
          </a:p>
          <a:p>
            <a:endParaRPr sz="2200" b="1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buChar char="•"/>
            </a:pPr>
            <a:r>
              <a:rPr sz="2400" b="1" dirty="0" err="1">
                <a:latin typeface="Times New Roman"/>
                <a:ea typeface="Times New Roman"/>
                <a:cs typeface="Times New Roman"/>
              </a:rPr>
              <a:t>Definición</a:t>
            </a:r>
            <a:r>
              <a:rPr sz="2400" b="1" dirty="0">
                <a:latin typeface="Times New Roman"/>
                <a:ea typeface="Times New Roman"/>
                <a:cs typeface="Times New Roman"/>
              </a:rPr>
              <a:t>: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 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enunciado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 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declarativo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 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que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 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puede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 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clasificarse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 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como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 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verdadero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 o 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falso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, 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pero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 no ambas 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cosas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 a la 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vez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.</a:t>
            </a:r>
          </a:p>
          <a:p>
            <a:pPr marL="342900" indent="-342900">
              <a:buChar char="•"/>
            </a:pPr>
            <a:endParaRPr sz="24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buChar char="•"/>
            </a:pPr>
            <a:r>
              <a:rPr sz="2400" b="1" dirty="0" err="1">
                <a:latin typeface="Times New Roman"/>
                <a:ea typeface="Times New Roman"/>
                <a:cs typeface="Times New Roman"/>
              </a:rPr>
              <a:t>Ejemplo</a:t>
            </a:r>
            <a:r>
              <a:rPr sz="2400" b="1" dirty="0">
                <a:latin typeface="Times New Roman"/>
                <a:ea typeface="Times New Roman"/>
                <a:cs typeface="Times New Roman"/>
              </a:rPr>
              <a:t> (</a:t>
            </a:r>
            <a:r>
              <a:rPr sz="2400" b="1" dirty="0" err="1">
                <a:latin typeface="Times New Roman"/>
                <a:ea typeface="Times New Roman"/>
                <a:cs typeface="Times New Roman"/>
              </a:rPr>
              <a:t>sí</a:t>
            </a:r>
            <a:r>
              <a:rPr sz="2400" b="1" dirty="0">
                <a:latin typeface="Times New Roman"/>
                <a:ea typeface="Times New Roman"/>
                <a:cs typeface="Times New Roman"/>
              </a:rPr>
              <a:t> es </a:t>
            </a:r>
            <a:r>
              <a:rPr sz="2400" b="1" dirty="0" err="1">
                <a:latin typeface="Times New Roman"/>
                <a:ea typeface="Times New Roman"/>
                <a:cs typeface="Times New Roman"/>
              </a:rPr>
              <a:t>proposición</a:t>
            </a:r>
            <a:r>
              <a:rPr sz="2400" b="1" dirty="0">
                <a:latin typeface="Times New Roman"/>
                <a:ea typeface="Times New Roman"/>
                <a:cs typeface="Times New Roman"/>
              </a:rPr>
              <a:t>):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 "2 + 2 = 4" — es 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verdadera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.</a:t>
            </a:r>
          </a:p>
          <a:p>
            <a:pPr marL="342900" indent="-342900">
              <a:buChar char="•"/>
            </a:pPr>
            <a:endParaRPr sz="24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buChar char="•"/>
            </a:pPr>
            <a:r>
              <a:rPr sz="2400" b="1" dirty="0" err="1">
                <a:latin typeface="Times New Roman"/>
                <a:ea typeface="Times New Roman"/>
                <a:cs typeface="Times New Roman"/>
              </a:rPr>
              <a:t>Ejemplo</a:t>
            </a:r>
            <a:r>
              <a:rPr sz="2400" b="1" dirty="0">
                <a:latin typeface="Times New Roman"/>
                <a:ea typeface="Times New Roman"/>
                <a:cs typeface="Times New Roman"/>
              </a:rPr>
              <a:t> (no es </a:t>
            </a:r>
            <a:r>
              <a:rPr sz="2400" b="1" dirty="0" err="1">
                <a:latin typeface="Times New Roman"/>
                <a:ea typeface="Times New Roman"/>
                <a:cs typeface="Times New Roman"/>
              </a:rPr>
              <a:t>proposición</a:t>
            </a:r>
            <a:r>
              <a:rPr sz="2400" b="1" dirty="0">
                <a:latin typeface="Times New Roman"/>
                <a:ea typeface="Times New Roman"/>
                <a:cs typeface="Times New Roman"/>
              </a:rPr>
              <a:t>):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 "¿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Qué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 hora es?" — es 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una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 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pregunta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, no 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tiene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 valor de 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verdad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.</a:t>
            </a:r>
          </a:p>
          <a:p>
            <a:pPr marL="342900" indent="-342900">
              <a:buChar char="•"/>
            </a:pPr>
            <a:endParaRPr sz="2400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buChar char="•"/>
            </a:pPr>
            <a:r>
              <a:rPr sz="2400" b="1" dirty="0" err="1">
                <a:latin typeface="Times New Roman"/>
                <a:ea typeface="Times New Roman"/>
                <a:cs typeface="Times New Roman"/>
              </a:rPr>
              <a:t>Ejemplo</a:t>
            </a:r>
            <a:r>
              <a:rPr sz="2400" b="1" dirty="0">
                <a:latin typeface="Times New Roman"/>
                <a:ea typeface="Times New Roman"/>
                <a:cs typeface="Times New Roman"/>
              </a:rPr>
              <a:t> (</a:t>
            </a:r>
            <a:r>
              <a:rPr sz="2400" b="1" dirty="0" err="1">
                <a:latin typeface="Times New Roman"/>
                <a:ea typeface="Times New Roman"/>
                <a:cs typeface="Times New Roman"/>
              </a:rPr>
              <a:t>aún</a:t>
            </a:r>
            <a:r>
              <a:rPr sz="2400" b="1" dirty="0">
                <a:latin typeface="Times New Roman"/>
                <a:ea typeface="Times New Roman"/>
                <a:cs typeface="Times New Roman"/>
              </a:rPr>
              <a:t> no es </a:t>
            </a:r>
            <a:r>
              <a:rPr sz="2400" b="1" dirty="0" err="1">
                <a:latin typeface="Times New Roman"/>
                <a:ea typeface="Times New Roman"/>
                <a:cs typeface="Times New Roman"/>
              </a:rPr>
              <a:t>proposición</a:t>
            </a:r>
            <a:r>
              <a:rPr sz="2400" b="1" dirty="0">
                <a:latin typeface="Times New Roman"/>
                <a:ea typeface="Times New Roman"/>
                <a:cs typeface="Times New Roman"/>
              </a:rPr>
              <a:t>):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 "x + 1 = 5" — </a:t>
            </a:r>
            <a:r>
              <a:rPr sz="2400" dirty="0" err="1">
                <a:latin typeface="Times New Roman"/>
                <a:ea typeface="Times New Roman"/>
                <a:cs typeface="Times New Roman"/>
              </a:rPr>
              <a:t>depende</a:t>
            </a:r>
            <a:r>
              <a:rPr sz="2400" dirty="0">
                <a:latin typeface="Times New Roman"/>
                <a:ea typeface="Times New Roman"/>
                <a:cs typeface="Times New Roman"/>
              </a:rPr>
              <a:t> del valor de x.</a:t>
            </a:r>
          </a:p>
          <a:p>
            <a:pPr marL="342900" indent="-342900">
              <a:buChar char="•"/>
            </a:pPr>
            <a:endParaRPr sz="1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60A21F5-9E57-3885-E25C-2A751A51620B}"/>
              </a:ext>
            </a:extLst>
          </p:cNvPr>
          <p:cNvSpPr>
            <a:spLocks noGrp="1"/>
          </p:cNvSpPr>
          <p:nvPr/>
        </p:nvSpPr>
        <p:spPr>
          <a:xfrm>
            <a:off x="9394201" y="-57264"/>
            <a:ext cx="55955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Times New Roman"/>
                <a:ea typeface="Times New Roman"/>
                <a:cs typeface="Times New Roman"/>
              </a:rPr>
              <a:t>Lógica proposicional</a:t>
            </a:r>
          </a:p>
        </p:txBody>
      </p:sp>
    </p:spTree>
    <p:extLst>
      <p:ext uri="{BB962C8B-B14F-4D97-AF65-F5344CB8AC3E}">
        <p14:creationId xmlns:p14="http://schemas.microsoft.com/office/powerpoint/2010/main" val="9727838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192" y="1412436"/>
            <a:ext cx="2405320" cy="2605007"/>
          </a:xfrm>
          <a:prstGeom prst="rect">
            <a:avLst/>
          </a:prstGeom>
        </p:spPr>
      </p:pic>
      <p:pic>
        <p:nvPicPr>
          <p:cNvPr id="26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804" y="3841660"/>
            <a:ext cx="2190048" cy="2371863"/>
          </a:xfrm>
          <a:prstGeom prst="rect">
            <a:avLst/>
          </a:prstGeom>
        </p:spPr>
      </p:pic>
      <p:pic>
        <p:nvPicPr>
          <p:cNvPr id="27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1973" y="3742035"/>
            <a:ext cx="2405320" cy="2605007"/>
          </a:xfrm>
          <a:prstGeom prst="rect">
            <a:avLst/>
          </a:prstGeom>
        </p:spPr>
      </p:pic>
      <p:pic>
        <p:nvPicPr>
          <p:cNvPr id="28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6941" y="1334130"/>
            <a:ext cx="2405320" cy="2605007"/>
          </a:xfrm>
          <a:prstGeom prst="rect">
            <a:avLst/>
          </a:prstGeom>
        </p:spPr>
      </p:pic>
      <p:pic>
        <p:nvPicPr>
          <p:cNvPr id="29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962" y="1657339"/>
            <a:ext cx="2405320" cy="2605007"/>
          </a:xfrm>
          <a:prstGeom prst="rect">
            <a:avLst/>
          </a:prstGeom>
        </p:spPr>
      </p:pic>
      <p:pic>
        <p:nvPicPr>
          <p:cNvPr id="30" name="Imagen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939" y="3608516"/>
            <a:ext cx="2363633" cy="2559859"/>
          </a:xfrm>
          <a:prstGeom prst="rect">
            <a:avLst/>
          </a:prstGeom>
        </p:spPr>
      </p:pic>
      <p:pic>
        <p:nvPicPr>
          <p:cNvPr id="31" name="Imagen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2497" y="3841660"/>
            <a:ext cx="2405320" cy="2605007"/>
          </a:xfrm>
          <a:prstGeom prst="rect">
            <a:avLst/>
          </a:prstGeom>
        </p:spPr>
      </p:pic>
      <p:pic>
        <p:nvPicPr>
          <p:cNvPr id="32" name="Imagen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1211" y="1657338"/>
            <a:ext cx="2405320" cy="2605007"/>
          </a:xfrm>
          <a:prstGeom prst="rect">
            <a:avLst/>
          </a:prstGeom>
        </p:spPr>
      </p:pic>
      <p:pic>
        <p:nvPicPr>
          <p:cNvPr id="33" name="Imagen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911" y="1553908"/>
            <a:ext cx="2405320" cy="2605007"/>
          </a:xfrm>
          <a:prstGeom prst="rect">
            <a:avLst/>
          </a:prstGeom>
        </p:spPr>
      </p:pic>
      <p:pic>
        <p:nvPicPr>
          <p:cNvPr id="34" name="Imagen 2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94C59938-632A-A591-1E28-B687B7AEE385}"/>
              </a:ext>
            </a:extLst>
          </p:cNvPr>
          <p:cNvSpPr>
            <a:spLocks noGrp="1"/>
          </p:cNvSpPr>
          <p:nvPr/>
        </p:nvSpPr>
        <p:spPr>
          <a:xfrm>
            <a:off x="314160" y="1414545"/>
            <a:ext cx="1156368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 err="1">
                <a:latin typeface="Times New Roman"/>
                <a:ea typeface="Times New Roman"/>
                <a:cs typeface="Times New Roman"/>
              </a:rPr>
              <a:t>Ejercicio</a:t>
            </a:r>
            <a:r>
              <a:rPr sz="2200" b="1" dirty="0">
                <a:latin typeface="Times New Roman"/>
                <a:ea typeface="Times New Roman"/>
                <a:cs typeface="Times New Roman"/>
              </a:rPr>
              <a:t>: </a:t>
            </a:r>
            <a:r>
              <a:rPr sz="2200" b="1" dirty="0" err="1">
                <a:latin typeface="Times New Roman"/>
                <a:ea typeface="Times New Roman"/>
                <a:cs typeface="Times New Roman"/>
              </a:rPr>
              <a:t>reconocimiento</a:t>
            </a:r>
            <a:r>
              <a:rPr sz="2200" b="1" dirty="0">
                <a:latin typeface="Times New Roman"/>
                <a:ea typeface="Times New Roman"/>
                <a:cs typeface="Times New Roman"/>
              </a:rPr>
              <a:t> de </a:t>
            </a:r>
            <a:r>
              <a:rPr sz="2200" b="1" dirty="0" err="1">
                <a:latin typeface="Times New Roman"/>
                <a:ea typeface="Times New Roman"/>
                <a:cs typeface="Times New Roman"/>
              </a:rPr>
              <a:t>enunciados</a:t>
            </a:r>
            <a:endParaRPr sz="2200" b="1" dirty="0">
              <a:latin typeface="Times New Roman"/>
              <a:ea typeface="Times New Roman"/>
              <a:cs typeface="Times New Roman"/>
            </a:endParaRPr>
          </a:p>
          <a:p>
            <a:endParaRPr sz="2200" b="1" dirty="0">
              <a:latin typeface="Times New Roman"/>
              <a:ea typeface="Times New Roman"/>
              <a:cs typeface="Times New Roman"/>
            </a:endParaRPr>
          </a:p>
          <a:p>
            <a:pPr marL="342900" indent="-342900">
              <a:buChar char="•"/>
            </a:pPr>
            <a:r>
              <a:rPr sz="2000" b="1" dirty="0" err="1">
                <a:latin typeface="Times New Roman"/>
                <a:ea typeface="Times New Roman"/>
                <a:cs typeface="Times New Roman"/>
              </a:rPr>
              <a:t>Clasifique</a:t>
            </a:r>
            <a:r>
              <a:rPr sz="20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sz="2000" b="1" dirty="0" err="1">
                <a:latin typeface="Times New Roman"/>
                <a:ea typeface="Times New Roman"/>
                <a:cs typeface="Times New Roman"/>
              </a:rPr>
              <a:t>cada</a:t>
            </a:r>
            <a:r>
              <a:rPr sz="2000" b="1" dirty="0">
                <a:latin typeface="Times New Roman"/>
                <a:ea typeface="Times New Roman"/>
                <a:cs typeface="Times New Roman"/>
              </a:rPr>
              <a:t> </a:t>
            </a:r>
            <a:r>
              <a:rPr sz="2000" b="1" dirty="0" err="1">
                <a:latin typeface="Times New Roman"/>
                <a:ea typeface="Times New Roman"/>
                <a:cs typeface="Times New Roman"/>
              </a:rPr>
              <a:t>enunciado</a:t>
            </a:r>
            <a:r>
              <a:rPr sz="2000" dirty="0">
                <a:latin typeface="Times New Roman"/>
                <a:ea typeface="Times New Roman"/>
                <a:cs typeface="Times New Roman"/>
              </a:rPr>
              <a:t> </a:t>
            </a:r>
            <a:r>
              <a:rPr sz="2000" dirty="0" err="1">
                <a:latin typeface="Times New Roman"/>
                <a:ea typeface="Times New Roman"/>
                <a:cs typeface="Times New Roman"/>
              </a:rPr>
              <a:t>como</a:t>
            </a:r>
            <a:r>
              <a:rPr sz="2000" dirty="0">
                <a:latin typeface="Times New Roman"/>
                <a:ea typeface="Times New Roman"/>
                <a:cs typeface="Times New Roman"/>
              </a:rPr>
              <a:t> </a:t>
            </a:r>
            <a:r>
              <a:rPr sz="2000" dirty="0" err="1">
                <a:latin typeface="Times New Roman"/>
                <a:ea typeface="Times New Roman"/>
                <a:cs typeface="Times New Roman"/>
              </a:rPr>
              <a:t>proposición</a:t>
            </a:r>
            <a:r>
              <a:rPr sz="2000" dirty="0">
                <a:latin typeface="Times New Roman"/>
                <a:ea typeface="Times New Roman"/>
                <a:cs typeface="Times New Roman"/>
              </a:rPr>
              <a:t> o no. Si lo es, </a:t>
            </a:r>
            <a:r>
              <a:rPr sz="2000" dirty="0" err="1">
                <a:latin typeface="Times New Roman"/>
                <a:ea typeface="Times New Roman"/>
                <a:cs typeface="Times New Roman"/>
              </a:rPr>
              <a:t>indique</a:t>
            </a:r>
            <a:r>
              <a:rPr sz="2000" dirty="0">
                <a:latin typeface="Times New Roman"/>
                <a:ea typeface="Times New Roman"/>
                <a:cs typeface="Times New Roman"/>
              </a:rPr>
              <a:t> </a:t>
            </a:r>
            <a:r>
              <a:rPr sz="2000" dirty="0" err="1">
                <a:latin typeface="Times New Roman"/>
                <a:ea typeface="Times New Roman"/>
                <a:cs typeface="Times New Roman"/>
              </a:rPr>
              <a:t>su</a:t>
            </a:r>
            <a:r>
              <a:rPr sz="2000" dirty="0">
                <a:latin typeface="Times New Roman"/>
                <a:ea typeface="Times New Roman"/>
                <a:cs typeface="Times New Roman"/>
              </a:rPr>
              <a:t> valor de </a:t>
            </a:r>
            <a:r>
              <a:rPr sz="2000" dirty="0" err="1">
                <a:latin typeface="Times New Roman"/>
                <a:ea typeface="Times New Roman"/>
                <a:cs typeface="Times New Roman"/>
              </a:rPr>
              <a:t>verdad</a:t>
            </a:r>
            <a:r>
              <a:rPr sz="2000" dirty="0">
                <a:latin typeface="Times New Roman"/>
                <a:ea typeface="Times New Roman"/>
                <a:cs typeface="Times New Roman"/>
              </a:rPr>
              <a:t>.</a:t>
            </a:r>
          </a:p>
          <a:p>
            <a:pPr marL="342900" indent="-342900">
              <a:buChar char="•"/>
            </a:pPr>
            <a:r>
              <a:rPr sz="2000" b="1" dirty="0">
                <a:latin typeface="Times New Roman"/>
                <a:ea typeface="Times New Roman"/>
                <a:cs typeface="Times New Roman"/>
              </a:rPr>
              <a:t>a)</a:t>
            </a:r>
            <a:r>
              <a:rPr sz="2000" dirty="0">
                <a:latin typeface="Times New Roman"/>
                <a:ea typeface="Times New Roman"/>
                <a:cs typeface="Times New Roman"/>
              </a:rPr>
              <a:t> "Medellín </a:t>
            </a:r>
            <a:r>
              <a:rPr sz="2000" dirty="0" err="1">
                <a:latin typeface="Times New Roman"/>
                <a:ea typeface="Times New Roman"/>
                <a:cs typeface="Times New Roman"/>
              </a:rPr>
              <a:t>está</a:t>
            </a:r>
            <a:r>
              <a:rPr sz="2000" dirty="0">
                <a:latin typeface="Times New Roman"/>
                <a:ea typeface="Times New Roman"/>
                <a:cs typeface="Times New Roman"/>
              </a:rPr>
              <a:t> </a:t>
            </a:r>
            <a:r>
              <a:rPr sz="2000" dirty="0" err="1">
                <a:latin typeface="Times New Roman"/>
                <a:ea typeface="Times New Roman"/>
                <a:cs typeface="Times New Roman"/>
              </a:rPr>
              <a:t>en</a:t>
            </a:r>
            <a:r>
              <a:rPr sz="2000" dirty="0">
                <a:latin typeface="Times New Roman"/>
                <a:ea typeface="Times New Roman"/>
                <a:cs typeface="Times New Roman"/>
              </a:rPr>
              <a:t> Colombia."</a:t>
            </a:r>
          </a:p>
          <a:p>
            <a:pPr marL="342900" indent="-342900">
              <a:buChar char="•"/>
            </a:pPr>
            <a:r>
              <a:rPr sz="2000" b="1" dirty="0">
                <a:latin typeface="Times New Roman"/>
                <a:ea typeface="Times New Roman"/>
                <a:cs typeface="Times New Roman"/>
              </a:rPr>
              <a:t>b)</a:t>
            </a:r>
            <a:r>
              <a:rPr sz="2000" dirty="0">
                <a:latin typeface="Times New Roman"/>
                <a:ea typeface="Times New Roman"/>
                <a:cs typeface="Times New Roman"/>
              </a:rPr>
              <a:t> "Cierre la </a:t>
            </a:r>
            <a:r>
              <a:rPr sz="2000" dirty="0" err="1">
                <a:latin typeface="Times New Roman"/>
                <a:ea typeface="Times New Roman"/>
                <a:cs typeface="Times New Roman"/>
              </a:rPr>
              <a:t>puerta</a:t>
            </a:r>
            <a:r>
              <a:rPr sz="2000" dirty="0">
                <a:latin typeface="Times New Roman"/>
                <a:ea typeface="Times New Roman"/>
                <a:cs typeface="Times New Roman"/>
              </a:rPr>
              <a:t>, </a:t>
            </a:r>
            <a:r>
              <a:rPr sz="2000" dirty="0" err="1">
                <a:latin typeface="Times New Roman"/>
                <a:ea typeface="Times New Roman"/>
                <a:cs typeface="Times New Roman"/>
              </a:rPr>
              <a:t>por</a:t>
            </a:r>
            <a:r>
              <a:rPr sz="2000" dirty="0">
                <a:latin typeface="Times New Roman"/>
                <a:ea typeface="Times New Roman"/>
                <a:cs typeface="Times New Roman"/>
              </a:rPr>
              <a:t> favor."</a:t>
            </a:r>
          </a:p>
          <a:p>
            <a:pPr marL="342900" indent="-342900">
              <a:buChar char="•"/>
            </a:pPr>
            <a:r>
              <a:rPr sz="2000" b="1" dirty="0">
                <a:latin typeface="Times New Roman"/>
                <a:ea typeface="Times New Roman"/>
                <a:cs typeface="Times New Roman"/>
              </a:rPr>
              <a:t>c)</a:t>
            </a:r>
            <a:r>
              <a:rPr sz="2000" dirty="0">
                <a:latin typeface="Times New Roman"/>
                <a:ea typeface="Times New Roman"/>
                <a:cs typeface="Times New Roman"/>
              </a:rPr>
              <a:t> "7 es un </a:t>
            </a:r>
            <a:r>
              <a:rPr sz="2000" dirty="0" err="1">
                <a:latin typeface="Times New Roman"/>
                <a:ea typeface="Times New Roman"/>
                <a:cs typeface="Times New Roman"/>
              </a:rPr>
              <a:t>número</a:t>
            </a:r>
            <a:r>
              <a:rPr sz="2000" dirty="0">
                <a:latin typeface="Times New Roman"/>
                <a:ea typeface="Times New Roman"/>
                <a:cs typeface="Times New Roman"/>
              </a:rPr>
              <a:t> primo."</a:t>
            </a:r>
          </a:p>
          <a:p>
            <a:pPr marL="342900" indent="-342900">
              <a:buChar char="•"/>
            </a:pPr>
            <a:r>
              <a:rPr sz="2000" b="1" dirty="0">
                <a:latin typeface="Times New Roman"/>
                <a:ea typeface="Times New Roman"/>
                <a:cs typeface="Times New Roman"/>
              </a:rPr>
              <a:t>d)</a:t>
            </a:r>
            <a:r>
              <a:rPr sz="2000" dirty="0">
                <a:latin typeface="Times New Roman"/>
                <a:ea typeface="Times New Roman"/>
                <a:cs typeface="Times New Roman"/>
              </a:rPr>
              <a:t> "x &gt; 3"</a:t>
            </a:r>
          </a:p>
          <a:p>
            <a:pPr marL="342900" indent="-342900">
              <a:buChar char="•"/>
            </a:pPr>
            <a:r>
              <a:rPr sz="2000" b="1" dirty="0">
                <a:latin typeface="Times New Roman"/>
                <a:ea typeface="Times New Roman"/>
                <a:cs typeface="Times New Roman"/>
              </a:rPr>
              <a:t>e)</a:t>
            </a:r>
            <a:r>
              <a:rPr sz="2000" dirty="0">
                <a:latin typeface="Times New Roman"/>
                <a:ea typeface="Times New Roman"/>
                <a:cs typeface="Times New Roman"/>
              </a:rPr>
              <a:t> "3 + 5 = 9"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60A21F5-9E57-3885-E25C-2A751A51620B}"/>
              </a:ext>
            </a:extLst>
          </p:cNvPr>
          <p:cNvSpPr>
            <a:spLocks noGrp="1"/>
          </p:cNvSpPr>
          <p:nvPr/>
        </p:nvSpPr>
        <p:spPr>
          <a:xfrm>
            <a:off x="9394201" y="-57264"/>
            <a:ext cx="55955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Times New Roman"/>
                <a:ea typeface="Times New Roman"/>
                <a:cs typeface="Times New Roman"/>
              </a:rPr>
              <a:t>Lógica proposicional</a:t>
            </a:r>
          </a:p>
        </p:txBody>
      </p:sp>
    </p:spTree>
    <p:extLst>
      <p:ext uri="{BB962C8B-B14F-4D97-AF65-F5344CB8AC3E}">
        <p14:creationId xmlns:p14="http://schemas.microsoft.com/office/powerpoint/2010/main" val="9727838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Imagen 5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5BB1BB9-F4AA-2D61-3C1B-74A58B29D078}"/>
              </a:ext>
            </a:extLst>
          </p:cNvPr>
          <p:cNvSpPr>
            <a:spLocks noGrp="1"/>
          </p:cNvSpPr>
          <p:nvPr/>
        </p:nvSpPr>
        <p:spPr>
          <a:xfrm>
            <a:off x="1330467" y="3166712"/>
            <a:ext cx="95310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5400" b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¡MUCHAS GRACIAS!</a:t>
            </a:r>
          </a:p>
        </p:txBody>
      </p:sp>
      <p:pic>
        <p:nvPicPr>
          <p:cNvPr id="18" name="Imagen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7410236" y="1629116"/>
            <a:ext cx="913016" cy="474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053338"/>
      </p:ext>
    </p:extLst>
  </p:cSld>
  <p:clrMapOvr>
    <a:masterClrMapping/>
  </p:clrMapOvr>
</p:sld>
</file>

<file path=ppt/theme/theme1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1886</Words>
  <Application>Microsoft Office PowerPoint</Application>
  <DocSecurity>0</DocSecurity>
  <PresentationFormat>Panorámica</PresentationFormat>
  <Paragraphs>241</Paragraphs>
  <Slides>27</Slides>
  <Notes>27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27</vt:i4>
      </vt:variant>
    </vt:vector>
  </HeadingPairs>
  <TitlesOfParts>
    <vt:vector size="36" baseType="lpstr">
      <vt:lpstr>Arial</vt:lpstr>
      <vt:lpstr>Calibri</vt:lpstr>
      <vt:lpstr>Calibri Light</vt:lpstr>
      <vt:lpstr>Lato</vt:lpstr>
      <vt:lpstr>Montserrat</vt:lpstr>
      <vt:lpstr>Poppins</vt:lpstr>
      <vt:lpstr>Times New Roman</vt:lpstr>
      <vt:lpstr>3_Tema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SEBASTIAN MONTOYA VILLADA</cp:lastModifiedBy>
  <cp:revision>1</cp:revision>
  <dcterms:created xsi:type="dcterms:W3CDTF">2026-08-06T01:17:15Z</dcterms:created>
  <dcterms:modified xsi:type="dcterms:W3CDTF">2026-08-06T14:33:34Z</dcterms:modified>
</cp:coreProperties>
</file>